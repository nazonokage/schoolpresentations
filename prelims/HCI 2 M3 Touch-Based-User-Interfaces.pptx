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consolata" pitchFamily="1" charset="0"/>
      <p:regular r:id="rId13"/>
    </p:embeddedFont>
    <p:embeddedFont>
      <p:font typeface="Inconsolata Bold" pitchFamily="1" charset="0"/>
      <p:regular r:id="rId14"/>
      <p:bold r:id="rId15"/>
    </p:embeddedFont>
    <p:embeddedFont>
      <p:font typeface="Montserrat Black" panose="00000A00000000000000" pitchFamily="2" charset="0"/>
      <p:regular r:id="rId16"/>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33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661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ECE4"/>
          </a:solidFill>
          <a:ln/>
        </p:spPr>
      </p:sp>
      <p:sp>
        <p:nvSpPr>
          <p:cNvPr id="3" name="Shape 1"/>
          <p:cNvSpPr/>
          <p:nvPr/>
        </p:nvSpPr>
        <p:spPr>
          <a:xfrm>
            <a:off x="0" y="0"/>
            <a:ext cx="12191695" cy="6858000"/>
          </a:xfrm>
          <a:prstGeom prst="rect">
            <a:avLst/>
          </a:prstGeom>
          <a:solidFill>
            <a:srgbClr val="F8ECE4"/>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575270"/>
            <a:ext cx="6296860" cy="1162844"/>
          </a:xfrm>
          <a:prstGeom prst="rect">
            <a:avLst/>
          </a:prstGeom>
          <a:noFill/>
          <a:ln/>
        </p:spPr>
        <p:txBody>
          <a:bodyPr wrap="square" lIns="0" tIns="0" rIns="0" bIns="0" rtlCol="0" anchor="t">
            <a:normAutofit/>
          </a:bodyPr>
          <a:lstStyle/>
          <a:p>
            <a:pPr marL="0" indent="0" algn="l">
              <a:lnSpc>
                <a:spcPct val="104000"/>
              </a:lnSpc>
              <a:buNone/>
            </a:pPr>
            <a:r>
              <a:rPr lang="en-US" sz="3650" dirty="0">
                <a:solidFill>
                  <a:srgbClr val="151617"/>
                </a:solidFill>
                <a:latin typeface="Montserrat Black" pitchFamily="34" charset="0"/>
                <a:ea typeface="Montserrat Black" pitchFamily="34" charset="-122"/>
                <a:cs typeface="Montserrat Black" pitchFamily="34" charset="-120"/>
              </a:rPr>
              <a:t>Touch-Based User Interfaces</a:t>
            </a:r>
            <a:endParaRPr lang="en-US" sz="3650" dirty="0"/>
          </a:p>
        </p:txBody>
      </p:sp>
      <p:sp>
        <p:nvSpPr>
          <p:cNvPr id="4" name="Text 1"/>
          <p:cNvSpPr/>
          <p:nvPr/>
        </p:nvSpPr>
        <p:spPr>
          <a:xfrm>
            <a:off x="5233360" y="1811338"/>
            <a:ext cx="6296860" cy="465138"/>
          </a:xfrm>
          <a:prstGeom prst="rect">
            <a:avLst/>
          </a:prstGeom>
          <a:noFill/>
          <a:ln/>
        </p:spPr>
        <p:txBody>
          <a:bodyPr wrap="none" lIns="0" tIns="0" rIns="0" bIns="0" rtlCol="0" anchor="t"/>
          <a:lstStyle/>
          <a:p>
            <a:pPr marL="0" indent="0" algn="l">
              <a:lnSpc>
                <a:spcPct val="104000"/>
              </a:lnSpc>
              <a:buNone/>
            </a:pPr>
            <a:r>
              <a:rPr lang="en-US" sz="2900" dirty="0">
                <a:solidFill>
                  <a:srgbClr val="151617"/>
                </a:solidFill>
                <a:latin typeface="Montserrat Black" pitchFamily="34" charset="0"/>
                <a:ea typeface="Montserrat Black" pitchFamily="34" charset="-122"/>
                <a:cs typeface="Montserrat Black" pitchFamily="34" charset="-120"/>
              </a:rPr>
              <a:t>A. Lesson Preview / Review</a:t>
            </a:r>
            <a:endParaRPr lang="en-US" sz="2900" dirty="0"/>
          </a:p>
        </p:txBody>
      </p:sp>
      <p:sp>
        <p:nvSpPr>
          <p:cNvPr id="5" name="Text 2"/>
          <p:cNvSpPr/>
          <p:nvPr/>
        </p:nvSpPr>
        <p:spPr>
          <a:xfrm>
            <a:off x="5233360" y="2551212"/>
            <a:ext cx="6296860"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151617"/>
                </a:solidFill>
                <a:latin typeface="Inconsolata" pitchFamily="34" charset="0"/>
                <a:ea typeface="Inconsolata" pitchFamily="34" charset="-122"/>
                <a:cs typeface="Inconsolata" pitchFamily="34" charset="-120"/>
              </a:rPr>
              <a:t>In the previous module, we identified handheld and wearable devices. Below are common examples and uses:</a:t>
            </a:r>
            <a:endParaRPr lang="en-US" sz="1450" dirty="0"/>
          </a:p>
        </p:txBody>
      </p:sp>
      <p:sp>
        <p:nvSpPr>
          <p:cNvPr id="6" name="Shape 3"/>
          <p:cNvSpPr/>
          <p:nvPr/>
        </p:nvSpPr>
        <p:spPr>
          <a:xfrm>
            <a:off x="5233360" y="3347740"/>
            <a:ext cx="6296860" cy="1375866"/>
          </a:xfrm>
          <a:prstGeom prst="roundRect">
            <a:avLst>
              <a:gd name="adj" fmla="val 554"/>
            </a:avLst>
          </a:prstGeom>
          <a:solidFill>
            <a:srgbClr val="F8ECE4"/>
          </a:solidFill>
          <a:ln w="6350">
            <a:solidFill>
              <a:srgbClr val="151617"/>
            </a:solidFill>
            <a:prstDash val="solid"/>
          </a:ln>
          <a:effectLst>
            <a:outerShdw blurRad="101600" dist="24130" dir="2700000" algn="bl" rotWithShape="0">
              <a:srgbClr val="151617">
                <a:alpha val="100000"/>
              </a:srgbClr>
            </a:outerShdw>
          </a:effectLst>
        </p:spPr>
      </p:sp>
      <p:sp>
        <p:nvSpPr>
          <p:cNvPr id="7" name="Text 4"/>
          <p:cNvSpPr/>
          <p:nvPr/>
        </p:nvSpPr>
        <p:spPr>
          <a:xfrm>
            <a:off x="5425741" y="3540125"/>
            <a:ext cx="5912099" cy="290711"/>
          </a:xfrm>
          <a:prstGeom prst="rect">
            <a:avLst/>
          </a:prstGeom>
          <a:noFill/>
          <a:ln/>
        </p:spPr>
        <p:txBody>
          <a:bodyPr wrap="none" lIns="0" tIns="0" rIns="0" bIns="0" rtlCol="0" anchor="t"/>
          <a:lstStyle/>
          <a:p>
            <a:pPr marL="0" indent="0" algn="l">
              <a:lnSpc>
                <a:spcPct val="104000"/>
              </a:lnSpc>
              <a:buNone/>
            </a:pPr>
            <a:r>
              <a:rPr lang="en-US" sz="1800" dirty="0">
                <a:solidFill>
                  <a:srgbClr val="151617"/>
                </a:solidFill>
                <a:latin typeface="Montserrat Black" pitchFamily="34" charset="0"/>
                <a:ea typeface="Montserrat Black" pitchFamily="34" charset="-122"/>
                <a:cs typeface="Montserrat Black" pitchFamily="34" charset="-120"/>
              </a:rPr>
              <a:t>Handheld Devices Uses</a:t>
            </a:r>
            <a:endParaRPr lang="en-US" sz="1800" dirty="0"/>
          </a:p>
        </p:txBody>
      </p:sp>
      <p:sp>
        <p:nvSpPr>
          <p:cNvPr id="8" name="Text 5"/>
          <p:cNvSpPr/>
          <p:nvPr/>
        </p:nvSpPr>
        <p:spPr>
          <a:xfrm>
            <a:off x="5425741" y="3940671"/>
            <a:ext cx="5912099"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151617"/>
                </a:solidFill>
                <a:latin typeface="Inconsolata" pitchFamily="34" charset="0"/>
                <a:ea typeface="Inconsolata" pitchFamily="34" charset="-122"/>
                <a:cs typeface="Inconsolata" pitchFamily="34" charset="-120"/>
              </a:rPr>
              <a:t>Task-based processing, portable computing, web browsing, and on-the-go communications.</a:t>
            </a:r>
            <a:endParaRPr lang="en-US" sz="1450" dirty="0"/>
          </a:p>
        </p:txBody>
      </p:sp>
      <p:sp>
        <p:nvSpPr>
          <p:cNvPr id="9" name="Shape 6"/>
          <p:cNvSpPr/>
          <p:nvPr/>
        </p:nvSpPr>
        <p:spPr>
          <a:xfrm>
            <a:off x="5233360" y="4906764"/>
            <a:ext cx="6296860" cy="1375866"/>
          </a:xfrm>
          <a:prstGeom prst="roundRect">
            <a:avLst>
              <a:gd name="adj" fmla="val 554"/>
            </a:avLst>
          </a:prstGeom>
          <a:solidFill>
            <a:srgbClr val="F8ECE4"/>
          </a:solidFill>
          <a:ln w="6350">
            <a:solidFill>
              <a:srgbClr val="151617"/>
            </a:solidFill>
            <a:prstDash val="solid"/>
          </a:ln>
          <a:effectLst>
            <a:outerShdw blurRad="101600" dist="24130" dir="2700000" algn="bl" rotWithShape="0">
              <a:srgbClr val="151617">
                <a:alpha val="100000"/>
              </a:srgbClr>
            </a:outerShdw>
          </a:effectLst>
        </p:spPr>
      </p:sp>
      <p:sp>
        <p:nvSpPr>
          <p:cNvPr id="10" name="Text 7"/>
          <p:cNvSpPr/>
          <p:nvPr/>
        </p:nvSpPr>
        <p:spPr>
          <a:xfrm>
            <a:off x="5425741" y="5099149"/>
            <a:ext cx="5912099" cy="290711"/>
          </a:xfrm>
          <a:prstGeom prst="rect">
            <a:avLst/>
          </a:prstGeom>
          <a:noFill/>
          <a:ln/>
        </p:spPr>
        <p:txBody>
          <a:bodyPr wrap="none" lIns="0" tIns="0" rIns="0" bIns="0" rtlCol="0" anchor="t"/>
          <a:lstStyle/>
          <a:p>
            <a:pPr marL="0" indent="0" algn="l">
              <a:lnSpc>
                <a:spcPct val="104000"/>
              </a:lnSpc>
              <a:buNone/>
            </a:pPr>
            <a:r>
              <a:rPr lang="en-US" sz="1800" dirty="0">
                <a:solidFill>
                  <a:srgbClr val="151617"/>
                </a:solidFill>
                <a:latin typeface="Montserrat Black" pitchFamily="34" charset="0"/>
                <a:ea typeface="Montserrat Black" pitchFamily="34" charset="-122"/>
                <a:cs typeface="Montserrat Black" pitchFamily="34" charset="-120"/>
              </a:rPr>
              <a:t>Wearable Devices Uses</a:t>
            </a:r>
            <a:endParaRPr lang="en-US" sz="1800" dirty="0"/>
          </a:p>
        </p:txBody>
      </p:sp>
      <p:sp>
        <p:nvSpPr>
          <p:cNvPr id="11" name="Text 8"/>
          <p:cNvSpPr/>
          <p:nvPr/>
        </p:nvSpPr>
        <p:spPr>
          <a:xfrm>
            <a:off x="5425741" y="5499695"/>
            <a:ext cx="5912099" cy="590550"/>
          </a:xfrm>
          <a:prstGeom prst="rect">
            <a:avLst/>
          </a:prstGeom>
          <a:noFill/>
          <a:ln/>
        </p:spPr>
        <p:txBody>
          <a:bodyPr wrap="square" lIns="0" tIns="0" rIns="0" bIns="0" rtlCol="0" anchor="t">
            <a:normAutofit/>
          </a:bodyPr>
          <a:lstStyle/>
          <a:p>
            <a:pPr marL="0" indent="0" algn="l">
              <a:lnSpc>
                <a:spcPct val="132000"/>
              </a:lnSpc>
              <a:buNone/>
            </a:pPr>
            <a:r>
              <a:rPr lang="en-US" sz="1450" dirty="0">
                <a:solidFill>
                  <a:srgbClr val="151617"/>
                </a:solidFill>
                <a:latin typeface="Inconsolata" pitchFamily="34" charset="0"/>
                <a:ea typeface="Inconsolata" pitchFamily="34" charset="-122"/>
                <a:cs typeface="Inconsolata" pitchFamily="34" charset="-120"/>
              </a:rPr>
              <a:t>Continuous health metrics monitoring, biometric feedback, and notification synchronization.</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623590"/>
            <a:ext cx="10868745" cy="561181"/>
          </a:xfrm>
          <a:prstGeom prst="rect">
            <a:avLst/>
          </a:prstGeom>
          <a:noFill/>
          <a:ln/>
        </p:spPr>
        <p:txBody>
          <a:bodyPr wrap="none" lIns="0" tIns="0" rIns="0" bIns="0" rtlCol="0" anchor="t"/>
          <a:lstStyle/>
          <a:p>
            <a:pPr marL="0" indent="0" algn="l">
              <a:lnSpc>
                <a:spcPct val="104000"/>
              </a:lnSpc>
              <a:buNone/>
            </a:pPr>
            <a:r>
              <a:rPr lang="en-US" sz="3500" dirty="0">
                <a:solidFill>
                  <a:srgbClr val="151617"/>
                </a:solidFill>
                <a:latin typeface="Montserrat Black" pitchFamily="34" charset="0"/>
                <a:ea typeface="Montserrat Black" pitchFamily="34" charset="-122"/>
                <a:cs typeface="Montserrat Black" pitchFamily="34" charset="-120"/>
              </a:rPr>
              <a:t>B. Main Lesson</a:t>
            </a:r>
            <a:endParaRPr lang="en-US" sz="3500" dirty="0"/>
          </a:p>
        </p:txBody>
      </p:sp>
      <p:sp>
        <p:nvSpPr>
          <p:cNvPr id="3" name="Text 1"/>
          <p:cNvSpPr/>
          <p:nvPr/>
        </p:nvSpPr>
        <p:spPr>
          <a:xfrm>
            <a:off x="661475" y="1252934"/>
            <a:ext cx="10868745" cy="448965"/>
          </a:xfrm>
          <a:prstGeom prst="rect">
            <a:avLst/>
          </a:prstGeom>
          <a:noFill/>
          <a:ln/>
        </p:spPr>
        <p:txBody>
          <a:bodyPr wrap="none" lIns="0" tIns="0" rIns="0" bIns="0" rtlCol="0" anchor="t"/>
          <a:lstStyle/>
          <a:p>
            <a:pPr marL="0" indent="0" algn="l">
              <a:lnSpc>
                <a:spcPct val="104000"/>
              </a:lnSpc>
              <a:buNone/>
            </a:pPr>
            <a:r>
              <a:rPr lang="en-US" sz="2800" dirty="0">
                <a:solidFill>
                  <a:srgbClr val="151617"/>
                </a:solidFill>
                <a:latin typeface="Montserrat Black" pitchFamily="34" charset="0"/>
                <a:ea typeface="Montserrat Black" pitchFamily="34" charset="-122"/>
                <a:cs typeface="Montserrat Black" pitchFamily="34" charset="-120"/>
              </a:rPr>
              <a:t>1. Touch User Interface (TUI) / Touch-Based Interface</a:t>
            </a:r>
            <a:endParaRPr lang="en-US" sz="28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1957784"/>
            <a:ext cx="5349047" cy="1912938"/>
          </a:xfrm>
          <a:prstGeom prst="rect">
            <a:avLst/>
          </a:prstGeom>
        </p:spPr>
      </p:pic>
      <p:sp>
        <p:nvSpPr>
          <p:cNvPr id="5" name="Text 2"/>
          <p:cNvSpPr/>
          <p:nvPr/>
        </p:nvSpPr>
        <p:spPr>
          <a:xfrm>
            <a:off x="967954" y="2162671"/>
            <a:ext cx="4837686" cy="280491"/>
          </a:xfrm>
          <a:prstGeom prst="rect">
            <a:avLst/>
          </a:prstGeom>
          <a:noFill/>
          <a:ln/>
        </p:spPr>
        <p:txBody>
          <a:bodyPr wrap="none" lIns="0" tIns="0" rIns="0" bIns="0" rtlCol="0" anchor="t"/>
          <a:lstStyle/>
          <a:p>
            <a:pPr marL="0" indent="0" algn="l">
              <a:lnSpc>
                <a:spcPct val="104000"/>
              </a:lnSpc>
              <a:buNone/>
            </a:pPr>
            <a:r>
              <a:rPr lang="en-US" sz="1750" dirty="0">
                <a:solidFill>
                  <a:srgbClr val="151617"/>
                </a:solidFill>
                <a:latin typeface="Montserrat Black" pitchFamily="34" charset="0"/>
                <a:ea typeface="Montserrat Black" pitchFamily="34" charset="-122"/>
                <a:cs typeface="Montserrat Black" pitchFamily="34" charset="-120"/>
              </a:rPr>
              <a:t>Definition</a:t>
            </a:r>
            <a:endParaRPr lang="en-US" sz="1750" dirty="0"/>
          </a:p>
        </p:txBody>
      </p:sp>
      <p:sp>
        <p:nvSpPr>
          <p:cNvPr id="6" name="Text 3"/>
          <p:cNvSpPr/>
          <p:nvPr/>
        </p:nvSpPr>
        <p:spPr>
          <a:xfrm>
            <a:off x="967954" y="2545457"/>
            <a:ext cx="4837686" cy="560189"/>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51617"/>
                </a:solidFill>
                <a:latin typeface="Inconsolata" pitchFamily="34" charset="0"/>
                <a:ea typeface="Inconsolata" pitchFamily="34" charset="-122"/>
                <a:cs typeface="Inconsolata" pitchFamily="34" charset="-120"/>
              </a:rPr>
              <a:t>A computer-pointing technology based upon the sense of touch (haptics).</a:t>
            </a:r>
            <a:endParaRPr lang="en-US" sz="14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1074" y="1957784"/>
            <a:ext cx="5349146" cy="1912938"/>
          </a:xfrm>
          <a:prstGeom prst="rect">
            <a:avLst/>
          </a:prstGeom>
        </p:spPr>
      </p:pic>
      <p:sp>
        <p:nvSpPr>
          <p:cNvPr id="8" name="Text 4"/>
          <p:cNvSpPr/>
          <p:nvPr/>
        </p:nvSpPr>
        <p:spPr>
          <a:xfrm>
            <a:off x="6487553" y="2162671"/>
            <a:ext cx="4837785" cy="280491"/>
          </a:xfrm>
          <a:prstGeom prst="rect">
            <a:avLst/>
          </a:prstGeom>
          <a:noFill/>
          <a:ln/>
        </p:spPr>
        <p:txBody>
          <a:bodyPr wrap="none" lIns="0" tIns="0" rIns="0" bIns="0" rtlCol="0" anchor="t"/>
          <a:lstStyle/>
          <a:p>
            <a:pPr marL="0" indent="0" algn="l">
              <a:lnSpc>
                <a:spcPct val="104000"/>
              </a:lnSpc>
              <a:buNone/>
            </a:pPr>
            <a:r>
              <a:rPr lang="en-US" sz="1750" dirty="0">
                <a:solidFill>
                  <a:srgbClr val="151617"/>
                </a:solidFill>
                <a:latin typeface="Montserrat Black" pitchFamily="34" charset="0"/>
                <a:ea typeface="Montserrat Black" pitchFamily="34" charset="-122"/>
                <a:cs typeface="Montserrat Black" pitchFamily="34" charset="-120"/>
              </a:rPr>
              <a:t>Contrast with GUI</a:t>
            </a:r>
            <a:endParaRPr lang="en-US" sz="1750" dirty="0"/>
          </a:p>
        </p:txBody>
      </p:sp>
      <p:sp>
        <p:nvSpPr>
          <p:cNvPr id="9" name="Text 5"/>
          <p:cNvSpPr/>
          <p:nvPr/>
        </p:nvSpPr>
        <p:spPr>
          <a:xfrm>
            <a:off x="6487553" y="2545457"/>
            <a:ext cx="4837785" cy="1120378"/>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51617"/>
                </a:solidFill>
                <a:latin typeface="Inconsolata" pitchFamily="34" charset="0"/>
                <a:ea typeface="Inconsolata" pitchFamily="34" charset="-122"/>
                <a:cs typeface="Inconsolata" pitchFamily="34" charset="-120"/>
              </a:rPr>
              <a:t>Whereas a Graphical User Interface (GUI) relies primarily upon the sense of sight, a TUI relies upon the sense of touch to innervate and activate computer-based functions.</a:t>
            </a:r>
            <a:endParaRPr lang="en-US" sz="1400" dirty="0"/>
          </a:p>
        </p:txBody>
      </p:sp>
      <p:pic>
        <p:nvPicPr>
          <p:cNvPr id="10"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041279"/>
            <a:ext cx="5349047" cy="2193032"/>
          </a:xfrm>
          <a:prstGeom prst="rect">
            <a:avLst/>
          </a:prstGeom>
        </p:spPr>
      </p:pic>
      <p:sp>
        <p:nvSpPr>
          <p:cNvPr id="11" name="Text 6"/>
          <p:cNvSpPr/>
          <p:nvPr/>
        </p:nvSpPr>
        <p:spPr>
          <a:xfrm>
            <a:off x="967954" y="4246166"/>
            <a:ext cx="4837686" cy="280491"/>
          </a:xfrm>
          <a:prstGeom prst="rect">
            <a:avLst/>
          </a:prstGeom>
          <a:noFill/>
          <a:ln/>
        </p:spPr>
        <p:txBody>
          <a:bodyPr wrap="none" lIns="0" tIns="0" rIns="0" bIns="0" rtlCol="0" anchor="t"/>
          <a:lstStyle/>
          <a:p>
            <a:pPr marL="0" indent="0" algn="l">
              <a:lnSpc>
                <a:spcPct val="104000"/>
              </a:lnSpc>
              <a:buNone/>
            </a:pPr>
            <a:r>
              <a:rPr lang="en-US" sz="1750" dirty="0">
                <a:solidFill>
                  <a:srgbClr val="151617"/>
                </a:solidFill>
                <a:latin typeface="Montserrat Black" pitchFamily="34" charset="0"/>
                <a:ea typeface="Montserrat Black" pitchFamily="34" charset="-122"/>
                <a:cs typeface="Montserrat Black" pitchFamily="34" charset="-120"/>
              </a:rPr>
              <a:t>Accessibility Benefit</a:t>
            </a:r>
            <a:endParaRPr lang="en-US" sz="1750" dirty="0"/>
          </a:p>
        </p:txBody>
      </p:sp>
      <p:sp>
        <p:nvSpPr>
          <p:cNvPr id="12" name="Text 7"/>
          <p:cNvSpPr/>
          <p:nvPr/>
        </p:nvSpPr>
        <p:spPr>
          <a:xfrm>
            <a:off x="967954" y="4628952"/>
            <a:ext cx="4837686" cy="840284"/>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51617"/>
                </a:solidFill>
                <a:latin typeface="Inconsolata" pitchFamily="34" charset="0"/>
                <a:ea typeface="Inconsolata" pitchFamily="34" charset="-122"/>
                <a:cs typeface="Inconsolata" pitchFamily="34" charset="-120"/>
              </a:rPr>
              <a:t>It provides an added level of interaction based upon tactile or Braille input, making it highly beneficial for users with visual impairments.</a:t>
            </a:r>
            <a:endParaRPr lang="en-US" sz="1400" dirty="0"/>
          </a:p>
        </p:txBody>
      </p:sp>
      <p:pic>
        <p:nvPicPr>
          <p:cNvPr id="13"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1074" y="4041279"/>
            <a:ext cx="5349146" cy="2193032"/>
          </a:xfrm>
          <a:prstGeom prst="rect">
            <a:avLst/>
          </a:prstGeom>
        </p:spPr>
      </p:pic>
      <p:sp>
        <p:nvSpPr>
          <p:cNvPr id="14" name="Text 8"/>
          <p:cNvSpPr/>
          <p:nvPr/>
        </p:nvSpPr>
        <p:spPr>
          <a:xfrm>
            <a:off x="6487553" y="4246166"/>
            <a:ext cx="4837785" cy="280491"/>
          </a:xfrm>
          <a:prstGeom prst="rect">
            <a:avLst/>
          </a:prstGeom>
          <a:noFill/>
          <a:ln/>
        </p:spPr>
        <p:txBody>
          <a:bodyPr wrap="none" lIns="0" tIns="0" rIns="0" bIns="0" rtlCol="0" anchor="t"/>
          <a:lstStyle/>
          <a:p>
            <a:pPr marL="0" indent="0" algn="l">
              <a:lnSpc>
                <a:spcPct val="104000"/>
              </a:lnSpc>
              <a:buNone/>
            </a:pPr>
            <a:r>
              <a:rPr lang="en-US" sz="1750" dirty="0">
                <a:solidFill>
                  <a:srgbClr val="151617"/>
                </a:solidFill>
                <a:latin typeface="Montserrat Black" pitchFamily="34" charset="0"/>
                <a:ea typeface="Montserrat Black" pitchFamily="34" charset="-122"/>
                <a:cs typeface="Montserrat Black" pitchFamily="34" charset="-120"/>
              </a:rPr>
              <a:t>Historical Milestone</a:t>
            </a:r>
            <a:endParaRPr lang="en-US" sz="1750" dirty="0"/>
          </a:p>
        </p:txBody>
      </p:sp>
      <p:sp>
        <p:nvSpPr>
          <p:cNvPr id="15" name="Text 9"/>
          <p:cNvSpPr/>
          <p:nvPr/>
        </p:nvSpPr>
        <p:spPr>
          <a:xfrm>
            <a:off x="6487553" y="4628952"/>
            <a:ext cx="4837785" cy="1400473"/>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151617"/>
                </a:solidFill>
                <a:latin typeface="Inconsolata" pitchFamily="34" charset="0"/>
                <a:ea typeface="Inconsolata" pitchFamily="34" charset="-122"/>
                <a:cs typeface="Inconsolata" pitchFamily="34" charset="-120"/>
              </a:rPr>
              <a:t>While early touch-based concepts trace back to the 1960s, mainstream market exposure spiked in 2007 with the launch of the Microsoft Surface and the Apple iPhone, initiating the modern era of multi-touch consumer products.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610791"/>
            <a:ext cx="6296860" cy="756047"/>
          </a:xfrm>
          <a:prstGeom prst="rect">
            <a:avLst/>
          </a:prstGeom>
          <a:noFill/>
          <a:ln/>
        </p:spPr>
        <p:txBody>
          <a:bodyPr wrap="square" lIns="0" tIns="0" rIns="0" bIns="0" rtlCol="0" anchor="t">
            <a:normAutofit/>
          </a:bodyPr>
          <a:lstStyle/>
          <a:p>
            <a:pPr marL="0" indent="0" algn="l">
              <a:lnSpc>
                <a:spcPct val="104000"/>
              </a:lnSpc>
              <a:buNone/>
            </a:pPr>
            <a:r>
              <a:rPr lang="en-US" sz="2350" dirty="0">
                <a:solidFill>
                  <a:srgbClr val="151617"/>
                </a:solidFill>
                <a:latin typeface="Montserrat Black" pitchFamily="34" charset="0"/>
                <a:ea typeface="Montserrat Black" pitchFamily="34" charset="-122"/>
                <a:cs typeface="Montserrat Black" pitchFamily="34" charset="-120"/>
              </a:rPr>
              <a:t>2. Design Considerations for Touchscreen Gadgets</a:t>
            </a:r>
            <a:endParaRPr lang="en-US" sz="2350" dirty="0"/>
          </a:p>
        </p:txBody>
      </p:sp>
      <p:sp>
        <p:nvSpPr>
          <p:cNvPr id="4" name="Text 1"/>
          <p:cNvSpPr/>
          <p:nvPr/>
        </p:nvSpPr>
        <p:spPr>
          <a:xfrm>
            <a:off x="5233360" y="1548209"/>
            <a:ext cx="6296860" cy="653058"/>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151617"/>
                </a:solidFill>
                <a:latin typeface="Inconsolata" pitchFamily="34" charset="0"/>
                <a:ea typeface="Inconsolata" pitchFamily="34" charset="-122"/>
                <a:cs typeface="Inconsolata" pitchFamily="34" charset="-120"/>
              </a:rPr>
              <a:t>Touchscreen gadgets are highly customizable, permitting designers to craft a wide range of user experiences. When designing touch-based user interfaces, developers must utilize available benchmarks and directives:</a:t>
            </a:r>
            <a:endParaRPr lang="en-US" sz="1150" dirty="0"/>
          </a:p>
        </p:txBody>
      </p:sp>
      <p:sp>
        <p:nvSpPr>
          <p:cNvPr id="5" name="Shape 2"/>
          <p:cNvSpPr/>
          <p:nvPr/>
        </p:nvSpPr>
        <p:spPr>
          <a:xfrm>
            <a:off x="5233360" y="2337296"/>
            <a:ext cx="340213" cy="340221"/>
          </a:xfrm>
          <a:prstGeom prst="roundRect">
            <a:avLst>
              <a:gd name="adj" fmla="val 2240"/>
            </a:avLst>
          </a:prstGeom>
          <a:solidFill>
            <a:srgbClr val="F8ECE4"/>
          </a:solidFill>
          <a:ln w="6350">
            <a:solidFill>
              <a:srgbClr val="151617"/>
            </a:solidFill>
            <a:prstDash val="solid"/>
          </a:ln>
          <a:effectLst>
            <a:outerShdw blurRad="101600" dist="19050" dir="2700000" algn="bl" rotWithShape="0">
              <a:srgbClr val="151617">
                <a:alpha val="100000"/>
              </a:srgbClr>
            </a:outerShdw>
          </a:effectLst>
        </p:spPr>
      </p:sp>
      <p:sp>
        <p:nvSpPr>
          <p:cNvPr id="6" name="Text 3"/>
          <p:cNvSpPr/>
          <p:nvPr/>
        </p:nvSpPr>
        <p:spPr>
          <a:xfrm>
            <a:off x="5290013" y="2365623"/>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151617"/>
                </a:solidFill>
                <a:latin typeface="Montserrat Black" pitchFamily="34" charset="0"/>
                <a:ea typeface="Montserrat Black" pitchFamily="34" charset="-122"/>
                <a:cs typeface="Montserrat Black" pitchFamily="34" charset="-120"/>
              </a:rPr>
              <a:t>1</a:t>
            </a:r>
            <a:endParaRPr lang="en-US" sz="1750" dirty="0"/>
          </a:p>
        </p:txBody>
      </p:sp>
      <p:sp>
        <p:nvSpPr>
          <p:cNvPr id="7" name="Text 4"/>
          <p:cNvSpPr/>
          <p:nvPr/>
        </p:nvSpPr>
        <p:spPr>
          <a:xfrm>
            <a:off x="5694518" y="2389187"/>
            <a:ext cx="5835702" cy="236240"/>
          </a:xfrm>
          <a:prstGeom prst="rect">
            <a:avLst/>
          </a:prstGeom>
          <a:noFill/>
          <a:ln/>
        </p:spPr>
        <p:txBody>
          <a:bodyPr wrap="none" lIns="0" tIns="0" rIns="0" bIns="0" rtlCol="0" anchor="t"/>
          <a:lstStyle/>
          <a:p>
            <a:pPr marL="0" indent="0" algn="l">
              <a:lnSpc>
                <a:spcPct val="104000"/>
              </a:lnSpc>
              <a:buNone/>
            </a:pPr>
            <a:r>
              <a:rPr lang="en-US" sz="1450" dirty="0">
                <a:solidFill>
                  <a:srgbClr val="151617"/>
                </a:solidFill>
                <a:latin typeface="Montserrat Black" pitchFamily="34" charset="0"/>
                <a:ea typeface="Montserrat Black" pitchFamily="34" charset="-122"/>
                <a:cs typeface="Montserrat Black" pitchFamily="34" charset="-120"/>
              </a:rPr>
              <a:t>Extension of the Body</a:t>
            </a:r>
            <a:endParaRPr lang="en-US" sz="1450" dirty="0"/>
          </a:p>
        </p:txBody>
      </p:sp>
      <p:sp>
        <p:nvSpPr>
          <p:cNvPr id="8" name="Text 5"/>
          <p:cNvSpPr/>
          <p:nvPr/>
        </p:nvSpPr>
        <p:spPr>
          <a:xfrm>
            <a:off x="5694518" y="2697956"/>
            <a:ext cx="5835702"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151617"/>
                </a:solidFill>
                <a:latin typeface="Inconsolata" pitchFamily="34" charset="0"/>
                <a:ea typeface="Inconsolata" pitchFamily="34" charset="-122"/>
                <a:cs typeface="Inconsolata" pitchFamily="34" charset="-120"/>
              </a:rPr>
              <a:t>The device interface should feel like a natural extension of the user's body (Wigdor &amp; Wixon, 2011).</a:t>
            </a:r>
            <a:endParaRPr lang="en-US" sz="1150" dirty="0"/>
          </a:p>
        </p:txBody>
      </p:sp>
      <p:sp>
        <p:nvSpPr>
          <p:cNvPr id="9" name="Shape 6"/>
          <p:cNvSpPr/>
          <p:nvPr/>
        </p:nvSpPr>
        <p:spPr>
          <a:xfrm>
            <a:off x="5233360" y="3375223"/>
            <a:ext cx="340213" cy="340221"/>
          </a:xfrm>
          <a:prstGeom prst="roundRect">
            <a:avLst>
              <a:gd name="adj" fmla="val 2240"/>
            </a:avLst>
          </a:prstGeom>
          <a:solidFill>
            <a:srgbClr val="F8ECE4"/>
          </a:solidFill>
          <a:ln w="6350">
            <a:solidFill>
              <a:srgbClr val="151617"/>
            </a:solidFill>
            <a:prstDash val="solid"/>
          </a:ln>
          <a:effectLst>
            <a:outerShdw blurRad="101600" dist="19050" dir="2700000" algn="bl" rotWithShape="0">
              <a:srgbClr val="151617">
                <a:alpha val="100000"/>
              </a:srgbClr>
            </a:outerShdw>
          </a:effectLst>
        </p:spPr>
      </p:sp>
      <p:sp>
        <p:nvSpPr>
          <p:cNvPr id="10" name="Text 7"/>
          <p:cNvSpPr/>
          <p:nvPr/>
        </p:nvSpPr>
        <p:spPr>
          <a:xfrm>
            <a:off x="5290013" y="3403550"/>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151617"/>
                </a:solidFill>
                <a:latin typeface="Montserrat Black" pitchFamily="34" charset="0"/>
                <a:ea typeface="Montserrat Black" pitchFamily="34" charset="-122"/>
                <a:cs typeface="Montserrat Black" pitchFamily="34" charset="-120"/>
              </a:rPr>
              <a:t>2</a:t>
            </a:r>
            <a:endParaRPr lang="en-US" sz="1750" dirty="0"/>
          </a:p>
        </p:txBody>
      </p:sp>
      <p:sp>
        <p:nvSpPr>
          <p:cNvPr id="11" name="Text 8"/>
          <p:cNvSpPr/>
          <p:nvPr/>
        </p:nvSpPr>
        <p:spPr>
          <a:xfrm>
            <a:off x="5694518" y="3427115"/>
            <a:ext cx="5835702" cy="236240"/>
          </a:xfrm>
          <a:prstGeom prst="rect">
            <a:avLst/>
          </a:prstGeom>
          <a:noFill/>
          <a:ln/>
        </p:spPr>
        <p:txBody>
          <a:bodyPr wrap="none" lIns="0" tIns="0" rIns="0" bIns="0" rtlCol="0" anchor="t"/>
          <a:lstStyle/>
          <a:p>
            <a:pPr marL="0" indent="0" algn="l">
              <a:lnSpc>
                <a:spcPct val="104000"/>
              </a:lnSpc>
              <a:buNone/>
            </a:pPr>
            <a:r>
              <a:rPr lang="en-US" sz="1450" dirty="0">
                <a:solidFill>
                  <a:srgbClr val="151617"/>
                </a:solidFill>
                <a:latin typeface="Montserrat Black" pitchFamily="34" charset="0"/>
                <a:ea typeface="Montserrat Black" pitchFamily="34" charset="-122"/>
                <a:cs typeface="Montserrat Black" pitchFamily="34" charset="-120"/>
              </a:rPr>
              <a:t>Natural Experience</a:t>
            </a:r>
            <a:endParaRPr lang="en-US" sz="1450" dirty="0"/>
          </a:p>
        </p:txBody>
      </p:sp>
      <p:sp>
        <p:nvSpPr>
          <p:cNvPr id="12" name="Text 9"/>
          <p:cNvSpPr/>
          <p:nvPr/>
        </p:nvSpPr>
        <p:spPr>
          <a:xfrm>
            <a:off x="5694518" y="3735884"/>
            <a:ext cx="5835702"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151617"/>
                </a:solidFill>
                <a:latin typeface="Inconsolata" pitchFamily="34" charset="0"/>
                <a:ea typeface="Inconsolata" pitchFamily="34" charset="-122"/>
                <a:cs typeface="Inconsolata" pitchFamily="34" charset="-120"/>
              </a:rPr>
              <a:t>Offer an intuitive, natural interaction style that allows users to operate systems directly.</a:t>
            </a:r>
            <a:endParaRPr lang="en-US" sz="1150" dirty="0"/>
          </a:p>
        </p:txBody>
      </p:sp>
      <p:sp>
        <p:nvSpPr>
          <p:cNvPr id="13" name="Shape 10"/>
          <p:cNvSpPr/>
          <p:nvPr/>
        </p:nvSpPr>
        <p:spPr>
          <a:xfrm>
            <a:off x="5233360" y="4413151"/>
            <a:ext cx="340213" cy="340221"/>
          </a:xfrm>
          <a:prstGeom prst="roundRect">
            <a:avLst>
              <a:gd name="adj" fmla="val 2240"/>
            </a:avLst>
          </a:prstGeom>
          <a:solidFill>
            <a:srgbClr val="F8ECE4"/>
          </a:solidFill>
          <a:ln w="6350">
            <a:solidFill>
              <a:srgbClr val="151617"/>
            </a:solidFill>
            <a:prstDash val="solid"/>
          </a:ln>
          <a:effectLst>
            <a:outerShdw blurRad="101600" dist="19050" dir="2700000" algn="bl" rotWithShape="0">
              <a:srgbClr val="151617">
                <a:alpha val="100000"/>
              </a:srgbClr>
            </a:outerShdw>
          </a:effectLst>
        </p:spPr>
      </p:sp>
      <p:sp>
        <p:nvSpPr>
          <p:cNvPr id="14" name="Text 11"/>
          <p:cNvSpPr/>
          <p:nvPr/>
        </p:nvSpPr>
        <p:spPr>
          <a:xfrm>
            <a:off x="5290013" y="4441478"/>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151617"/>
                </a:solidFill>
                <a:latin typeface="Montserrat Black" pitchFamily="34" charset="0"/>
                <a:ea typeface="Montserrat Black" pitchFamily="34" charset="-122"/>
                <a:cs typeface="Montserrat Black" pitchFamily="34" charset="-120"/>
              </a:rPr>
              <a:t>3</a:t>
            </a:r>
            <a:endParaRPr lang="en-US" sz="1750" dirty="0"/>
          </a:p>
        </p:txBody>
      </p:sp>
      <p:sp>
        <p:nvSpPr>
          <p:cNvPr id="15" name="Text 12"/>
          <p:cNvSpPr/>
          <p:nvPr/>
        </p:nvSpPr>
        <p:spPr>
          <a:xfrm>
            <a:off x="5694518" y="4465042"/>
            <a:ext cx="5835702" cy="236240"/>
          </a:xfrm>
          <a:prstGeom prst="rect">
            <a:avLst/>
          </a:prstGeom>
          <a:noFill/>
          <a:ln/>
        </p:spPr>
        <p:txBody>
          <a:bodyPr wrap="none" lIns="0" tIns="0" rIns="0" bIns="0" rtlCol="0" anchor="t"/>
          <a:lstStyle/>
          <a:p>
            <a:pPr marL="0" indent="0" algn="l">
              <a:lnSpc>
                <a:spcPct val="104000"/>
              </a:lnSpc>
              <a:buNone/>
            </a:pPr>
            <a:r>
              <a:rPr lang="en-US" sz="1450" dirty="0">
                <a:solidFill>
                  <a:srgbClr val="151617"/>
                </a:solidFill>
                <a:latin typeface="Montserrat Black" pitchFamily="34" charset="0"/>
                <a:ea typeface="Montserrat Black" pitchFamily="34" charset="-122"/>
                <a:cs typeface="Montserrat Black" pitchFamily="34" charset="-120"/>
              </a:rPr>
              <a:t>Immediate Feedback</a:t>
            </a:r>
            <a:endParaRPr lang="en-US" sz="1450" dirty="0"/>
          </a:p>
        </p:txBody>
      </p:sp>
      <p:sp>
        <p:nvSpPr>
          <p:cNvPr id="16" name="Text 13"/>
          <p:cNvSpPr/>
          <p:nvPr/>
        </p:nvSpPr>
        <p:spPr>
          <a:xfrm>
            <a:off x="5694518" y="4773811"/>
            <a:ext cx="5835702"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151617"/>
                </a:solidFill>
                <a:latin typeface="Inconsolata" pitchFamily="34" charset="0"/>
                <a:ea typeface="Inconsolata" pitchFamily="34" charset="-122"/>
                <a:cs typeface="Inconsolata" pitchFamily="34" charset="-120"/>
              </a:rPr>
              <a:t>Permit the systems to immediately display the outcomes of the user's touch and movement direction.</a:t>
            </a:r>
            <a:endParaRPr lang="en-US" sz="1150" dirty="0"/>
          </a:p>
        </p:txBody>
      </p:sp>
      <p:sp>
        <p:nvSpPr>
          <p:cNvPr id="17" name="Shape 14"/>
          <p:cNvSpPr/>
          <p:nvPr/>
        </p:nvSpPr>
        <p:spPr>
          <a:xfrm>
            <a:off x="5233360" y="5451078"/>
            <a:ext cx="340213" cy="340221"/>
          </a:xfrm>
          <a:prstGeom prst="roundRect">
            <a:avLst>
              <a:gd name="adj" fmla="val 2240"/>
            </a:avLst>
          </a:prstGeom>
          <a:solidFill>
            <a:srgbClr val="F8ECE4"/>
          </a:solidFill>
          <a:ln w="6350">
            <a:solidFill>
              <a:srgbClr val="151617"/>
            </a:solidFill>
            <a:prstDash val="solid"/>
          </a:ln>
          <a:effectLst>
            <a:outerShdw blurRad="101600" dist="19050" dir="2700000" algn="bl" rotWithShape="0">
              <a:srgbClr val="151617">
                <a:alpha val="100000"/>
              </a:srgbClr>
            </a:outerShdw>
          </a:effectLst>
        </p:spPr>
      </p:sp>
      <p:sp>
        <p:nvSpPr>
          <p:cNvPr id="18" name="Text 15"/>
          <p:cNvSpPr/>
          <p:nvPr/>
        </p:nvSpPr>
        <p:spPr>
          <a:xfrm>
            <a:off x="5290013" y="5479405"/>
            <a:ext cx="226808" cy="283468"/>
          </a:xfrm>
          <a:prstGeom prst="rect">
            <a:avLst/>
          </a:prstGeom>
          <a:noFill/>
          <a:ln/>
        </p:spPr>
        <p:txBody>
          <a:bodyPr wrap="none" lIns="0" tIns="0" rIns="0" bIns="0" rtlCol="0" anchor="ctr"/>
          <a:lstStyle/>
          <a:p>
            <a:pPr marL="0" indent="0" algn="ctr">
              <a:lnSpc>
                <a:spcPct val="100000"/>
              </a:lnSpc>
              <a:buNone/>
            </a:pPr>
            <a:r>
              <a:rPr lang="en-US" sz="1750" dirty="0">
                <a:solidFill>
                  <a:srgbClr val="151617"/>
                </a:solidFill>
                <a:latin typeface="Montserrat Black" pitchFamily="34" charset="0"/>
                <a:ea typeface="Montserrat Black" pitchFamily="34" charset="-122"/>
                <a:cs typeface="Montserrat Black" pitchFamily="34" charset="-120"/>
              </a:rPr>
              <a:t>4</a:t>
            </a:r>
            <a:endParaRPr lang="en-US" sz="1750" dirty="0"/>
          </a:p>
        </p:txBody>
      </p:sp>
      <p:sp>
        <p:nvSpPr>
          <p:cNvPr id="19" name="Text 16"/>
          <p:cNvSpPr/>
          <p:nvPr/>
        </p:nvSpPr>
        <p:spPr>
          <a:xfrm>
            <a:off x="5694518" y="5502970"/>
            <a:ext cx="5835702" cy="236240"/>
          </a:xfrm>
          <a:prstGeom prst="rect">
            <a:avLst/>
          </a:prstGeom>
          <a:noFill/>
          <a:ln/>
        </p:spPr>
        <p:txBody>
          <a:bodyPr wrap="none" lIns="0" tIns="0" rIns="0" bIns="0" rtlCol="0" anchor="t"/>
          <a:lstStyle/>
          <a:p>
            <a:pPr marL="0" indent="0" algn="l">
              <a:lnSpc>
                <a:spcPct val="104000"/>
              </a:lnSpc>
              <a:buNone/>
            </a:pPr>
            <a:r>
              <a:rPr lang="en-US" sz="1450" dirty="0">
                <a:solidFill>
                  <a:srgbClr val="151617"/>
                </a:solidFill>
                <a:latin typeface="Montserrat Black" pitchFamily="34" charset="0"/>
                <a:ea typeface="Montserrat Black" pitchFamily="34" charset="-122"/>
                <a:cs typeface="Montserrat Black" pitchFamily="34" charset="-120"/>
              </a:rPr>
              <a:t>Size Factor</a:t>
            </a:r>
            <a:endParaRPr lang="en-US" sz="1450" dirty="0"/>
          </a:p>
        </p:txBody>
      </p:sp>
      <p:sp>
        <p:nvSpPr>
          <p:cNvPr id="20" name="Text 17"/>
          <p:cNvSpPr/>
          <p:nvPr/>
        </p:nvSpPr>
        <p:spPr>
          <a:xfrm>
            <a:off x="5694518" y="5811738"/>
            <a:ext cx="5835702" cy="435372"/>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151617"/>
                </a:solidFill>
                <a:latin typeface="Inconsolata" pitchFamily="34" charset="0"/>
                <a:ea typeface="Inconsolata" pitchFamily="34" charset="-122"/>
                <a:cs typeface="Inconsolata" pitchFamily="34" charset="-120"/>
              </a:rPr>
              <a:t>Carefully account for the size factor of touch targets to ensure reliable selections.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545530"/>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1617"/>
                </a:solidFill>
                <a:latin typeface="Montserrat Black" pitchFamily="34" charset="0"/>
                <a:ea typeface="Montserrat Black" pitchFamily="34" charset="-122"/>
                <a:cs typeface="Montserrat Black" pitchFamily="34" charset="-120"/>
              </a:rPr>
              <a:t>3. Core Interaction Techniques</a:t>
            </a:r>
            <a:endParaRPr lang="en-US" sz="2950" dirty="0"/>
          </a:p>
        </p:txBody>
      </p:sp>
      <p:sp>
        <p:nvSpPr>
          <p:cNvPr id="3" name="Shape 1"/>
          <p:cNvSpPr/>
          <p:nvPr/>
        </p:nvSpPr>
        <p:spPr>
          <a:xfrm>
            <a:off x="661475" y="2396034"/>
            <a:ext cx="3496877" cy="2916337"/>
          </a:xfrm>
          <a:prstGeom prst="roundRect">
            <a:avLst>
              <a:gd name="adj" fmla="val 261"/>
            </a:avLst>
          </a:prstGeom>
          <a:solidFill>
            <a:srgbClr val="F8ECE4"/>
          </a:solidFill>
          <a:ln w="6350">
            <a:solidFill>
              <a:srgbClr val="151617"/>
            </a:solidFill>
            <a:prstDash val="solid"/>
          </a:ln>
          <a:effectLst>
            <a:outerShdw blurRad="101600" dist="24130" dir="2700000" algn="bl" rotWithShape="0">
              <a:srgbClr val="151617">
                <a:alpha val="100000"/>
              </a:srgbClr>
            </a:outerShdw>
          </a:effectLst>
        </p:spPr>
      </p:sp>
      <p:sp>
        <p:nvSpPr>
          <p:cNvPr id="4" name="Text 2"/>
          <p:cNvSpPr/>
          <p:nvPr/>
        </p:nvSpPr>
        <p:spPr>
          <a:xfrm>
            <a:off x="856832" y="2591395"/>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Tapping-it</a:t>
            </a:r>
            <a:endParaRPr lang="en-US" sz="1850" dirty="0"/>
          </a:p>
        </p:txBody>
      </p:sp>
      <p:sp>
        <p:nvSpPr>
          <p:cNvPr id="5" name="Text 3"/>
          <p:cNvSpPr/>
          <p:nvPr/>
        </p:nvSpPr>
        <p:spPr>
          <a:xfrm>
            <a:off x="856832" y="3000077"/>
            <a:ext cx="3106164"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The most common gesture technique. It involves choosing a digital item by briefly touching it.</a:t>
            </a:r>
            <a:endParaRPr lang="en-US" sz="1450" dirty="0"/>
          </a:p>
        </p:txBody>
      </p:sp>
      <p:sp>
        <p:nvSpPr>
          <p:cNvPr id="6" name="Shape 4"/>
          <p:cNvSpPr/>
          <p:nvPr/>
        </p:nvSpPr>
        <p:spPr>
          <a:xfrm>
            <a:off x="4347359" y="2396034"/>
            <a:ext cx="3496877" cy="2916337"/>
          </a:xfrm>
          <a:prstGeom prst="roundRect">
            <a:avLst>
              <a:gd name="adj" fmla="val 261"/>
            </a:avLst>
          </a:prstGeom>
          <a:solidFill>
            <a:srgbClr val="F8ECE4"/>
          </a:solidFill>
          <a:ln w="6350">
            <a:solidFill>
              <a:srgbClr val="151617"/>
            </a:solidFill>
            <a:prstDash val="solid"/>
          </a:ln>
          <a:effectLst>
            <a:outerShdw blurRad="101600" dist="24130" dir="2700000" algn="bl" rotWithShape="0">
              <a:srgbClr val="151617">
                <a:alpha val="100000"/>
              </a:srgbClr>
            </a:outerShdw>
          </a:effectLst>
        </p:spPr>
      </p:sp>
      <p:sp>
        <p:nvSpPr>
          <p:cNvPr id="7" name="Text 5"/>
          <p:cNvSpPr/>
          <p:nvPr/>
        </p:nvSpPr>
        <p:spPr>
          <a:xfrm>
            <a:off x="4542716" y="2591395"/>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Crossing-in</a:t>
            </a:r>
            <a:endParaRPr lang="en-US" sz="1850" dirty="0"/>
          </a:p>
        </p:txBody>
      </p:sp>
      <p:sp>
        <p:nvSpPr>
          <p:cNvPr id="8" name="Text 6"/>
          <p:cNvSpPr/>
          <p:nvPr/>
        </p:nvSpPr>
        <p:spPr>
          <a:xfrm>
            <a:off x="4542716" y="3000077"/>
            <a:ext cx="3106164"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An alternative method where an intended target is chosen by dragging across or crossing it. This offers improved target selection and usability performance for motor-impaired individuals.</a:t>
            </a:r>
            <a:endParaRPr lang="en-US" sz="1450" dirty="0"/>
          </a:p>
        </p:txBody>
      </p:sp>
      <p:sp>
        <p:nvSpPr>
          <p:cNvPr id="9" name="Shape 7"/>
          <p:cNvSpPr/>
          <p:nvPr/>
        </p:nvSpPr>
        <p:spPr>
          <a:xfrm>
            <a:off x="8033244" y="2396034"/>
            <a:ext cx="3496877" cy="2916337"/>
          </a:xfrm>
          <a:prstGeom prst="roundRect">
            <a:avLst>
              <a:gd name="adj" fmla="val 261"/>
            </a:avLst>
          </a:prstGeom>
          <a:solidFill>
            <a:srgbClr val="F8ECE4"/>
          </a:solidFill>
          <a:ln w="6350">
            <a:solidFill>
              <a:srgbClr val="151617"/>
            </a:solidFill>
            <a:prstDash val="solid"/>
          </a:ln>
          <a:effectLst>
            <a:outerShdw blurRad="101600" dist="24130" dir="2700000" algn="bl" rotWithShape="0">
              <a:srgbClr val="151617">
                <a:alpha val="100000"/>
              </a:srgbClr>
            </a:outerShdw>
          </a:effectLst>
        </p:spPr>
      </p:sp>
      <p:sp>
        <p:nvSpPr>
          <p:cNvPr id="10" name="Text 8"/>
          <p:cNvSpPr/>
          <p:nvPr/>
        </p:nvSpPr>
        <p:spPr>
          <a:xfrm>
            <a:off x="8228600" y="2591395"/>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Directional Gesturing-it</a:t>
            </a:r>
            <a:endParaRPr lang="en-US" sz="1850" dirty="0"/>
          </a:p>
        </p:txBody>
      </p:sp>
      <p:sp>
        <p:nvSpPr>
          <p:cNvPr id="11" name="Text 9"/>
          <p:cNvSpPr/>
          <p:nvPr/>
        </p:nvSpPr>
        <p:spPr>
          <a:xfrm>
            <a:off x="8228600" y="3000077"/>
            <a:ext cx="3106164" cy="2116931"/>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The only technique that eliminates the strict requirement for predefined target selection spaces, as directional gesture movements can be performed anywhere across the device surface.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4880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151617"/>
                </a:solidFill>
                <a:latin typeface="Montserrat Black" pitchFamily="34" charset="0"/>
                <a:ea typeface="Montserrat Black" pitchFamily="34" charset="-122"/>
                <a:cs typeface="Montserrat Black" pitchFamily="34" charset="-120"/>
              </a:rPr>
              <a:t>C. Core Touchscreen Technologies</a:t>
            </a:r>
            <a:endParaRPr lang="en-US" sz="3700" dirty="0"/>
          </a:p>
        </p:txBody>
      </p:sp>
      <p:sp>
        <p:nvSpPr>
          <p:cNvPr id="3" name="Text 1"/>
          <p:cNvSpPr/>
          <p:nvPr/>
        </p:nvSpPr>
        <p:spPr>
          <a:xfrm>
            <a:off x="661475" y="1415058"/>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1617"/>
                </a:solidFill>
                <a:latin typeface="Montserrat Black" pitchFamily="34" charset="0"/>
                <a:ea typeface="Montserrat Black" pitchFamily="34" charset="-122"/>
                <a:cs typeface="Montserrat Black" pitchFamily="34" charset="-120"/>
              </a:rPr>
              <a:t>1. Wire Resistive Touchscreens</a:t>
            </a:r>
            <a:endParaRPr lang="en-US" sz="2950" dirty="0"/>
          </a:p>
        </p:txBody>
      </p:sp>
      <p:sp>
        <p:nvSpPr>
          <p:cNvPr id="4" name="Text 2"/>
          <p:cNvSpPr/>
          <p:nvPr/>
        </p:nvSpPr>
        <p:spPr>
          <a:xfrm>
            <a:off x="661475" y="2171005"/>
            <a:ext cx="1086874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Composed of a glass base panel and film screen layer, each covered with a thin metallic layer separated by a narrow space. Touch pressure forces the layers to make contact, changing the voltage flow to locate the touch point.</a:t>
            </a:r>
            <a:endParaRPr lang="en-US" sz="1450" dirty="0"/>
          </a:p>
        </p:txBody>
      </p:sp>
      <p:sp>
        <p:nvSpPr>
          <p:cNvPr id="5" name="Shape 3"/>
          <p:cNvSpPr/>
          <p:nvPr/>
        </p:nvSpPr>
        <p:spPr>
          <a:xfrm>
            <a:off x="525350" y="2988469"/>
            <a:ext cx="5476043" cy="3120628"/>
          </a:xfrm>
          <a:prstGeom prst="roundRect">
            <a:avLst>
              <a:gd name="adj" fmla="val 244"/>
            </a:avLst>
          </a:prstGeom>
          <a:solidFill>
            <a:srgbClr val="151617"/>
          </a:solidFill>
          <a:ln/>
        </p:spPr>
      </p:sp>
      <p:sp>
        <p:nvSpPr>
          <p:cNvPr id="6" name="Text 4"/>
          <p:cNvSpPr/>
          <p:nvPr/>
        </p:nvSpPr>
        <p:spPr>
          <a:xfrm>
            <a:off x="714357" y="3177480"/>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Montserrat Black" pitchFamily="34" charset="0"/>
                <a:ea typeface="Montserrat Black" pitchFamily="34" charset="-122"/>
                <a:cs typeface="Montserrat Black" pitchFamily="34" charset="-120"/>
              </a:rPr>
              <a:t>Advantages</a:t>
            </a:r>
            <a:endParaRPr lang="en-US" sz="1850" dirty="0"/>
          </a:p>
        </p:txBody>
      </p:sp>
      <p:sp>
        <p:nvSpPr>
          <p:cNvPr id="7" name="Text 5"/>
          <p:cNvSpPr/>
          <p:nvPr/>
        </p:nvSpPr>
        <p:spPr>
          <a:xfrm>
            <a:off x="714357" y="3661767"/>
            <a:ext cx="5098029" cy="2381250"/>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Can be activated with virtually any input object (bare finger, stylus, gloved hand, pen, etc.).</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Provides distinct tactile feel.</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Highly cost-effective touch solution.</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Consumes low power.</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Resistant to surface contaminants like dust, oil, grease, moisture, and liquids.</a:t>
            </a:r>
            <a:endParaRPr lang="en-US" sz="1450" dirty="0"/>
          </a:p>
        </p:txBody>
      </p:sp>
      <p:sp>
        <p:nvSpPr>
          <p:cNvPr id="8" name="Text 6"/>
          <p:cNvSpPr/>
          <p:nvPr/>
        </p:nvSpPr>
        <p:spPr>
          <a:xfrm>
            <a:off x="6332776" y="3177480"/>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Disadvantages</a:t>
            </a:r>
            <a:endParaRPr lang="en-US" sz="1850" dirty="0"/>
          </a:p>
        </p:txBody>
      </p:sp>
      <p:sp>
        <p:nvSpPr>
          <p:cNvPr id="9" name="Text 7"/>
          <p:cNvSpPr/>
          <p:nvPr/>
        </p:nvSpPr>
        <p:spPr>
          <a:xfrm>
            <a:off x="6332776" y="3661767"/>
            <a:ext cx="5203794"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151617"/>
                </a:solidFill>
                <a:latin typeface="Inconsolata" pitchFamily="34" charset="0"/>
                <a:ea typeface="Inconsolata" pitchFamily="34" charset="-122"/>
                <a:cs typeface="Inconsolata" pitchFamily="34" charset="-120"/>
              </a:rPr>
              <a:t>Lower overall image definition compared to rival touch methodologies.</a:t>
            </a:r>
            <a:endParaRPr lang="en-US" sz="1450" dirty="0"/>
          </a:p>
          <a:p>
            <a:pPr marL="294640" indent="-294640" algn="l">
              <a:lnSpc>
                <a:spcPct val="133000"/>
              </a:lnSpc>
              <a:buSzPct val="100000"/>
              <a:buChar char="•"/>
            </a:pPr>
            <a:r>
              <a:rPr lang="en-US" sz="1450" dirty="0">
                <a:solidFill>
                  <a:srgbClr val="151617"/>
                </a:solidFill>
                <a:latin typeface="Inconsolata" pitchFamily="34" charset="0"/>
                <a:ea typeface="Inconsolata" pitchFamily="34" charset="-122"/>
                <a:cs typeface="Inconsolata" pitchFamily="34" charset="-120"/>
              </a:rPr>
              <a:t>Outer polyester layer is highly vulnerable to damage from scratches, poking, or sharp objects.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587401"/>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1617"/>
                </a:solidFill>
                <a:latin typeface="Montserrat Black" pitchFamily="34" charset="0"/>
                <a:ea typeface="Montserrat Black" pitchFamily="34" charset="-122"/>
                <a:cs typeface="Montserrat Black" pitchFamily="34" charset="-120"/>
              </a:rPr>
              <a:t>2. Surface Capacitive Touchscreens</a:t>
            </a:r>
            <a:endParaRPr lang="en-US" sz="2950" dirty="0"/>
          </a:p>
        </p:txBody>
      </p:sp>
      <p:sp>
        <p:nvSpPr>
          <p:cNvPr id="3" name="Text 1"/>
          <p:cNvSpPr/>
          <p:nvPr/>
        </p:nvSpPr>
        <p:spPr>
          <a:xfrm>
            <a:off x="661475" y="2437904"/>
            <a:ext cx="10868745"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Features a transparent electrode layer placed directly on a glass substrate panel, protected under a specialized covering layer. It reacts to the static electrical capacity of the human body, drawing electrical charges from the four corner sensors to calculate the exact touch point coordinate.</a:t>
            </a:r>
            <a:endParaRPr lang="en-US" sz="1450" dirty="0"/>
          </a:p>
        </p:txBody>
      </p:sp>
      <p:sp>
        <p:nvSpPr>
          <p:cNvPr id="4" name="Shape 2"/>
          <p:cNvSpPr/>
          <p:nvPr/>
        </p:nvSpPr>
        <p:spPr>
          <a:xfrm>
            <a:off x="525350" y="3557786"/>
            <a:ext cx="5476043" cy="1712714"/>
          </a:xfrm>
          <a:prstGeom prst="roundRect">
            <a:avLst>
              <a:gd name="adj" fmla="val 445"/>
            </a:avLst>
          </a:prstGeom>
          <a:solidFill>
            <a:srgbClr val="151617"/>
          </a:solidFill>
          <a:ln/>
        </p:spPr>
      </p:sp>
      <p:sp>
        <p:nvSpPr>
          <p:cNvPr id="5" name="Text 3"/>
          <p:cNvSpPr/>
          <p:nvPr/>
        </p:nvSpPr>
        <p:spPr>
          <a:xfrm>
            <a:off x="714357" y="3746798"/>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Montserrat Black" pitchFamily="34" charset="0"/>
                <a:ea typeface="Montserrat Black" pitchFamily="34" charset="-122"/>
                <a:cs typeface="Montserrat Black" pitchFamily="34" charset="-120"/>
              </a:rPr>
              <a:t>Advantages</a:t>
            </a:r>
            <a:endParaRPr lang="en-US" sz="1850" dirty="0"/>
          </a:p>
        </p:txBody>
      </p:sp>
      <p:sp>
        <p:nvSpPr>
          <p:cNvPr id="6" name="Text 4"/>
          <p:cNvSpPr/>
          <p:nvPr/>
        </p:nvSpPr>
        <p:spPr>
          <a:xfrm>
            <a:off x="714357" y="4231084"/>
            <a:ext cx="5098029" cy="97333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Offers superior image clarity compared to resistive modules.</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Durable screen integration.</a:t>
            </a:r>
            <a:endParaRPr lang="en-US" sz="1450" dirty="0"/>
          </a:p>
        </p:txBody>
      </p:sp>
      <p:sp>
        <p:nvSpPr>
          <p:cNvPr id="7" name="Text 5"/>
          <p:cNvSpPr/>
          <p:nvPr/>
        </p:nvSpPr>
        <p:spPr>
          <a:xfrm>
            <a:off x="6332776" y="3746798"/>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Disadvantages</a:t>
            </a:r>
            <a:endParaRPr lang="en-US" sz="1850" dirty="0"/>
          </a:p>
        </p:txBody>
      </p:sp>
      <p:sp>
        <p:nvSpPr>
          <p:cNvPr id="8" name="Text 6"/>
          <p:cNvSpPr/>
          <p:nvPr/>
        </p:nvSpPr>
        <p:spPr>
          <a:xfrm>
            <a:off x="6332776" y="4231084"/>
            <a:ext cx="5203794" cy="60483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151617"/>
                </a:solidFill>
                <a:latin typeface="Inconsolata" pitchFamily="34" charset="0"/>
                <a:ea typeface="Inconsolata" pitchFamily="34" charset="-122"/>
                <a:cs typeface="Inconsolata" pitchFamily="34" charset="-120"/>
              </a:rPr>
              <a:t>Can strictly only be activated by human skin contact or an specialized electrical stylus.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067693"/>
            <a:ext cx="10868745" cy="472480"/>
          </a:xfrm>
          <a:prstGeom prst="rect">
            <a:avLst/>
          </a:prstGeom>
          <a:noFill/>
          <a:ln/>
        </p:spPr>
        <p:txBody>
          <a:bodyPr wrap="none" lIns="0" tIns="0" rIns="0" bIns="0" rtlCol="0" anchor="t"/>
          <a:lstStyle/>
          <a:p>
            <a:pPr marL="0" indent="0" algn="l">
              <a:lnSpc>
                <a:spcPct val="104000"/>
              </a:lnSpc>
              <a:buNone/>
            </a:pPr>
            <a:r>
              <a:rPr lang="en-US" sz="2950" dirty="0">
                <a:solidFill>
                  <a:srgbClr val="151617"/>
                </a:solidFill>
                <a:latin typeface="Montserrat Black" pitchFamily="34" charset="0"/>
                <a:ea typeface="Montserrat Black" pitchFamily="34" charset="-122"/>
                <a:cs typeface="Montserrat Black" pitchFamily="34" charset="-120"/>
              </a:rPr>
              <a:t>3. Projected Capacitive Touchscreens</a:t>
            </a:r>
            <a:endParaRPr lang="en-US" sz="2950" dirty="0"/>
          </a:p>
        </p:txBody>
      </p:sp>
      <p:sp>
        <p:nvSpPr>
          <p:cNvPr id="3" name="Text 1"/>
          <p:cNvSpPr/>
          <p:nvPr/>
        </p:nvSpPr>
        <p:spPr>
          <a:xfrm>
            <a:off x="661475" y="1918196"/>
            <a:ext cx="10868745"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151617"/>
                </a:solidFill>
                <a:latin typeface="Inconsolata" pitchFamily="34" charset="0"/>
                <a:ea typeface="Inconsolata" pitchFamily="34" charset="-122"/>
                <a:cs typeface="Inconsolata" pitchFamily="34" charset="-120"/>
              </a:rPr>
              <a:t>Similar to surface capacitive systems but offers two primary advantages: it can be activated with thin surgical or cotton gloves and enables multi-touch activation (simultaneous inputs from multiple fingers). It uses a sheet of glass integrated with embedded transparent electrode films and an Integrated Circuit (IC) chip to detect touch point ratios via a 3D electrostatic field.</a:t>
            </a:r>
            <a:endParaRPr lang="en-US" sz="1450" dirty="0"/>
          </a:p>
        </p:txBody>
      </p:sp>
      <p:sp>
        <p:nvSpPr>
          <p:cNvPr id="4" name="Shape 2"/>
          <p:cNvSpPr/>
          <p:nvPr/>
        </p:nvSpPr>
        <p:spPr>
          <a:xfrm>
            <a:off x="525350" y="3340497"/>
            <a:ext cx="5476043" cy="2449711"/>
          </a:xfrm>
          <a:prstGeom prst="roundRect">
            <a:avLst>
              <a:gd name="adj" fmla="val 311"/>
            </a:avLst>
          </a:prstGeom>
          <a:solidFill>
            <a:srgbClr val="151617"/>
          </a:solidFill>
          <a:ln/>
        </p:spPr>
      </p:sp>
      <p:sp>
        <p:nvSpPr>
          <p:cNvPr id="5" name="Text 3"/>
          <p:cNvSpPr/>
          <p:nvPr/>
        </p:nvSpPr>
        <p:spPr>
          <a:xfrm>
            <a:off x="714357" y="3529509"/>
            <a:ext cx="5098029" cy="295275"/>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Montserrat Black" pitchFamily="34" charset="0"/>
                <a:ea typeface="Montserrat Black" pitchFamily="34" charset="-122"/>
                <a:cs typeface="Montserrat Black" pitchFamily="34" charset="-120"/>
              </a:rPr>
              <a:t>Advantages</a:t>
            </a:r>
            <a:endParaRPr lang="en-US" sz="1850" dirty="0"/>
          </a:p>
        </p:txBody>
      </p:sp>
      <p:sp>
        <p:nvSpPr>
          <p:cNvPr id="6" name="Text 4"/>
          <p:cNvSpPr/>
          <p:nvPr/>
        </p:nvSpPr>
        <p:spPr>
          <a:xfrm>
            <a:off x="714357" y="4013795"/>
            <a:ext cx="5098029" cy="1710333"/>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Excellent image clarity.</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High resistance to surface scratches.</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Resilient against liquids and surface contaminants (dust, oil, grease, moisture).</a:t>
            </a:r>
            <a:endParaRPr lang="en-US" sz="1450" dirty="0"/>
          </a:p>
          <a:p>
            <a:pPr marL="294640" indent="-294640" algn="l">
              <a:lnSpc>
                <a:spcPct val="133000"/>
              </a:lnSpc>
              <a:buSzPct val="100000"/>
              <a:buChar char="•"/>
            </a:pPr>
            <a:r>
              <a:rPr lang="en-US" sz="1450" dirty="0">
                <a:solidFill>
                  <a:srgbClr val="FFFFFF"/>
                </a:solidFill>
                <a:latin typeface="Inconsolata" pitchFamily="34" charset="0"/>
                <a:ea typeface="Inconsolata" pitchFamily="34" charset="-122"/>
                <a:cs typeface="Inconsolata" pitchFamily="34" charset="-120"/>
              </a:rPr>
              <a:t>Full multi-touch support.</a:t>
            </a:r>
            <a:endParaRPr lang="en-US" sz="1450" dirty="0"/>
          </a:p>
        </p:txBody>
      </p:sp>
      <p:sp>
        <p:nvSpPr>
          <p:cNvPr id="7" name="Text 5"/>
          <p:cNvSpPr/>
          <p:nvPr/>
        </p:nvSpPr>
        <p:spPr>
          <a:xfrm>
            <a:off x="6332776" y="3529509"/>
            <a:ext cx="5203794" cy="295275"/>
          </a:xfrm>
          <a:prstGeom prst="rect">
            <a:avLst/>
          </a:prstGeom>
          <a:noFill/>
          <a:ln/>
        </p:spPr>
        <p:txBody>
          <a:bodyPr wrap="none" lIns="0" tIns="0" rIns="0" bIns="0" rtlCol="0" anchor="t"/>
          <a:lstStyle/>
          <a:p>
            <a:pPr marL="0" indent="0" algn="l">
              <a:lnSpc>
                <a:spcPct val="104000"/>
              </a:lnSpc>
              <a:buNone/>
            </a:pPr>
            <a:r>
              <a:rPr lang="en-US" sz="1850" dirty="0">
                <a:solidFill>
                  <a:srgbClr val="151617"/>
                </a:solidFill>
                <a:latin typeface="Montserrat Black" pitchFamily="34" charset="0"/>
                <a:ea typeface="Montserrat Black" pitchFamily="34" charset="-122"/>
                <a:cs typeface="Montserrat Black" pitchFamily="34" charset="-120"/>
              </a:rPr>
              <a:t>Disadvantages</a:t>
            </a:r>
            <a:endParaRPr lang="en-US" sz="1850" dirty="0"/>
          </a:p>
        </p:txBody>
      </p:sp>
      <p:sp>
        <p:nvSpPr>
          <p:cNvPr id="8" name="Text 6"/>
          <p:cNvSpPr/>
          <p:nvPr/>
        </p:nvSpPr>
        <p:spPr>
          <a:xfrm>
            <a:off x="6332776" y="4013795"/>
            <a:ext cx="5203794" cy="1275755"/>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151617"/>
                </a:solidFill>
                <a:latin typeface="Inconsolata" pitchFamily="34" charset="0"/>
                <a:ea typeface="Inconsolata" pitchFamily="34" charset="-122"/>
                <a:cs typeface="Inconsolata" pitchFamily="34" charset="-120"/>
              </a:rPr>
              <a:t>Requires a bare finger or a specialized capacitive stylus for proper activation.</a:t>
            </a:r>
            <a:endParaRPr lang="en-US" sz="1450" dirty="0"/>
          </a:p>
          <a:p>
            <a:pPr marL="294640" indent="-294640" algn="l">
              <a:lnSpc>
                <a:spcPct val="133000"/>
              </a:lnSpc>
              <a:buSzPct val="100000"/>
              <a:buChar char="•"/>
            </a:pPr>
            <a:r>
              <a:rPr lang="en-US" sz="1450" dirty="0">
                <a:solidFill>
                  <a:srgbClr val="151617"/>
                </a:solidFill>
                <a:latin typeface="Inconsolata" pitchFamily="34" charset="0"/>
                <a:ea typeface="Inconsolata" pitchFamily="34" charset="-122"/>
                <a:cs typeface="Inconsolata" pitchFamily="34" charset="-120"/>
              </a:rPr>
              <a:t>Susceptible to Electro-Magnetic Interference (EMI) and Radio Frequency Interference (RFI).</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2209502"/>
          </a:xfrm>
          <a:prstGeom prst="rect">
            <a:avLst/>
          </a:prstGeom>
        </p:spPr>
      </p:pic>
      <p:sp>
        <p:nvSpPr>
          <p:cNvPr id="3" name="Text 0"/>
          <p:cNvSpPr/>
          <p:nvPr/>
        </p:nvSpPr>
        <p:spPr>
          <a:xfrm>
            <a:off x="661475" y="2776934"/>
            <a:ext cx="10868745" cy="441821"/>
          </a:xfrm>
          <a:prstGeom prst="rect">
            <a:avLst/>
          </a:prstGeom>
          <a:noFill/>
          <a:ln/>
        </p:spPr>
        <p:txBody>
          <a:bodyPr wrap="none" lIns="0" tIns="0" rIns="0" bIns="0" rtlCol="0" anchor="t"/>
          <a:lstStyle/>
          <a:p>
            <a:pPr marL="0" indent="0" algn="l">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4. Surface Acoustic Wave (SAW) Touchscreens</a:t>
            </a:r>
            <a:endParaRPr lang="en-US" sz="2750" dirty="0"/>
          </a:p>
        </p:txBody>
      </p:sp>
      <p:sp>
        <p:nvSpPr>
          <p:cNvPr id="4" name="Text 1"/>
          <p:cNvSpPr/>
          <p:nvPr/>
        </p:nvSpPr>
        <p:spPr>
          <a:xfrm>
            <a:off x="661475" y="3466703"/>
            <a:ext cx="10868745" cy="820936"/>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151617"/>
                </a:solidFill>
                <a:latin typeface="Inconsolata" pitchFamily="34" charset="0"/>
                <a:ea typeface="Inconsolata" pitchFamily="34" charset="-122"/>
                <a:cs typeface="Inconsolata" pitchFamily="34" charset="-120"/>
              </a:rPr>
              <a:t>Utilizes an invisible grid of ultrasonic wave transducers and receivers running along the outer edges of a monitor's glass panel. Pressing the glass absorbs a portion of the clean ultrasonic wave grid, allowing the tracking system to parse the coordinate location and transmit the data.</a:t>
            </a:r>
            <a:endParaRPr lang="en-US" sz="1350" dirty="0"/>
          </a:p>
        </p:txBody>
      </p:sp>
      <p:sp>
        <p:nvSpPr>
          <p:cNvPr id="5" name="Shape 2"/>
          <p:cNvSpPr/>
          <p:nvPr/>
        </p:nvSpPr>
        <p:spPr>
          <a:xfrm>
            <a:off x="534180" y="4473575"/>
            <a:ext cx="5473365" cy="1816993"/>
          </a:xfrm>
          <a:prstGeom prst="roundRect">
            <a:avLst>
              <a:gd name="adj" fmla="val 419"/>
            </a:avLst>
          </a:prstGeom>
          <a:solidFill>
            <a:srgbClr val="151617"/>
          </a:solidFill>
          <a:ln/>
        </p:spPr>
      </p:sp>
      <p:sp>
        <p:nvSpPr>
          <p:cNvPr id="6" name="Text 3"/>
          <p:cNvSpPr/>
          <p:nvPr/>
        </p:nvSpPr>
        <p:spPr>
          <a:xfrm>
            <a:off x="710885" y="4638873"/>
            <a:ext cx="5119956" cy="276126"/>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Montserrat Black" pitchFamily="34" charset="0"/>
                <a:ea typeface="Montserrat Black" pitchFamily="34" charset="-122"/>
                <a:cs typeface="Montserrat Black" pitchFamily="34" charset="-120"/>
              </a:rPr>
              <a:t>Advantages</a:t>
            </a:r>
            <a:endParaRPr lang="en-US" sz="1700" dirty="0"/>
          </a:p>
        </p:txBody>
      </p:sp>
      <p:sp>
        <p:nvSpPr>
          <p:cNvPr id="7" name="Text 4"/>
          <p:cNvSpPr/>
          <p:nvPr/>
        </p:nvSpPr>
        <p:spPr>
          <a:xfrm>
            <a:off x="710885" y="5080298"/>
            <a:ext cx="5119956" cy="936625"/>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Excellent image clarity and light transmission.</a:t>
            </a:r>
            <a:endParaRPr lang="en-US" sz="1350" dirty="0"/>
          </a:p>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High resistance to surface scratches.</a:t>
            </a:r>
            <a:endParaRPr lang="en-US" sz="1350" dirty="0"/>
          </a:p>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Supports multi-touch capabilities.</a:t>
            </a:r>
            <a:endParaRPr lang="en-US" sz="1350" dirty="0"/>
          </a:p>
        </p:txBody>
      </p:sp>
      <p:sp>
        <p:nvSpPr>
          <p:cNvPr id="8" name="Text 5"/>
          <p:cNvSpPr/>
          <p:nvPr/>
        </p:nvSpPr>
        <p:spPr>
          <a:xfrm>
            <a:off x="6317794" y="4638873"/>
            <a:ext cx="5218776" cy="276126"/>
          </a:xfrm>
          <a:prstGeom prst="rect">
            <a:avLst/>
          </a:prstGeom>
          <a:noFill/>
          <a:ln/>
        </p:spPr>
        <p:txBody>
          <a:bodyPr wrap="none" lIns="0" tIns="0" rIns="0" bIns="0" rtlCol="0" anchor="t"/>
          <a:lstStyle/>
          <a:p>
            <a:pPr marL="0" indent="0" algn="l">
              <a:lnSpc>
                <a:spcPct val="104000"/>
              </a:lnSpc>
              <a:buNone/>
            </a:pPr>
            <a:r>
              <a:rPr lang="en-US" sz="1700" dirty="0">
                <a:solidFill>
                  <a:srgbClr val="151617"/>
                </a:solidFill>
                <a:latin typeface="Montserrat Black" pitchFamily="34" charset="0"/>
                <a:ea typeface="Montserrat Black" pitchFamily="34" charset="-122"/>
                <a:cs typeface="Montserrat Black" pitchFamily="34" charset="-120"/>
              </a:rPr>
              <a:t>Disadvantages</a:t>
            </a:r>
            <a:endParaRPr lang="en-US" sz="1700" dirty="0"/>
          </a:p>
        </p:txBody>
      </p:sp>
      <p:sp>
        <p:nvSpPr>
          <p:cNvPr id="9" name="Text 6"/>
          <p:cNvSpPr/>
          <p:nvPr/>
        </p:nvSpPr>
        <p:spPr>
          <a:xfrm>
            <a:off x="6317794" y="5080298"/>
            <a:ext cx="5218776" cy="1152426"/>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Must be activated via an exposed bare finger, thin surgical glove, or soft cotton glove.</a:t>
            </a:r>
            <a:endParaRPr lang="en-US" sz="1350" dirty="0"/>
          </a:p>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Highly sensitive to environmental EMI and RFI interference.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75568"/>
            <a:ext cx="10868745" cy="443012"/>
          </a:xfrm>
          <a:prstGeom prst="rect">
            <a:avLst/>
          </a:prstGeom>
          <a:noFill/>
          <a:ln/>
        </p:spPr>
        <p:txBody>
          <a:bodyPr wrap="none" lIns="0" tIns="0" rIns="0" bIns="0" rtlCol="0" anchor="t"/>
          <a:lstStyle/>
          <a:p>
            <a:pPr marL="0" indent="0" algn="l">
              <a:lnSpc>
                <a:spcPct val="104000"/>
              </a:lnSpc>
              <a:buNone/>
            </a:pPr>
            <a:r>
              <a:rPr lang="en-US" sz="2750" dirty="0">
                <a:solidFill>
                  <a:srgbClr val="151617"/>
                </a:solidFill>
                <a:latin typeface="Montserrat Black" pitchFamily="34" charset="0"/>
                <a:ea typeface="Montserrat Black" pitchFamily="34" charset="-122"/>
                <a:cs typeface="Montserrat Black" pitchFamily="34" charset="-120"/>
              </a:rPr>
              <a:t>5. Infrared Touch (IR) Touchscreens</a:t>
            </a:r>
            <a:endParaRPr lang="en-US" sz="2750" dirty="0"/>
          </a:p>
        </p:txBody>
      </p:sp>
      <p:sp>
        <p:nvSpPr>
          <p:cNvPr id="3" name="Text 1"/>
          <p:cNvSpPr/>
          <p:nvPr/>
        </p:nvSpPr>
        <p:spPr>
          <a:xfrm>
            <a:off x="661475" y="1350764"/>
            <a:ext cx="10868745"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151617"/>
                </a:solidFill>
                <a:latin typeface="Inconsolata" pitchFamily="34" charset="0"/>
                <a:ea typeface="Inconsolata" pitchFamily="34" charset="-122"/>
                <a:cs typeface="Inconsolata" pitchFamily="34" charset="-120"/>
              </a:rPr>
              <a:t>Does not overlay the display screen with an additional glass layer or material sandwich. Instead, it positions infrared light emitters and sensors around the outer frame to create an invisible grid of light beams. Any physical object interrupting the light beam grid allows sensors to accurately map the location.</a:t>
            </a:r>
            <a:endParaRPr lang="en-US" sz="1350" dirty="0"/>
          </a:p>
        </p:txBody>
      </p:sp>
      <p:sp>
        <p:nvSpPr>
          <p:cNvPr id="4" name="Shape 2"/>
          <p:cNvSpPr/>
          <p:nvPr/>
        </p:nvSpPr>
        <p:spPr>
          <a:xfrm>
            <a:off x="533982" y="2361505"/>
            <a:ext cx="5473265" cy="3920827"/>
          </a:xfrm>
          <a:prstGeom prst="roundRect">
            <a:avLst>
              <a:gd name="adj" fmla="val 194"/>
            </a:avLst>
          </a:prstGeom>
          <a:solidFill>
            <a:srgbClr val="151617"/>
          </a:solidFill>
          <a:ln/>
        </p:spPr>
      </p:sp>
      <p:sp>
        <p:nvSpPr>
          <p:cNvPr id="5" name="Text 3"/>
          <p:cNvSpPr/>
          <p:nvPr/>
        </p:nvSpPr>
        <p:spPr>
          <a:xfrm>
            <a:off x="711182" y="2527598"/>
            <a:ext cx="5118865" cy="276920"/>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Montserrat Black" pitchFamily="34" charset="0"/>
                <a:ea typeface="Montserrat Black" pitchFamily="34" charset="-122"/>
                <a:cs typeface="Montserrat Black" pitchFamily="34" charset="-120"/>
              </a:rPr>
              <a:t>Advantages</a:t>
            </a:r>
            <a:endParaRPr lang="en-US" sz="1700" dirty="0"/>
          </a:p>
        </p:txBody>
      </p:sp>
      <p:sp>
        <p:nvSpPr>
          <p:cNvPr id="6" name="Text 4"/>
          <p:cNvSpPr/>
          <p:nvPr/>
        </p:nvSpPr>
        <p:spPr>
          <a:xfrm>
            <a:off x="711182" y="2970609"/>
            <a:ext cx="5118865" cy="1822252"/>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Highest possible image clarity and light transmission across all screen technologies.</a:t>
            </a:r>
            <a:endParaRPr lang="en-US" sz="1350" dirty="0"/>
          </a:p>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Infinite "touch-life" durability.</a:t>
            </a:r>
            <a:endParaRPr lang="en-US" sz="1350" dirty="0"/>
          </a:p>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Impervious to superficial surface scratches.</a:t>
            </a:r>
            <a:endParaRPr lang="en-US" sz="1350" dirty="0"/>
          </a:p>
          <a:p>
            <a:pPr marL="274320" indent="-274320" algn="l">
              <a:lnSpc>
                <a:spcPct val="129000"/>
              </a:lnSpc>
              <a:buSzPct val="100000"/>
              <a:buChar char="•"/>
            </a:pPr>
            <a:r>
              <a:rPr lang="en-US" sz="1350" dirty="0">
                <a:solidFill>
                  <a:srgbClr val="FFFFFF"/>
                </a:solidFill>
                <a:latin typeface="Inconsolata" pitchFamily="34" charset="0"/>
                <a:ea typeface="Inconsolata" pitchFamily="34" charset="-122"/>
                <a:cs typeface="Inconsolata" pitchFamily="34" charset="-120"/>
              </a:rPr>
              <a:t>Exceptional scratch resistance compared to capacitive touchscreens.</a:t>
            </a:r>
            <a:endParaRPr lang="en-US" sz="1350" dirty="0"/>
          </a:p>
        </p:txBody>
      </p:sp>
      <p:sp>
        <p:nvSpPr>
          <p:cNvPr id="7" name="Text 5"/>
          <p:cNvSpPr/>
          <p:nvPr/>
        </p:nvSpPr>
        <p:spPr>
          <a:xfrm>
            <a:off x="6318290" y="2527598"/>
            <a:ext cx="5218280" cy="276920"/>
          </a:xfrm>
          <a:prstGeom prst="rect">
            <a:avLst/>
          </a:prstGeom>
          <a:noFill/>
          <a:ln/>
        </p:spPr>
        <p:txBody>
          <a:bodyPr wrap="none" lIns="0" tIns="0" rIns="0" bIns="0" rtlCol="0" anchor="t"/>
          <a:lstStyle/>
          <a:p>
            <a:pPr marL="0" indent="0" algn="l">
              <a:lnSpc>
                <a:spcPct val="104000"/>
              </a:lnSpc>
              <a:buNone/>
            </a:pPr>
            <a:r>
              <a:rPr lang="en-US" sz="1700" dirty="0">
                <a:solidFill>
                  <a:srgbClr val="151617"/>
                </a:solidFill>
                <a:latin typeface="Montserrat Black" pitchFamily="34" charset="0"/>
                <a:ea typeface="Montserrat Black" pitchFamily="34" charset="-122"/>
                <a:cs typeface="Montserrat Black" pitchFamily="34" charset="-120"/>
              </a:rPr>
              <a:t>Disadvantages</a:t>
            </a:r>
            <a:endParaRPr lang="en-US" sz="1700" dirty="0"/>
          </a:p>
        </p:txBody>
      </p:sp>
      <p:sp>
        <p:nvSpPr>
          <p:cNvPr id="8" name="Text 6"/>
          <p:cNvSpPr/>
          <p:nvPr/>
        </p:nvSpPr>
        <p:spPr>
          <a:xfrm>
            <a:off x="6318290" y="2970609"/>
            <a:ext cx="5218280" cy="3253581"/>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Will not activate with hard items like a hard plastic pen, credit cards, or fingernails.</a:t>
            </a:r>
            <a:endParaRPr lang="en-US" sz="1350" dirty="0"/>
          </a:p>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Water droplets or solid contaminants resting on the screen can block beams and cause false touch triggering.</a:t>
            </a:r>
            <a:endParaRPr lang="en-US" sz="1350" dirty="0"/>
          </a:p>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Accidental activation can occur because the infrared beams reside slightly above the physical glass surface.</a:t>
            </a:r>
            <a:endParaRPr lang="en-US" sz="1350" dirty="0"/>
          </a:p>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Sensitive to snow, rain, or severe ambient light interference.</a:t>
            </a:r>
            <a:endParaRPr lang="en-US" sz="1350" dirty="0"/>
          </a:p>
          <a:p>
            <a:pPr marL="274320" indent="-274320" algn="l">
              <a:lnSpc>
                <a:spcPct val="129000"/>
              </a:lnSpc>
              <a:buSzPct val="100000"/>
              <a:buChar char="•"/>
            </a:pPr>
            <a:r>
              <a:rPr lang="en-US" sz="1350" dirty="0">
                <a:solidFill>
                  <a:srgbClr val="151617"/>
                </a:solidFill>
                <a:latin typeface="Inconsolata" pitchFamily="34" charset="0"/>
                <a:ea typeface="Inconsolata" pitchFamily="34" charset="-122"/>
                <a:cs typeface="Inconsolata" pitchFamily="34" charset="-120"/>
              </a:rPr>
              <a:t>Higher cost of integration compared to alternative architectures.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110357"/>
            <a:ext cx="6296860" cy="413445"/>
          </a:xfrm>
          <a:prstGeom prst="rect">
            <a:avLst/>
          </a:prstGeom>
          <a:noFill/>
          <a:ln/>
        </p:spPr>
        <p:txBody>
          <a:bodyPr wrap="none" lIns="0" tIns="0" rIns="0" bIns="0" rtlCol="0" anchor="t"/>
          <a:lstStyle/>
          <a:p>
            <a:pPr marL="0" indent="0" algn="l">
              <a:lnSpc>
                <a:spcPct val="104000"/>
              </a:lnSpc>
              <a:buNone/>
            </a:pPr>
            <a:r>
              <a:rPr lang="en-US" sz="2600" dirty="0">
                <a:solidFill>
                  <a:srgbClr val="151617"/>
                </a:solidFill>
                <a:latin typeface="Montserrat Black" pitchFamily="34" charset="0"/>
                <a:ea typeface="Montserrat Black" pitchFamily="34" charset="-122"/>
                <a:cs typeface="Montserrat Black" pitchFamily="34" charset="-120"/>
              </a:rPr>
              <a:t>Recap</a:t>
            </a:r>
            <a:endParaRPr lang="en-US" sz="2600" dirty="0"/>
          </a:p>
        </p:txBody>
      </p:sp>
      <p:sp>
        <p:nvSpPr>
          <p:cNvPr id="4" name="Text 1"/>
          <p:cNvSpPr/>
          <p:nvPr/>
        </p:nvSpPr>
        <p:spPr>
          <a:xfrm>
            <a:off x="661475" y="1662708"/>
            <a:ext cx="6296860" cy="4084836"/>
          </a:xfrm>
          <a:prstGeom prst="rect">
            <a:avLst/>
          </a:prstGeom>
          <a:noFill/>
          <a:ln/>
        </p:spPr>
        <p:txBody>
          <a:bodyPr wrap="square" lIns="0" tIns="0" rIns="0" bIns="0" rtlCol="0" anchor="t">
            <a:normAutofit/>
          </a:bodyPr>
          <a:lstStyle/>
          <a:p>
            <a:pPr marL="203200" indent="-203200" algn="l">
              <a:lnSpc>
                <a:spcPct val="113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Touch User Interfaces (TUI)</a:t>
            </a:r>
            <a:r>
              <a:rPr lang="en-US" dirty="0">
                <a:solidFill>
                  <a:srgbClr val="151617"/>
                </a:solidFill>
                <a:latin typeface="Inconsolata" pitchFamily="34" charset="0"/>
                <a:ea typeface="Inconsolata" pitchFamily="34" charset="-122"/>
                <a:cs typeface="Inconsolata" pitchFamily="34" charset="-120"/>
              </a:rPr>
              <a:t>   </a:t>
            </a:r>
            <a:endParaRPr lang="en-US" dirty="0"/>
          </a:p>
          <a:p>
            <a:pPr marL="203200" indent="-203200" algn="l">
              <a:lnSpc>
                <a:spcPct val="113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Four design considerations for touchscreen gadgets</a:t>
            </a:r>
            <a:r>
              <a:rPr lang="en-US" dirty="0">
                <a:solidFill>
                  <a:srgbClr val="151617"/>
                </a:solidFill>
                <a:latin typeface="Inconsolata" pitchFamily="34" charset="0"/>
                <a:ea typeface="Inconsolata" pitchFamily="34" charset="-122"/>
                <a:cs typeface="Inconsolata" pitchFamily="34" charset="-120"/>
              </a:rPr>
              <a:t>   </a:t>
            </a:r>
            <a:endParaRPr lang="en-US" dirty="0"/>
          </a:p>
          <a:p>
            <a:pPr marL="203200" indent="-203200" algn="l">
              <a:lnSpc>
                <a:spcPct val="113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Three core interaction techniques</a:t>
            </a:r>
            <a:r>
              <a:rPr lang="en-US" dirty="0">
                <a:solidFill>
                  <a:srgbClr val="151617"/>
                </a:solidFill>
                <a:latin typeface="Inconsolata" pitchFamily="34" charset="0"/>
                <a:ea typeface="Inconsolata" pitchFamily="34" charset="-122"/>
                <a:cs typeface="Inconsolata" pitchFamily="34" charset="-120"/>
              </a:rPr>
              <a:t>   </a:t>
            </a:r>
            <a:endParaRPr lang="en-US" dirty="0"/>
          </a:p>
          <a:p>
            <a:pPr marL="203200" indent="-203200" algn="l">
              <a:lnSpc>
                <a:spcPct val="113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Five touchscreen technologies covered</a:t>
            </a:r>
            <a:r>
              <a:rPr lang="en-US" dirty="0">
                <a:solidFill>
                  <a:srgbClr val="151617"/>
                </a:solidFill>
                <a:latin typeface="Inconsolata" pitchFamily="34" charset="0"/>
                <a:ea typeface="Inconsolata" pitchFamily="34" charset="-122"/>
                <a:cs typeface="Inconsolata" pitchFamily="34" charset="-120"/>
              </a:rPr>
              <a:t>   </a:t>
            </a:r>
            <a:endParaRPr lang="en-US" dirty="0"/>
          </a:p>
          <a:p>
            <a:pPr marL="203200" indent="-203200" algn="l">
              <a:lnSpc>
                <a:spcPct val="113000"/>
              </a:lnSpc>
              <a:buSzPct val="100000"/>
              <a:buChar char="•"/>
            </a:pPr>
            <a:r>
              <a:rPr lang="en-US" b="1" dirty="0">
                <a:solidFill>
                  <a:srgbClr val="151617"/>
                </a:solidFill>
                <a:latin typeface="Inconsolata Bold" pitchFamily="34" charset="0"/>
                <a:ea typeface="Inconsolata Bold" pitchFamily="34" charset="-122"/>
                <a:cs typeface="Inconsolata Bold" pitchFamily="34" charset="-120"/>
              </a:rPr>
              <a:t>Choosing the right touchscreen technology</a:t>
            </a:r>
            <a:r>
              <a:rPr lang="en-US" dirty="0">
                <a:solidFill>
                  <a:srgbClr val="151617"/>
                </a:solidFill>
                <a:latin typeface="Inconsolata" pitchFamily="34" charset="0"/>
                <a:ea typeface="Inconsolata" pitchFamily="34" charset="-122"/>
                <a:cs typeface="Inconsolata" pitchFamily="34" charset="-120"/>
              </a:rPr>
              <a:t>   </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1033</Words>
  <Application>Microsoft Office PowerPoint</Application>
  <PresentationFormat>Widescreen</PresentationFormat>
  <Paragraphs>105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Inconsolata</vt:lpstr>
      <vt:lpstr>Montserrat Black</vt:lpstr>
      <vt:lpstr>Inconsolata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Joshua Valencia</cp:lastModifiedBy>
  <cp:revision>2</cp:revision>
  <dcterms:created xsi:type="dcterms:W3CDTF">2026-07-08T06:57:20Z</dcterms:created>
  <dcterms:modified xsi:type="dcterms:W3CDTF">2026-07-08T07:20:57Z</dcterms:modified>
</cp:coreProperties>
</file>