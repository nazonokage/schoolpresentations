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Lora" pitchFamily="2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38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1656854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Structures Foundations &amp; Type Management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716040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memory architecture to type casting — a practical guide for understanding how data lives, moves, and transforms inside your programs.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269971" y="4897934"/>
            <a:ext cx="935113" cy="303113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</p:sp>
      <p:sp>
        <p:nvSpPr>
          <p:cNvPr id="7" name="Text 4"/>
          <p:cNvSpPr/>
          <p:nvPr/>
        </p:nvSpPr>
        <p:spPr>
          <a:xfrm>
            <a:off x="5389626" y="4957763"/>
            <a:ext cx="130538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MODULE 2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4797" y="4897934"/>
            <a:ext cx="1540134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4452" y="4957763"/>
            <a:ext cx="191040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 FUNDAMENTALS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667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This Lesson Matters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140744"/>
            <a:ext cx="3462152" cy="3462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3144" y="1901924"/>
            <a:ext cx="684671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Algorithms vs. Data Structures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653144" y="2394645"/>
            <a:ext cx="684671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Algorithms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are the step-by-step instructions for solving problems.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Data Structures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are the architectural art of organizing data in memory. You need both — a brilliant algorithm is useless on poorly organized data.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4653144" y="3576538"/>
            <a:ext cx="6846716" cy="1422499"/>
          </a:xfrm>
          <a:prstGeom prst="roundRect">
            <a:avLst>
              <a:gd name="adj" fmla="val 2103"/>
            </a:avLst>
          </a:prstGeom>
          <a:solidFill>
            <a:srgbClr val="79064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568" y="3867150"/>
            <a:ext cx="249330" cy="199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1324" y="3805833"/>
            <a:ext cx="5999112" cy="963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Google's advertising algorithms are powerful, but completely useless without optimized backend data structures holding user information.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653144" y="5223371"/>
            <a:ext cx="684671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software bugs in real-world projects trace back to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improper data organization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type handling errors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8602"/>
            <a:ext cx="107955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a Data Structure?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267916"/>
            <a:ext cx="10795524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data structure defines </a:t>
            </a: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how data is organized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match the physical constraints of machine memory — bridging human-readable code and hardware-level representation.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995190"/>
            <a:ext cx="4164900" cy="41650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3784" y="3346152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Two Layers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293784" y="3700760"/>
            <a:ext cx="5206175" cy="1120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High-Level Code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what you write: strings, objects, abstract lists.</a:t>
            </a:r>
            <a:endParaRPr lang="en-US" sz="12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Machine Representation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what the hardware sees: binary, hex addresses, memory registers.</a:t>
            </a:r>
            <a:endParaRPr lang="en-US" sz="12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structures are the </a:t>
            </a:r>
            <a:r>
              <a:rPr lang="en-US" sz="12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translation framework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between these two worlds.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9218"/>
            <a:ext cx="10795524" cy="375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Four Ways to Organize Data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698086" y="1158875"/>
            <a:ext cx="5242092" cy="1156395"/>
          </a:xfrm>
          <a:prstGeom prst="roundRect">
            <a:avLst>
              <a:gd name="adj" fmla="val 1656"/>
            </a:avLst>
          </a:prstGeom>
          <a:solidFill>
            <a:srgbClr val="444752"/>
          </a:solidFill>
          <a:ln/>
        </p:spPr>
      </p:sp>
      <p:sp>
        <p:nvSpPr>
          <p:cNvPr id="4" name="Shape 2"/>
          <p:cNvSpPr/>
          <p:nvPr/>
        </p:nvSpPr>
        <p:spPr>
          <a:xfrm>
            <a:off x="825678" y="1286470"/>
            <a:ext cx="382876" cy="382885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946" y="1391741"/>
            <a:ext cx="172239" cy="1722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5678" y="1751013"/>
            <a:ext cx="4986907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Array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25678" y="2020292"/>
            <a:ext cx="4986907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Post office boxes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fixed, numbered, instantly accessible by index. Size is locked once built.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8086" y="2396927"/>
            <a:ext cx="5242092" cy="1323777"/>
          </a:xfrm>
          <a:prstGeom prst="roundRect">
            <a:avLst>
              <a:gd name="adj" fmla="val 1446"/>
            </a:avLst>
          </a:prstGeom>
          <a:solidFill>
            <a:srgbClr val="444752"/>
          </a:solidFill>
          <a:ln/>
        </p:spPr>
      </p:sp>
      <p:sp>
        <p:nvSpPr>
          <p:cNvPr id="9" name="Shape 6"/>
          <p:cNvSpPr/>
          <p:nvPr/>
        </p:nvSpPr>
        <p:spPr>
          <a:xfrm>
            <a:off x="825678" y="2524522"/>
            <a:ext cx="382876" cy="382885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0946" y="2629793"/>
            <a:ext cx="172239" cy="1722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5678" y="2989064"/>
            <a:ext cx="4986907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Linked List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25678" y="3258344"/>
            <a:ext cx="4986907" cy="334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Scavenger hunt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each item holds the address of the next. No random access; elements scattered in memory.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98086" y="3802360"/>
            <a:ext cx="5242092" cy="1156395"/>
          </a:xfrm>
          <a:prstGeom prst="roundRect">
            <a:avLst>
              <a:gd name="adj" fmla="val 1656"/>
            </a:avLst>
          </a:prstGeom>
          <a:solidFill>
            <a:srgbClr val="4447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5678" y="3929955"/>
            <a:ext cx="382876" cy="382885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0946" y="4035227"/>
            <a:ext cx="172239" cy="1722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5678" y="4394498"/>
            <a:ext cx="4986907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Stack (LIFO)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25678" y="4663777"/>
            <a:ext cx="4986907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Plate dispenser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push and pop from the top only. Last in, first out.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98086" y="5040412"/>
            <a:ext cx="5242092" cy="1156395"/>
          </a:xfrm>
          <a:prstGeom prst="roundRect">
            <a:avLst>
              <a:gd name="adj" fmla="val 1656"/>
            </a:avLst>
          </a:prstGeom>
          <a:solidFill>
            <a:srgbClr val="444752"/>
          </a:solidFill>
          <a:ln/>
        </p:spPr>
      </p:sp>
      <p:sp>
        <p:nvSpPr>
          <p:cNvPr id="19" name="Shape 14"/>
          <p:cNvSpPr/>
          <p:nvPr/>
        </p:nvSpPr>
        <p:spPr>
          <a:xfrm>
            <a:off x="825678" y="5168007"/>
            <a:ext cx="382876" cy="382885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0946" y="5273278"/>
            <a:ext cx="172239" cy="1722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5678" y="5632549"/>
            <a:ext cx="4986907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Queue (FIFO)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25678" y="5901829"/>
            <a:ext cx="4986907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Cinema ticket line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first to arrive is first served. Insert at rear, remove from front.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4D1F0E8-ABA1-E5DA-8BAE-2FA3DB6564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3488" y="150681"/>
            <a:ext cx="3607623" cy="65500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0195"/>
            <a:ext cx="10795524" cy="49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Arrays in Code: Java vs. C++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380331"/>
            <a:ext cx="1079552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Both languages allocate array elements sequentially in memory, but </a:t>
            </a:r>
            <a:r>
              <a:rPr lang="en-US" sz="13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C++ sits closer to the hardware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while Java manages memory through garbage-collected abstractions.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98086" y="2167334"/>
            <a:ext cx="5194170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8086" y="2569766"/>
            <a:ext cx="5194170" cy="3520976"/>
          </a:xfrm>
          <a:prstGeom prst="roundRect">
            <a:avLst>
              <a:gd name="adj" fmla="val 711"/>
            </a:avLst>
          </a:prstGeom>
          <a:solidFill>
            <a:srgbClr val="323540"/>
          </a:solidFill>
          <a:ln/>
        </p:spPr>
      </p:sp>
      <p:sp>
        <p:nvSpPr>
          <p:cNvPr id="6" name="Shape 4"/>
          <p:cNvSpPr/>
          <p:nvPr/>
        </p:nvSpPr>
        <p:spPr>
          <a:xfrm>
            <a:off x="689751" y="2569766"/>
            <a:ext cx="5210838" cy="3520976"/>
          </a:xfrm>
          <a:prstGeom prst="roundRect">
            <a:avLst>
              <a:gd name="adj" fmla="val 711"/>
            </a:avLst>
          </a:prstGeom>
          <a:solidFill>
            <a:srgbClr val="323540"/>
          </a:solidFill>
          <a:ln/>
        </p:spPr>
      </p:sp>
      <p:sp>
        <p:nvSpPr>
          <p:cNvPr id="8" name="Text 6"/>
          <p:cNvSpPr/>
          <p:nvPr/>
        </p:nvSpPr>
        <p:spPr>
          <a:xfrm>
            <a:off x="6305789" y="2167334"/>
            <a:ext cx="5194170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C++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5789" y="2569766"/>
            <a:ext cx="5194170" cy="3275806"/>
          </a:xfrm>
          <a:prstGeom prst="roundRect">
            <a:avLst>
              <a:gd name="adj" fmla="val 764"/>
            </a:avLst>
          </a:prstGeom>
          <a:solidFill>
            <a:srgbClr val="323540"/>
          </a:solidFill>
          <a:ln/>
        </p:spPr>
      </p:sp>
      <p:sp>
        <p:nvSpPr>
          <p:cNvPr id="10" name="Shape 8"/>
          <p:cNvSpPr/>
          <p:nvPr/>
        </p:nvSpPr>
        <p:spPr>
          <a:xfrm>
            <a:off x="6297455" y="2569766"/>
            <a:ext cx="5210838" cy="3275806"/>
          </a:xfrm>
          <a:prstGeom prst="roundRect">
            <a:avLst>
              <a:gd name="adj" fmla="val 764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PH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06A159-A690-B4B1-12B6-A3AA09F12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326" y="2569766"/>
            <a:ext cx="3668486" cy="36684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668FD7-9A2D-D123-B67F-0B49F3ADC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303" y="2467124"/>
            <a:ext cx="3961471" cy="37262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5141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Type Casting: Implicit vs. Explicit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379835"/>
            <a:ext cx="11405108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moving data between variables of different sizes, the compiler either helps you silently — or forces you to take responsibility for potential data loss.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986484"/>
            <a:ext cx="2537754" cy="19827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873" y="3165078"/>
            <a:ext cx="210437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Implicit — Widening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52873" y="3527326"/>
            <a:ext cx="2104377" cy="126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Smaller → Larger type. </a:t>
            </a:r>
            <a:r>
              <a:rPr lang="en-US" sz="12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Zero risk</a:t>
            </a: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data loss. The compiler handles it silently.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 (32-bit) → double (64-bit) ✓ Safe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3431" y="2986484"/>
            <a:ext cx="2537754" cy="19827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18219" y="3165078"/>
            <a:ext cx="210437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Explicit — Narrowing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618219" y="3527326"/>
            <a:ext cx="2104377" cy="126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Larger → Smaller type. </a:t>
            </a:r>
            <a:r>
              <a:rPr lang="en-US" sz="12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Risks precision loss</a:t>
            </a: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(e.g., decimal places sliced off). You must declare it manually.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double → int </a:t>
            </a: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Data lost!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860" y="1896666"/>
            <a:ext cx="4162420" cy="4162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9197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Type Casting in Practice: Java vs. C++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410395"/>
            <a:ext cx="10795524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Both languages share the same casting logic — implicit widening happens automatically, while narrowing requires a manual cast. C++ additionally offers </a:t>
            </a:r>
            <a:r>
              <a:rPr lang="en-US" sz="14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static_cast&lt;&gt;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as a more explicit alternative to C-style casting.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8086" y="2311896"/>
            <a:ext cx="517879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3484" y="2937173"/>
            <a:ext cx="4747995" cy="272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168" y="2311896"/>
            <a:ext cx="517879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C++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36566" y="2937173"/>
            <a:ext cx="4747995" cy="3000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ADF18C-669B-8459-39E2-C8F7F64E5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9" y="2757686"/>
            <a:ext cx="4492144" cy="37060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6154F3-566D-17A4-AA8B-C22A20648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749" y="2700568"/>
            <a:ext cx="4199390" cy="3713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3588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Primitive to Object: Numbers Become Strings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550491"/>
            <a:ext cx="10795524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Sometimes you need to </a:t>
            </a:r>
            <a:r>
              <a:rPr lang="en-US" sz="13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 a numeric value into a String object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especially when formatting output for users. The </a:t>
            </a:r>
            <a:r>
              <a:rPr lang="en-US" sz="13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operator behaves very differently depending on the operand types.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98086" y="2377579"/>
            <a:ext cx="5190995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 — </a:t>
            </a: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String.valueOf()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8086" y="2795389"/>
            <a:ext cx="5190995" cy="2346325"/>
          </a:xfrm>
          <a:prstGeom prst="roundRect">
            <a:avLst>
              <a:gd name="adj" fmla="val 1084"/>
            </a:avLst>
          </a:prstGeom>
          <a:solidFill>
            <a:srgbClr val="323540"/>
          </a:solidFill>
          <a:ln/>
        </p:spPr>
      </p:sp>
      <p:sp>
        <p:nvSpPr>
          <p:cNvPr id="6" name="Shape 4"/>
          <p:cNvSpPr/>
          <p:nvPr/>
        </p:nvSpPr>
        <p:spPr>
          <a:xfrm>
            <a:off x="689652" y="2795389"/>
            <a:ext cx="5207862" cy="2346325"/>
          </a:xfrm>
          <a:prstGeom prst="roundRect">
            <a:avLst>
              <a:gd name="adj" fmla="val 1084"/>
            </a:avLst>
          </a:prstGeom>
          <a:solidFill>
            <a:srgbClr val="323540"/>
          </a:solidFill>
          <a:ln/>
        </p:spPr>
      </p:sp>
      <p:sp>
        <p:nvSpPr>
          <p:cNvPr id="8" name="Text 6"/>
          <p:cNvSpPr/>
          <p:nvPr/>
        </p:nvSpPr>
        <p:spPr>
          <a:xfrm>
            <a:off x="6308964" y="2377579"/>
            <a:ext cx="5190995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C++ — </a:t>
            </a: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std::to_string()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08964" y="2795389"/>
            <a:ext cx="5190995" cy="2346325"/>
          </a:xfrm>
          <a:prstGeom prst="roundRect">
            <a:avLst>
              <a:gd name="adj" fmla="val 1084"/>
            </a:avLst>
          </a:prstGeom>
          <a:solidFill>
            <a:srgbClr val="323540"/>
          </a:solidFill>
          <a:ln/>
        </p:spPr>
      </p:sp>
      <p:sp>
        <p:nvSpPr>
          <p:cNvPr id="10" name="Shape 8"/>
          <p:cNvSpPr/>
          <p:nvPr/>
        </p:nvSpPr>
        <p:spPr>
          <a:xfrm>
            <a:off x="6300531" y="2795389"/>
            <a:ext cx="5207862" cy="2346325"/>
          </a:xfrm>
          <a:prstGeom prst="roundRect">
            <a:avLst>
              <a:gd name="adj" fmla="val 1084"/>
            </a:avLst>
          </a:prstGeom>
          <a:solidFill>
            <a:srgbClr val="323540"/>
          </a:solidFill>
          <a:ln/>
        </p:spPr>
      </p:sp>
      <p:sp>
        <p:nvSpPr>
          <p:cNvPr id="11" name="Text 9"/>
          <p:cNvSpPr/>
          <p:nvPr/>
        </p:nvSpPr>
        <p:spPr>
          <a:xfrm>
            <a:off x="6512457" y="2964855"/>
            <a:ext cx="4784010" cy="200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8086" y="5465961"/>
            <a:ext cx="10795524" cy="628452"/>
          </a:xfrm>
          <a:prstGeom prst="roundRect">
            <a:avLst>
              <a:gd name="adj" fmla="val 4047"/>
            </a:avLst>
          </a:prstGeom>
          <a:solidFill>
            <a:srgbClr val="79064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47" y="5700911"/>
            <a:ext cx="211926" cy="16946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48934" y="5652393"/>
            <a:ext cx="10684798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⚠️</a:t>
            </a: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Once converted to a String, the </a:t>
            </a:r>
            <a:r>
              <a:rPr lang="en-US" sz="1300" dirty="0">
                <a:solidFill>
                  <a:srgbClr val="FFFFF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operator switches from arithmetic addition to text concatenation — a classic source of silent bugs.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1056FA-C776-D61F-734B-7FCAEE23E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599" y="2758230"/>
            <a:ext cx="3921967" cy="25492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82A9C9-E252-39E6-1FD6-91F2CDC55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032" y="2758230"/>
            <a:ext cx="3921968" cy="2549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85050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Takeaways</a:t>
            </a:r>
            <a:endParaRPr lang="en-US" sz="3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4780" y="1742529"/>
            <a:ext cx="299137" cy="2991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18151" y="1736328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Choose the Right Structure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918151" y="2149277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Arrays for indexed lookup. Linked Lists for flexible insertion. Stacks (LIFO) and Queues (FIFO) for ordered task execution.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4780" y="3192810"/>
            <a:ext cx="299137" cy="2991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18151" y="3186609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Respect Type Boundaries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5918151" y="3599557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Always identify whether an assignment triggers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implicit widening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(safe) or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explicit narrowing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(data precision discarded).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4780" y="4643090"/>
            <a:ext cx="299137" cy="29914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18151" y="4636889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Know Your Abstraction Layer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5918151" y="5049837"/>
            <a:ext cx="55754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C++ addresses hardware registers directly; Java wraps memory management in garbage-collected object libraries. Both are valid — choose based on your constraints.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637</Words>
  <Application>Microsoft Office PowerPoint</Application>
  <PresentationFormat>Widescreen</PresentationFormat>
  <Paragraphs>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Lora</vt:lpstr>
      <vt:lpstr>Source Sans 3</vt:lpstr>
      <vt:lpstr>Arial</vt:lpstr>
      <vt:lpstr>Consolas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Joshua Valencia</cp:lastModifiedBy>
  <cp:revision>2</cp:revision>
  <dcterms:created xsi:type="dcterms:W3CDTF">2026-07-10T02:44:38Z</dcterms:created>
  <dcterms:modified xsi:type="dcterms:W3CDTF">2026-07-10T02:49:25Z</dcterms:modified>
</cp:coreProperties>
</file>