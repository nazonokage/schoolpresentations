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embeddedFontLst>
    <p:embeddedFont>
      <p:font typeface="Epilogue" panose="020B0604020202020204" charset="0"/>
      <p:regular r:id="rId13"/>
    </p:embeddedFont>
    <p:embeddedFont>
      <p:font typeface="Epilogue Bold" panose="020B0604020202020204" charset="0"/>
      <p:regular r:id="rId14"/>
    </p:embeddedFont>
    <p:embeddedFont>
      <p:font typeface="Fraunces Medium" panose="020B0604020202020204" charset="0"/>
      <p:regular r:id="rId15"/>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794547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A8AFCC"/>
          </a:solidFill>
          <a:ln/>
        </p:spPr>
      </p:sp>
      <p:sp>
        <p:nvSpPr>
          <p:cNvPr id="3" name="Shape 1"/>
          <p:cNvSpPr/>
          <p:nvPr/>
        </p:nvSpPr>
        <p:spPr>
          <a:xfrm>
            <a:off x="0" y="0"/>
            <a:ext cx="12191695" cy="6858000"/>
          </a:xfrm>
          <a:prstGeom prst="rect">
            <a:avLst/>
          </a:prstGeom>
          <a:solidFill>
            <a:srgbClr val="080E26"/>
          </a:solidFill>
          <a:ln/>
        </p:spPr>
      </p:sp>
      <p:pic>
        <p:nvPicPr>
          <p:cNvPr id="4"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jpeg"/><Relationship Id="rId7" Type="http://schemas.openxmlformats.org/officeDocument/2006/relationships/image" Target="../media/image15.sv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sv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8.svg"/><Relationship Id="rId4"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619809" y="0"/>
            <a:ext cx="4571886" cy="6858000"/>
          </a:xfrm>
          <a:prstGeom prst="rect">
            <a:avLst/>
          </a:prstGeom>
        </p:spPr>
      </p:pic>
      <p:sp>
        <p:nvSpPr>
          <p:cNvPr id="3" name="Text 0"/>
          <p:cNvSpPr/>
          <p:nvPr/>
        </p:nvSpPr>
        <p:spPr>
          <a:xfrm>
            <a:off x="661475" y="1841302"/>
            <a:ext cx="6296860" cy="1771948"/>
          </a:xfrm>
          <a:prstGeom prst="rect">
            <a:avLst/>
          </a:prstGeom>
          <a:noFill/>
          <a:ln/>
        </p:spPr>
        <p:txBody>
          <a:bodyPr wrap="square" lIns="0" tIns="0" rIns="0" bIns="0" rtlCol="0" anchor="t">
            <a:normAutofit/>
          </a:bodyPr>
          <a:lstStyle/>
          <a:p>
            <a:pPr marL="0" indent="0" algn="l">
              <a:lnSpc>
                <a:spcPct val="104000"/>
              </a:lnSpc>
              <a:buNone/>
            </a:pPr>
            <a:r>
              <a:rPr lang="en-US" sz="3700" dirty="0">
                <a:solidFill>
                  <a:srgbClr val="FFFFFF"/>
                </a:solidFill>
                <a:latin typeface="Fraunces Medium" pitchFamily="34" charset="0"/>
                <a:ea typeface="Fraunces Medium" pitchFamily="34" charset="-122"/>
                <a:cs typeface="Fraunces Medium" pitchFamily="34" charset="-120"/>
              </a:rPr>
              <a:t>Hand-held and Wearable Devices: The Evolution of Personal Computing</a:t>
            </a:r>
            <a:endParaRPr lang="en-US" sz="3700" dirty="0"/>
          </a:p>
        </p:txBody>
      </p:sp>
      <p:sp>
        <p:nvSpPr>
          <p:cNvPr id="4" name="Text 1"/>
          <p:cNvSpPr/>
          <p:nvPr/>
        </p:nvSpPr>
        <p:spPr>
          <a:xfrm>
            <a:off x="661475" y="3896717"/>
            <a:ext cx="6296860" cy="1119882"/>
          </a:xfrm>
          <a:prstGeom prst="rect">
            <a:avLst/>
          </a:prstGeom>
          <a:noFill/>
          <a:ln/>
        </p:spPr>
        <p:txBody>
          <a:bodyPr wrap="square" lIns="0" tIns="0" rIns="0" bIns="0" rtlCol="0" anchor="t">
            <a:normAutofit/>
          </a:bodyPr>
          <a:lstStyle/>
          <a:p>
            <a:pPr marL="0" indent="0" algn="l">
              <a:lnSpc>
                <a:spcPct val="133000"/>
              </a:lnSpc>
              <a:spcAft>
                <a:spcPts val="1650"/>
              </a:spcAft>
              <a:buNone/>
            </a:pPr>
            <a:r>
              <a:rPr lang="en-US" sz="1450" i="1" dirty="0">
                <a:solidFill>
                  <a:srgbClr val="EBECEF"/>
                </a:solidFill>
                <a:latin typeface="Epilogue" pitchFamily="34" charset="0"/>
                <a:ea typeface="Epilogue" pitchFamily="34" charset="-122"/>
                <a:cs typeface="Epilogue" pitchFamily="34" charset="-120"/>
              </a:rPr>
              <a:t>Understanding the Architectures, Categories, and Interconnectivity of Next-Generation Form Factors</a:t>
            </a:r>
            <a:endParaRPr lang="en-US" sz="1450" dirty="0"/>
          </a:p>
          <a:p>
            <a:pPr marL="0" indent="0" algn="l">
              <a:lnSpc>
                <a:spcPct val="133000"/>
              </a:lnSpc>
              <a:buNone/>
            </a:pPr>
            <a:r>
              <a:rPr lang="en-US" sz="1450" b="1" dirty="0">
                <a:solidFill>
                  <a:srgbClr val="EBECEF"/>
                </a:solidFill>
                <a:latin typeface="Epilogue Bold" pitchFamily="34" charset="0"/>
                <a:ea typeface="Epilogue Bold" pitchFamily="34" charset="-122"/>
                <a:cs typeface="Epilogue Bold" pitchFamily="34" charset="-120"/>
              </a:rPr>
              <a:t>IT 30: Human Computer Interaction 2 (Module #2)</a:t>
            </a:r>
            <a:endParaRPr lang="en-US" sz="1450" dirty="0"/>
          </a:p>
        </p:txBody>
      </p:sp>
    </p:spTree>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619809" y="0"/>
            <a:ext cx="4571886" cy="6858000"/>
          </a:xfrm>
          <a:prstGeom prst="rect">
            <a:avLst/>
          </a:prstGeom>
        </p:spPr>
      </p:pic>
      <p:sp>
        <p:nvSpPr>
          <p:cNvPr id="3" name="Text 0"/>
          <p:cNvSpPr/>
          <p:nvPr/>
        </p:nvSpPr>
        <p:spPr>
          <a:xfrm>
            <a:off x="661475" y="1570831"/>
            <a:ext cx="6296860" cy="1181298"/>
          </a:xfrm>
          <a:prstGeom prst="rect">
            <a:avLst/>
          </a:prstGeom>
          <a:noFill/>
          <a:ln/>
        </p:spPr>
        <p:txBody>
          <a:bodyPr wrap="square" lIns="0" tIns="0" rIns="0" bIns="0" rtlCol="0" anchor="t">
            <a:normAutofit/>
          </a:bodyPr>
          <a:lstStyle/>
          <a:p>
            <a:pPr marL="0" indent="0" algn="l">
              <a:lnSpc>
                <a:spcPct val="104000"/>
              </a:lnSpc>
              <a:buNone/>
            </a:pPr>
            <a:r>
              <a:rPr lang="en-US" sz="3700" dirty="0">
                <a:solidFill>
                  <a:srgbClr val="FFFFFF"/>
                </a:solidFill>
                <a:latin typeface="Fraunces Medium" pitchFamily="34" charset="0"/>
                <a:ea typeface="Fraunces Medium" pitchFamily="34" charset="-122"/>
                <a:cs typeface="Fraunces Medium" pitchFamily="34" charset="-120"/>
              </a:rPr>
              <a:t>Core Learning Targets &amp; Objectives</a:t>
            </a:r>
            <a:endParaRPr lang="en-US" sz="3700" dirty="0"/>
          </a:p>
        </p:txBody>
      </p:sp>
      <p:sp>
        <p:nvSpPr>
          <p:cNvPr id="4" name="Text 1"/>
          <p:cNvSpPr/>
          <p:nvPr/>
        </p:nvSpPr>
        <p:spPr>
          <a:xfrm>
            <a:off x="661475" y="2827734"/>
            <a:ext cx="6296860" cy="295275"/>
          </a:xfrm>
          <a:prstGeom prst="rect">
            <a:avLst/>
          </a:prstGeom>
          <a:noFill/>
          <a:ln/>
        </p:spPr>
        <p:txBody>
          <a:bodyPr wrap="none" lIns="0" tIns="0" rIns="0" bIns="0" rtlCol="0" anchor="t"/>
          <a:lstStyle/>
          <a:p>
            <a:pPr marL="0" indent="0" algn="l">
              <a:lnSpc>
                <a:spcPct val="104000"/>
              </a:lnSpc>
              <a:buNone/>
            </a:pPr>
            <a:r>
              <a:rPr lang="en-US" sz="1850" dirty="0">
                <a:solidFill>
                  <a:srgbClr val="FFFFFF"/>
                </a:solidFill>
                <a:latin typeface="Fraunces Medium" pitchFamily="34" charset="0"/>
                <a:ea typeface="Fraunces Medium" pitchFamily="34" charset="-122"/>
                <a:cs typeface="Fraunces Medium" pitchFamily="34" charset="-120"/>
              </a:rPr>
              <a:t>Primary Learning Targets</a:t>
            </a:r>
            <a:endParaRPr lang="en-US" sz="1850" dirty="0"/>
          </a:p>
        </p:txBody>
      </p:sp>
      <p:sp>
        <p:nvSpPr>
          <p:cNvPr id="5" name="Text 2"/>
          <p:cNvSpPr/>
          <p:nvPr/>
        </p:nvSpPr>
        <p:spPr>
          <a:xfrm>
            <a:off x="661475" y="3406477"/>
            <a:ext cx="6296860" cy="1880592"/>
          </a:xfrm>
          <a:prstGeom prst="rect">
            <a:avLst/>
          </a:prstGeom>
          <a:noFill/>
          <a:ln/>
        </p:spPr>
        <p:txBody>
          <a:bodyPr wrap="square" lIns="0" tIns="0" rIns="0" bIns="0" rtlCol="0" anchor="t">
            <a:normAutofit/>
          </a:bodyPr>
          <a:lstStyle/>
          <a:p>
            <a:pPr marL="294640" indent="-294640" algn="l">
              <a:lnSpc>
                <a:spcPct val="133000"/>
              </a:lnSpc>
              <a:buSzPct val="100000"/>
              <a:buFont typeface="+mj-lt"/>
              <a:buAutoNum type="arabicPeriod"/>
            </a:pPr>
            <a:r>
              <a:rPr lang="en-US" sz="1450" b="1" dirty="0">
                <a:solidFill>
                  <a:srgbClr val="EBECEF"/>
                </a:solidFill>
                <a:latin typeface="Epilogue Bold" pitchFamily="34" charset="0"/>
                <a:ea typeface="Epilogue Bold" pitchFamily="34" charset="-122"/>
                <a:cs typeface="Epilogue Bold" pitchFamily="34" charset="-120"/>
              </a:rPr>
              <a:t>Define Intentional Handling:</a:t>
            </a:r>
            <a:r>
              <a:rPr lang="en-US" sz="1450" dirty="0">
                <a:solidFill>
                  <a:srgbClr val="EBECEF"/>
                </a:solidFill>
                <a:latin typeface="Epilogue" pitchFamily="34" charset="0"/>
                <a:ea typeface="Epilogue" pitchFamily="34" charset="-122"/>
                <a:cs typeface="Epilogue" pitchFamily="34" charset="-120"/>
              </a:rPr>
              <a:t> Establish clear, precise criteria for the proper physical handling, operational management, and lifecycle safety of hand-held and wearable infrastructure.</a:t>
            </a:r>
            <a:endParaRPr lang="en-US" sz="1450" dirty="0"/>
          </a:p>
          <a:p>
            <a:pPr marL="294640" indent="-294640" algn="l">
              <a:lnSpc>
                <a:spcPct val="133000"/>
              </a:lnSpc>
              <a:buSzPct val="100000"/>
              <a:buFont typeface="+mj-lt"/>
              <a:buAutoNum type="arabicPeriod" startAt="2"/>
            </a:pPr>
            <a:r>
              <a:rPr lang="en-US" sz="1450" b="1" dirty="0">
                <a:solidFill>
                  <a:srgbClr val="EBECEF"/>
                </a:solidFill>
                <a:latin typeface="Epilogue Bold" pitchFamily="34" charset="0"/>
                <a:ea typeface="Epilogue Bold" pitchFamily="34" charset="-122"/>
                <a:cs typeface="Epilogue Bold" pitchFamily="34" charset="-120"/>
              </a:rPr>
              <a:t>Taxonomical Classification:</a:t>
            </a:r>
            <a:r>
              <a:rPr lang="en-US" sz="1450" dirty="0">
                <a:solidFill>
                  <a:srgbClr val="EBECEF"/>
                </a:solidFill>
                <a:latin typeface="Epilogue" pitchFamily="34" charset="0"/>
                <a:ea typeface="Epilogue" pitchFamily="34" charset="-122"/>
                <a:cs typeface="Epilogue" pitchFamily="34" charset="-120"/>
              </a:rPr>
              <a:t> Analyze, differentiate, and categorize the multi-faceted ecosystems powering modern handheld systems and wearable biological devices.</a:t>
            </a:r>
            <a:endParaRPr lang="en-US" sz="1450" dirty="0"/>
          </a:p>
        </p:txBody>
      </p:sp>
    </p:spTree>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4571886" cy="6858000"/>
          </a:xfrm>
          <a:prstGeom prst="rect">
            <a:avLst/>
          </a:prstGeom>
        </p:spPr>
      </p:pic>
      <p:sp>
        <p:nvSpPr>
          <p:cNvPr id="3" name="Text 0"/>
          <p:cNvSpPr/>
          <p:nvPr/>
        </p:nvSpPr>
        <p:spPr>
          <a:xfrm>
            <a:off x="5233360" y="575866"/>
            <a:ext cx="6296860" cy="957064"/>
          </a:xfrm>
          <a:prstGeom prst="rect">
            <a:avLst/>
          </a:prstGeom>
          <a:noFill/>
          <a:ln/>
        </p:spPr>
        <p:txBody>
          <a:bodyPr wrap="square" lIns="0" tIns="0" rIns="0" bIns="0" rtlCol="0" anchor="t">
            <a:normAutofit/>
          </a:bodyPr>
          <a:lstStyle/>
          <a:p>
            <a:pPr marL="0" indent="0" algn="l">
              <a:lnSpc>
                <a:spcPct val="104000"/>
              </a:lnSpc>
              <a:buNone/>
            </a:pPr>
            <a:r>
              <a:rPr lang="en-US" sz="3000" dirty="0">
                <a:solidFill>
                  <a:srgbClr val="FFFFFF"/>
                </a:solidFill>
                <a:latin typeface="Fraunces Medium" pitchFamily="34" charset="0"/>
                <a:ea typeface="Fraunces Medium" pitchFamily="34" charset="-122"/>
                <a:cs typeface="Fraunces Medium" pitchFamily="34" charset="-120"/>
              </a:rPr>
              <a:t>Introduction to Technological Devices</a:t>
            </a:r>
            <a:endParaRPr lang="en-US" sz="3000" dirty="0"/>
          </a:p>
        </p:txBody>
      </p:sp>
      <p:sp>
        <p:nvSpPr>
          <p:cNvPr id="4" name="Text 1"/>
          <p:cNvSpPr/>
          <p:nvPr/>
        </p:nvSpPr>
        <p:spPr>
          <a:xfrm>
            <a:off x="5233360" y="1582539"/>
            <a:ext cx="6296860" cy="239216"/>
          </a:xfrm>
          <a:prstGeom prst="rect">
            <a:avLst/>
          </a:prstGeom>
          <a:noFill/>
          <a:ln/>
        </p:spPr>
        <p:txBody>
          <a:bodyPr wrap="none" lIns="0" tIns="0" rIns="0" bIns="0" rtlCol="0" anchor="t"/>
          <a:lstStyle/>
          <a:p>
            <a:pPr marL="0" indent="0" algn="l">
              <a:lnSpc>
                <a:spcPct val="104000"/>
              </a:lnSpc>
              <a:buNone/>
            </a:pPr>
            <a:r>
              <a:rPr lang="en-US" sz="1500" dirty="0">
                <a:solidFill>
                  <a:srgbClr val="FFFFFF"/>
                </a:solidFill>
                <a:latin typeface="Fraunces Medium" pitchFamily="34" charset="0"/>
                <a:ea typeface="Fraunces Medium" pitchFamily="34" charset="-122"/>
                <a:cs typeface="Fraunces Medium" pitchFamily="34" charset="-120"/>
              </a:rPr>
              <a:t>The Unified Definition</a:t>
            </a:r>
            <a:endParaRPr lang="en-US" sz="1500" dirty="0"/>
          </a:p>
        </p:txBody>
      </p:sp>
      <p:sp>
        <p:nvSpPr>
          <p:cNvPr id="5" name="Shape 2"/>
          <p:cNvSpPr/>
          <p:nvPr/>
        </p:nvSpPr>
        <p:spPr>
          <a:xfrm>
            <a:off x="5233360" y="2007791"/>
            <a:ext cx="19050" cy="1165523"/>
          </a:xfrm>
          <a:prstGeom prst="roundRect">
            <a:avLst>
              <a:gd name="adj" fmla="val 59999"/>
            </a:avLst>
          </a:prstGeom>
          <a:solidFill>
            <a:srgbClr val="8C98CA"/>
          </a:solidFill>
          <a:ln/>
        </p:spPr>
      </p:sp>
      <p:sp>
        <p:nvSpPr>
          <p:cNvPr id="6" name="Text 3"/>
          <p:cNvSpPr/>
          <p:nvPr/>
        </p:nvSpPr>
        <p:spPr>
          <a:xfrm>
            <a:off x="5463046" y="2147292"/>
            <a:ext cx="6067174" cy="886619"/>
          </a:xfrm>
          <a:prstGeom prst="rect">
            <a:avLst/>
          </a:prstGeom>
          <a:noFill/>
          <a:ln/>
        </p:spPr>
        <p:txBody>
          <a:bodyPr wrap="square" lIns="0" tIns="0" rIns="0" bIns="0" rtlCol="0" anchor="t">
            <a:normAutofit/>
          </a:bodyPr>
          <a:lstStyle/>
          <a:p>
            <a:pPr marL="0" indent="0" algn="l">
              <a:lnSpc>
                <a:spcPct val="121000"/>
              </a:lnSpc>
              <a:buNone/>
            </a:pPr>
            <a:r>
              <a:rPr lang="en-US" sz="1200" dirty="0">
                <a:solidFill>
                  <a:srgbClr val="EBECEF"/>
                </a:solidFill>
                <a:latin typeface="Epilogue" pitchFamily="34" charset="0"/>
                <a:ea typeface="Epilogue" pitchFamily="34" charset="-122"/>
                <a:cs typeface="Epilogue" pitchFamily="34" charset="-120"/>
              </a:rPr>
              <a:t>"A technological device encompasses any computing system, cellular phone, smartphone, digital camera, video camera, audio recording instrument, or specialized electronic architecture engineered to create, store, securely isolate, or transmit information in the form of electronic data."</a:t>
            </a:r>
            <a:endParaRPr lang="en-US" sz="1200" dirty="0"/>
          </a:p>
        </p:txBody>
      </p:sp>
      <p:sp>
        <p:nvSpPr>
          <p:cNvPr id="7" name="Text 4"/>
          <p:cNvSpPr/>
          <p:nvPr/>
        </p:nvSpPr>
        <p:spPr>
          <a:xfrm>
            <a:off x="5233360" y="3359448"/>
            <a:ext cx="6296860" cy="239216"/>
          </a:xfrm>
          <a:prstGeom prst="rect">
            <a:avLst/>
          </a:prstGeom>
          <a:noFill/>
          <a:ln/>
        </p:spPr>
        <p:txBody>
          <a:bodyPr wrap="none" lIns="0" tIns="0" rIns="0" bIns="0" rtlCol="0" anchor="t"/>
          <a:lstStyle/>
          <a:p>
            <a:pPr marL="0" indent="0" algn="l">
              <a:lnSpc>
                <a:spcPct val="104000"/>
              </a:lnSpc>
              <a:buNone/>
            </a:pPr>
            <a:r>
              <a:rPr lang="en-US" sz="1500" dirty="0">
                <a:solidFill>
                  <a:srgbClr val="FFFFFF"/>
                </a:solidFill>
                <a:latin typeface="Fraunces Medium" pitchFamily="34" charset="0"/>
                <a:ea typeface="Fraunces Medium" pitchFamily="34" charset="-122"/>
                <a:cs typeface="Fraunces Medium" pitchFamily="34" charset="-120"/>
              </a:rPr>
              <a:t>Key Capabilities &amp; Functional Core</a:t>
            </a:r>
            <a:endParaRPr lang="en-US" sz="1500" dirty="0"/>
          </a:p>
        </p:txBody>
      </p:sp>
      <p:sp>
        <p:nvSpPr>
          <p:cNvPr id="8" name="Shape 5"/>
          <p:cNvSpPr/>
          <p:nvPr/>
        </p:nvSpPr>
        <p:spPr>
          <a:xfrm>
            <a:off x="5233360" y="3784699"/>
            <a:ext cx="3086420" cy="1519138"/>
          </a:xfrm>
          <a:prstGeom prst="roundRect">
            <a:avLst>
              <a:gd name="adj" fmla="val 4234"/>
            </a:avLst>
          </a:prstGeom>
          <a:solidFill>
            <a:srgbClr val="283157"/>
          </a:solidFill>
          <a:ln w="6350">
            <a:solidFill>
              <a:srgbClr val="414A70"/>
            </a:solidFill>
            <a:prstDash val="solid"/>
          </a:ln>
        </p:spPr>
      </p:sp>
      <p:sp>
        <p:nvSpPr>
          <p:cNvPr id="9" name="Text 6"/>
          <p:cNvSpPr/>
          <p:nvPr/>
        </p:nvSpPr>
        <p:spPr>
          <a:xfrm>
            <a:off x="5392801" y="3944144"/>
            <a:ext cx="2767539" cy="239216"/>
          </a:xfrm>
          <a:prstGeom prst="rect">
            <a:avLst/>
          </a:prstGeom>
          <a:noFill/>
          <a:ln/>
        </p:spPr>
        <p:txBody>
          <a:bodyPr wrap="none" lIns="0" tIns="0" rIns="0" bIns="0" rtlCol="0" anchor="t"/>
          <a:lstStyle/>
          <a:p>
            <a:pPr marL="0" indent="0" algn="l">
              <a:lnSpc>
                <a:spcPct val="104000"/>
              </a:lnSpc>
              <a:buNone/>
            </a:pPr>
            <a:r>
              <a:rPr lang="en-US" sz="1500" dirty="0">
                <a:solidFill>
                  <a:srgbClr val="EBECEF"/>
                </a:solidFill>
                <a:latin typeface="Fraunces Medium" pitchFamily="34" charset="0"/>
                <a:ea typeface="Fraunces Medium" pitchFamily="34" charset="-122"/>
                <a:cs typeface="Fraunces Medium" pitchFamily="34" charset="-120"/>
              </a:rPr>
              <a:t>Creation</a:t>
            </a:r>
            <a:endParaRPr lang="en-US" sz="1500" dirty="0"/>
          </a:p>
        </p:txBody>
      </p:sp>
      <p:sp>
        <p:nvSpPr>
          <p:cNvPr id="10" name="Text 7"/>
          <p:cNvSpPr/>
          <p:nvPr/>
        </p:nvSpPr>
        <p:spPr>
          <a:xfrm>
            <a:off x="5392801" y="4257774"/>
            <a:ext cx="2767539" cy="886619"/>
          </a:xfrm>
          <a:prstGeom prst="rect">
            <a:avLst/>
          </a:prstGeom>
          <a:noFill/>
          <a:ln/>
        </p:spPr>
        <p:txBody>
          <a:bodyPr wrap="square" lIns="0" tIns="0" rIns="0" bIns="0" rtlCol="0" anchor="t">
            <a:normAutofit/>
          </a:bodyPr>
          <a:lstStyle/>
          <a:p>
            <a:pPr marL="0" indent="0" algn="l">
              <a:lnSpc>
                <a:spcPct val="121000"/>
              </a:lnSpc>
              <a:buNone/>
            </a:pPr>
            <a:r>
              <a:rPr lang="en-US" sz="1200" dirty="0">
                <a:solidFill>
                  <a:srgbClr val="EBECEF"/>
                </a:solidFill>
                <a:latin typeface="Epilogue" pitchFamily="34" charset="0"/>
                <a:ea typeface="Epilogue" pitchFamily="34" charset="-122"/>
                <a:cs typeface="Epilogue" pitchFamily="34" charset="-120"/>
              </a:rPr>
              <a:t>Capturing raw real-world inputs (media, audio, biosignals) and converting them into structured digital metrics.</a:t>
            </a:r>
            <a:endParaRPr lang="en-US" sz="1200" dirty="0"/>
          </a:p>
        </p:txBody>
      </p:sp>
      <p:sp>
        <p:nvSpPr>
          <p:cNvPr id="11" name="Shape 8"/>
          <p:cNvSpPr/>
          <p:nvPr/>
        </p:nvSpPr>
        <p:spPr>
          <a:xfrm>
            <a:off x="8443800" y="3784699"/>
            <a:ext cx="3086420" cy="1519138"/>
          </a:xfrm>
          <a:prstGeom prst="roundRect">
            <a:avLst>
              <a:gd name="adj" fmla="val 4234"/>
            </a:avLst>
          </a:prstGeom>
          <a:solidFill>
            <a:srgbClr val="283157"/>
          </a:solidFill>
          <a:ln w="6350">
            <a:solidFill>
              <a:srgbClr val="414A70"/>
            </a:solidFill>
            <a:prstDash val="solid"/>
          </a:ln>
        </p:spPr>
      </p:sp>
      <p:sp>
        <p:nvSpPr>
          <p:cNvPr id="12" name="Text 9"/>
          <p:cNvSpPr/>
          <p:nvPr/>
        </p:nvSpPr>
        <p:spPr>
          <a:xfrm>
            <a:off x="8603241" y="3944144"/>
            <a:ext cx="2767539" cy="239216"/>
          </a:xfrm>
          <a:prstGeom prst="rect">
            <a:avLst/>
          </a:prstGeom>
          <a:noFill/>
          <a:ln/>
        </p:spPr>
        <p:txBody>
          <a:bodyPr wrap="none" lIns="0" tIns="0" rIns="0" bIns="0" rtlCol="0" anchor="t"/>
          <a:lstStyle/>
          <a:p>
            <a:pPr marL="0" indent="0" algn="l">
              <a:lnSpc>
                <a:spcPct val="104000"/>
              </a:lnSpc>
              <a:buNone/>
            </a:pPr>
            <a:r>
              <a:rPr lang="en-US" sz="1500" dirty="0">
                <a:solidFill>
                  <a:srgbClr val="EBECEF"/>
                </a:solidFill>
                <a:latin typeface="Fraunces Medium" pitchFamily="34" charset="0"/>
                <a:ea typeface="Fraunces Medium" pitchFamily="34" charset="-122"/>
                <a:cs typeface="Fraunces Medium" pitchFamily="34" charset="-120"/>
              </a:rPr>
              <a:t>Storage</a:t>
            </a:r>
            <a:endParaRPr lang="en-US" sz="1500" dirty="0"/>
          </a:p>
        </p:txBody>
      </p:sp>
      <p:sp>
        <p:nvSpPr>
          <p:cNvPr id="13" name="Text 10"/>
          <p:cNvSpPr/>
          <p:nvPr/>
        </p:nvSpPr>
        <p:spPr>
          <a:xfrm>
            <a:off x="8603241" y="4257774"/>
            <a:ext cx="2767539" cy="664964"/>
          </a:xfrm>
          <a:prstGeom prst="rect">
            <a:avLst/>
          </a:prstGeom>
          <a:noFill/>
          <a:ln/>
        </p:spPr>
        <p:txBody>
          <a:bodyPr wrap="square" lIns="0" tIns="0" rIns="0" bIns="0" rtlCol="0" anchor="t">
            <a:normAutofit/>
          </a:bodyPr>
          <a:lstStyle/>
          <a:p>
            <a:pPr marL="0" indent="0" algn="l">
              <a:lnSpc>
                <a:spcPct val="121000"/>
              </a:lnSpc>
              <a:buNone/>
            </a:pPr>
            <a:r>
              <a:rPr lang="en-US" sz="1200" dirty="0">
                <a:solidFill>
                  <a:srgbClr val="EBECEF"/>
                </a:solidFill>
                <a:latin typeface="Epilogue" pitchFamily="34" charset="0"/>
                <a:ea typeface="Epilogue" pitchFamily="34" charset="-122"/>
                <a:cs typeface="Epilogue" pitchFamily="34" charset="-120"/>
              </a:rPr>
              <a:t>Locally retaining transactional, operational, and user telemetry data.</a:t>
            </a:r>
            <a:endParaRPr lang="en-US" sz="1200" dirty="0"/>
          </a:p>
        </p:txBody>
      </p:sp>
      <p:sp>
        <p:nvSpPr>
          <p:cNvPr id="14" name="Shape 11"/>
          <p:cNvSpPr/>
          <p:nvPr/>
        </p:nvSpPr>
        <p:spPr>
          <a:xfrm>
            <a:off x="5233360" y="5427861"/>
            <a:ext cx="6296860" cy="854174"/>
          </a:xfrm>
          <a:prstGeom prst="roundRect">
            <a:avLst>
              <a:gd name="adj" fmla="val 7530"/>
            </a:avLst>
          </a:prstGeom>
          <a:solidFill>
            <a:srgbClr val="283157"/>
          </a:solidFill>
          <a:ln w="6350">
            <a:solidFill>
              <a:srgbClr val="414A70"/>
            </a:solidFill>
            <a:prstDash val="solid"/>
          </a:ln>
        </p:spPr>
      </p:sp>
      <p:sp>
        <p:nvSpPr>
          <p:cNvPr id="15" name="Text 12"/>
          <p:cNvSpPr/>
          <p:nvPr/>
        </p:nvSpPr>
        <p:spPr>
          <a:xfrm>
            <a:off x="5392801" y="5587305"/>
            <a:ext cx="5977979" cy="239216"/>
          </a:xfrm>
          <a:prstGeom prst="rect">
            <a:avLst/>
          </a:prstGeom>
          <a:noFill/>
          <a:ln/>
        </p:spPr>
        <p:txBody>
          <a:bodyPr wrap="none" lIns="0" tIns="0" rIns="0" bIns="0" rtlCol="0" anchor="t"/>
          <a:lstStyle/>
          <a:p>
            <a:pPr marL="0" indent="0" algn="l">
              <a:lnSpc>
                <a:spcPct val="104000"/>
              </a:lnSpc>
              <a:buNone/>
            </a:pPr>
            <a:r>
              <a:rPr lang="en-US" sz="1500" dirty="0">
                <a:solidFill>
                  <a:srgbClr val="EBECEF"/>
                </a:solidFill>
                <a:latin typeface="Fraunces Medium" pitchFamily="34" charset="0"/>
                <a:ea typeface="Fraunces Medium" pitchFamily="34" charset="-122"/>
                <a:cs typeface="Fraunces Medium" pitchFamily="34" charset="-120"/>
              </a:rPr>
              <a:t>Transmission</a:t>
            </a:r>
            <a:endParaRPr lang="en-US" sz="1500" dirty="0"/>
          </a:p>
        </p:txBody>
      </p:sp>
      <p:sp>
        <p:nvSpPr>
          <p:cNvPr id="16" name="Text 13"/>
          <p:cNvSpPr/>
          <p:nvPr/>
        </p:nvSpPr>
        <p:spPr>
          <a:xfrm>
            <a:off x="5392801" y="5900936"/>
            <a:ext cx="5977979" cy="221655"/>
          </a:xfrm>
          <a:prstGeom prst="rect">
            <a:avLst/>
          </a:prstGeom>
          <a:noFill/>
          <a:ln/>
        </p:spPr>
        <p:txBody>
          <a:bodyPr wrap="none" lIns="0" tIns="0" rIns="0" bIns="0" rtlCol="0" anchor="t"/>
          <a:lstStyle/>
          <a:p>
            <a:pPr marL="0" indent="0" algn="l">
              <a:lnSpc>
                <a:spcPct val="121000"/>
              </a:lnSpc>
              <a:buNone/>
            </a:pPr>
            <a:r>
              <a:rPr lang="en-US" sz="1200" dirty="0">
                <a:solidFill>
                  <a:srgbClr val="EBECEF"/>
                </a:solidFill>
                <a:latin typeface="Epilogue" pitchFamily="34" charset="0"/>
                <a:ea typeface="Epilogue" pitchFamily="34" charset="-122"/>
                <a:cs typeface="Epilogue" pitchFamily="34" charset="-120"/>
              </a:rPr>
              <a:t>Moving payloads seamlessly across distributed computing networks.</a:t>
            </a:r>
            <a:endParaRPr lang="en-US" sz="1200" dirty="0"/>
          </a:p>
        </p:txBody>
      </p:sp>
    </p:spTree>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619809" y="0"/>
            <a:ext cx="4571886" cy="6858000"/>
          </a:xfrm>
          <a:prstGeom prst="rect">
            <a:avLst/>
          </a:prstGeom>
        </p:spPr>
      </p:pic>
      <p:sp>
        <p:nvSpPr>
          <p:cNvPr id="3" name="Text 0"/>
          <p:cNvSpPr/>
          <p:nvPr/>
        </p:nvSpPr>
        <p:spPr>
          <a:xfrm>
            <a:off x="661475" y="603945"/>
            <a:ext cx="6296860" cy="944959"/>
          </a:xfrm>
          <a:prstGeom prst="rect">
            <a:avLst/>
          </a:prstGeom>
          <a:noFill/>
          <a:ln/>
        </p:spPr>
        <p:txBody>
          <a:bodyPr wrap="square" lIns="0" tIns="0" rIns="0" bIns="0" rtlCol="0" anchor="t">
            <a:normAutofit/>
          </a:bodyPr>
          <a:lstStyle/>
          <a:p>
            <a:pPr marL="0" indent="0" algn="l">
              <a:lnSpc>
                <a:spcPct val="104000"/>
              </a:lnSpc>
              <a:buNone/>
            </a:pPr>
            <a:r>
              <a:rPr lang="en-US" sz="2950" dirty="0">
                <a:solidFill>
                  <a:srgbClr val="FFFFFF"/>
                </a:solidFill>
                <a:latin typeface="Fraunces Medium" pitchFamily="34" charset="0"/>
                <a:ea typeface="Fraunces Medium" pitchFamily="34" charset="-122"/>
                <a:cs typeface="Fraunces Medium" pitchFamily="34" charset="-120"/>
              </a:rPr>
              <a:t>Anatomy of Handheld &amp; Mobile Devices</a:t>
            </a:r>
            <a:endParaRPr lang="en-US" sz="2950" dirty="0"/>
          </a:p>
        </p:txBody>
      </p:sp>
      <p:sp>
        <p:nvSpPr>
          <p:cNvPr id="4" name="Text 1"/>
          <p:cNvSpPr/>
          <p:nvPr/>
        </p:nvSpPr>
        <p:spPr>
          <a:xfrm>
            <a:off x="661475" y="1851223"/>
            <a:ext cx="2963987" cy="236240"/>
          </a:xfrm>
          <a:prstGeom prst="rect">
            <a:avLst/>
          </a:prstGeom>
          <a:noFill/>
          <a:ln/>
        </p:spPr>
        <p:txBody>
          <a:bodyPr wrap="none" lIns="0" tIns="0" rIns="0" bIns="0" rtlCol="0" anchor="t"/>
          <a:lstStyle/>
          <a:p>
            <a:pPr marL="0" indent="0" algn="l">
              <a:lnSpc>
                <a:spcPct val="104000"/>
              </a:lnSpc>
              <a:buNone/>
            </a:pPr>
            <a:r>
              <a:rPr lang="en-US" sz="1450" dirty="0">
                <a:solidFill>
                  <a:srgbClr val="FFFFFF"/>
                </a:solidFill>
                <a:latin typeface="Fraunces Medium" pitchFamily="34" charset="0"/>
                <a:ea typeface="Fraunces Medium" pitchFamily="34" charset="-122"/>
                <a:cs typeface="Fraunces Medium" pitchFamily="34" charset="-120"/>
              </a:rPr>
              <a:t>Core Definition</a:t>
            </a:r>
            <a:endParaRPr lang="en-US" sz="1450" dirty="0"/>
          </a:p>
        </p:txBody>
      </p:sp>
      <p:sp>
        <p:nvSpPr>
          <p:cNvPr id="5" name="Text 2"/>
          <p:cNvSpPr/>
          <p:nvPr/>
        </p:nvSpPr>
        <p:spPr>
          <a:xfrm>
            <a:off x="661475" y="2208411"/>
            <a:ext cx="2963987" cy="870744"/>
          </a:xfrm>
          <a:prstGeom prst="rect">
            <a:avLst/>
          </a:prstGeom>
          <a:noFill/>
          <a:ln/>
        </p:spPr>
        <p:txBody>
          <a:bodyPr wrap="square" lIns="0" tIns="0" rIns="0" bIns="0" rtlCol="0" anchor="t">
            <a:normAutofit/>
          </a:bodyPr>
          <a:lstStyle/>
          <a:p>
            <a:pPr marL="0" indent="0" algn="l">
              <a:lnSpc>
                <a:spcPct val="120000"/>
              </a:lnSpc>
              <a:buNone/>
            </a:pPr>
            <a:r>
              <a:rPr lang="en-US" sz="1150" dirty="0">
                <a:solidFill>
                  <a:srgbClr val="EBECEF"/>
                </a:solidFill>
                <a:latin typeface="Epilogue" pitchFamily="34" charset="0"/>
                <a:ea typeface="Epilogue" pitchFamily="34" charset="-122"/>
                <a:cs typeface="Epilogue" pitchFamily="34" charset="-120"/>
              </a:rPr>
              <a:t>A computer or digital engine small enough to be sustained, operated, and manipulated completely within the palm of a human hand.</a:t>
            </a:r>
            <a:endParaRPr lang="en-US" sz="1150" dirty="0"/>
          </a:p>
        </p:txBody>
      </p:sp>
      <p:sp>
        <p:nvSpPr>
          <p:cNvPr id="6" name="Text 3"/>
          <p:cNvSpPr/>
          <p:nvPr/>
        </p:nvSpPr>
        <p:spPr>
          <a:xfrm>
            <a:off x="661475" y="3200102"/>
            <a:ext cx="2963987" cy="236240"/>
          </a:xfrm>
          <a:prstGeom prst="rect">
            <a:avLst/>
          </a:prstGeom>
          <a:noFill/>
          <a:ln/>
        </p:spPr>
        <p:txBody>
          <a:bodyPr wrap="none" lIns="0" tIns="0" rIns="0" bIns="0" rtlCol="0" anchor="t"/>
          <a:lstStyle/>
          <a:p>
            <a:pPr marL="0" indent="0" algn="l">
              <a:lnSpc>
                <a:spcPct val="104000"/>
              </a:lnSpc>
              <a:buNone/>
            </a:pPr>
            <a:r>
              <a:rPr lang="en-US" sz="1450" dirty="0">
                <a:solidFill>
                  <a:srgbClr val="FFFFFF"/>
                </a:solidFill>
                <a:latin typeface="Fraunces Medium" pitchFamily="34" charset="0"/>
                <a:ea typeface="Fraunces Medium" pitchFamily="34" charset="-122"/>
                <a:cs typeface="Fraunces Medium" pitchFamily="34" charset="-120"/>
              </a:rPr>
              <a:t>Essential Hardware Paradigm</a:t>
            </a:r>
            <a:endParaRPr lang="en-US" sz="1450" dirty="0"/>
          </a:p>
        </p:txBody>
      </p:sp>
      <p:sp>
        <p:nvSpPr>
          <p:cNvPr id="7" name="Text 4"/>
          <p:cNvSpPr/>
          <p:nvPr/>
        </p:nvSpPr>
        <p:spPr>
          <a:xfrm>
            <a:off x="661475" y="3557290"/>
            <a:ext cx="2963987" cy="2654498"/>
          </a:xfrm>
          <a:prstGeom prst="rect">
            <a:avLst/>
          </a:prstGeom>
          <a:noFill/>
          <a:ln/>
        </p:spPr>
        <p:txBody>
          <a:bodyPr wrap="square" lIns="0" tIns="0" rIns="0" bIns="0" rtlCol="0" anchor="t">
            <a:normAutofit/>
          </a:bodyPr>
          <a:lstStyle/>
          <a:p>
            <a:pPr marL="233680" indent="-233680" algn="l">
              <a:lnSpc>
                <a:spcPct val="120000"/>
              </a:lnSpc>
              <a:buSzPct val="100000"/>
              <a:buChar char="•"/>
            </a:pPr>
            <a:r>
              <a:rPr lang="en-US" sz="1150" b="1" dirty="0">
                <a:solidFill>
                  <a:srgbClr val="EBECEF"/>
                </a:solidFill>
                <a:latin typeface="Epilogue Bold" pitchFamily="34" charset="0"/>
                <a:ea typeface="Epilogue Bold" pitchFamily="34" charset="-122"/>
                <a:cs typeface="Epilogue Bold" pitchFamily="34" charset="-120"/>
              </a:rPr>
              <a:t>Display Systems:</a:t>
            </a:r>
            <a:r>
              <a:rPr lang="en-US" sz="1150" dirty="0">
                <a:solidFill>
                  <a:srgbClr val="EBECEF"/>
                </a:solidFill>
                <a:latin typeface="Epilogue" pitchFamily="34" charset="0"/>
                <a:ea typeface="Epilogue" pitchFamily="34" charset="-122"/>
                <a:cs typeface="Epilogue" pitchFamily="34" charset="-120"/>
              </a:rPr>
              <a:t> High-definition flat-screen visual interfaces powered strictly by modern Liquid Crystal Display (LCD) or Organic Light-Emitting Diode (OLED) frameworks.</a:t>
            </a:r>
            <a:endParaRPr lang="en-US" sz="1150" dirty="0"/>
          </a:p>
          <a:p>
            <a:pPr marL="233680" indent="-233680" algn="l">
              <a:lnSpc>
                <a:spcPct val="120000"/>
              </a:lnSpc>
              <a:buSzPct val="100000"/>
              <a:buChar char="•"/>
            </a:pPr>
            <a:r>
              <a:rPr lang="en-US" sz="1150" b="1" dirty="0">
                <a:solidFill>
                  <a:srgbClr val="EBECEF"/>
                </a:solidFill>
                <a:latin typeface="Epilogue Bold" pitchFamily="34" charset="0"/>
                <a:ea typeface="Epilogue Bold" pitchFamily="34" charset="-122"/>
                <a:cs typeface="Epilogue Bold" pitchFamily="34" charset="-120"/>
              </a:rPr>
              <a:t>Input Interfaces:</a:t>
            </a:r>
            <a:r>
              <a:rPr lang="en-US" sz="1150" dirty="0">
                <a:solidFill>
                  <a:srgbClr val="EBECEF"/>
                </a:solidFill>
                <a:latin typeface="Epilogue" pitchFamily="34" charset="0"/>
                <a:ea typeface="Epilogue" pitchFamily="34" charset="-122"/>
                <a:cs typeface="Epilogue" pitchFamily="34" charset="-120"/>
              </a:rPr>
              <a:t> Dual-modality interaction design—combining high-fidelity tactile/digital touchscreens with specialized physical keypads, or integrated virtual alphanumeric matrices.</a:t>
            </a:r>
            <a:endParaRPr lang="en-US" sz="1150" dirty="0"/>
          </a:p>
        </p:txBody>
      </p:sp>
      <p:sp>
        <p:nvSpPr>
          <p:cNvPr id="8" name="Shape 5"/>
          <p:cNvSpPr/>
          <p:nvPr/>
        </p:nvSpPr>
        <p:spPr>
          <a:xfrm>
            <a:off x="3891857" y="1730276"/>
            <a:ext cx="3181667" cy="4523780"/>
          </a:xfrm>
          <a:prstGeom prst="roundRect">
            <a:avLst>
              <a:gd name="adj" fmla="val 3422"/>
            </a:avLst>
          </a:prstGeom>
          <a:solidFill>
            <a:srgbClr val="8C98CA"/>
          </a:solidFill>
          <a:ln/>
        </p:spPr>
      </p:sp>
      <p:sp>
        <p:nvSpPr>
          <p:cNvPr id="9" name="Text 6"/>
          <p:cNvSpPr/>
          <p:nvPr/>
        </p:nvSpPr>
        <p:spPr>
          <a:xfrm>
            <a:off x="4043063" y="1851223"/>
            <a:ext cx="2879256" cy="472480"/>
          </a:xfrm>
          <a:prstGeom prst="rect">
            <a:avLst/>
          </a:prstGeom>
          <a:noFill/>
          <a:ln/>
        </p:spPr>
        <p:txBody>
          <a:bodyPr wrap="square" lIns="0" tIns="0" rIns="0" bIns="0" rtlCol="0" anchor="t">
            <a:normAutofit/>
          </a:bodyPr>
          <a:lstStyle/>
          <a:p>
            <a:pPr marL="0" indent="0" algn="l">
              <a:lnSpc>
                <a:spcPct val="104000"/>
              </a:lnSpc>
              <a:buNone/>
            </a:pPr>
            <a:r>
              <a:rPr lang="en-US" sz="1450" dirty="0">
                <a:solidFill>
                  <a:srgbClr val="000000"/>
                </a:solidFill>
                <a:latin typeface="Fraunces Medium" pitchFamily="34" charset="0"/>
                <a:ea typeface="Fraunces Medium" pitchFamily="34" charset="-122"/>
                <a:cs typeface="Fraunces Medium" pitchFamily="34" charset="-120"/>
              </a:rPr>
              <a:t>Ubiquitous Connectivity Framework</a:t>
            </a:r>
            <a:endParaRPr lang="en-US" sz="1450" dirty="0"/>
          </a:p>
        </p:txBody>
      </p:sp>
      <p:sp>
        <p:nvSpPr>
          <p:cNvPr id="10" name="Text 7"/>
          <p:cNvSpPr/>
          <p:nvPr/>
        </p:nvSpPr>
        <p:spPr>
          <a:xfrm>
            <a:off x="4043063" y="2444651"/>
            <a:ext cx="2879256" cy="1306116"/>
          </a:xfrm>
          <a:prstGeom prst="rect">
            <a:avLst/>
          </a:prstGeom>
          <a:noFill/>
          <a:ln/>
        </p:spPr>
        <p:txBody>
          <a:bodyPr wrap="square" lIns="0" tIns="0" rIns="0" bIns="0" rtlCol="0" anchor="t">
            <a:normAutofit/>
          </a:bodyPr>
          <a:lstStyle/>
          <a:p>
            <a:pPr marL="0" indent="0" algn="l">
              <a:lnSpc>
                <a:spcPct val="120000"/>
              </a:lnSpc>
              <a:buNone/>
            </a:pPr>
            <a:r>
              <a:rPr lang="en-US" sz="1150" dirty="0">
                <a:solidFill>
                  <a:srgbClr val="000000"/>
                </a:solidFill>
                <a:latin typeface="Epilogue" pitchFamily="34" charset="0"/>
                <a:ea typeface="Epilogue" pitchFamily="34" charset="-122"/>
                <a:cs typeface="Epilogue" pitchFamily="34" charset="-120"/>
              </a:rPr>
              <a:t>Operates via persistent wireless arrays including Wi-Fi, Bluetooth protocols, high-speed cellular bands (3G to contemporary architectures), and Near-Field Communication (NFC) for short-range transactions.</a:t>
            </a:r>
            <a:endParaRPr lang="en-US" sz="1150" dirty="0"/>
          </a:p>
        </p:txBody>
      </p:sp>
    </p:spTree>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619809" y="0"/>
            <a:ext cx="4571886" cy="6858000"/>
          </a:xfrm>
          <a:prstGeom prst="rect">
            <a:avLst/>
          </a:prstGeom>
        </p:spPr>
      </p:pic>
      <p:pic>
        <p:nvPicPr>
          <p:cNvPr id="3" name="Image 1" descr="preencoded.png"/>
          <p:cNvPicPr>
            <a:picLocks noChangeAspect="1"/>
          </p:cNvPicPr>
          <p:nvPr/>
        </p:nvPicPr>
        <p:blipFill>
          <a:blip r:embed="rId4"/>
          <a:stretch>
            <a:fillRect/>
          </a:stretch>
        </p:blipFill>
        <p:spPr>
          <a:xfrm>
            <a:off x="8810405" y="603250"/>
            <a:ext cx="2190695" cy="5651500"/>
          </a:xfrm>
          <a:prstGeom prst="rect">
            <a:avLst/>
          </a:prstGeom>
        </p:spPr>
      </p:pic>
      <p:sp>
        <p:nvSpPr>
          <p:cNvPr id="4" name="Text 0"/>
          <p:cNvSpPr/>
          <p:nvPr/>
        </p:nvSpPr>
        <p:spPr>
          <a:xfrm>
            <a:off x="661475" y="693241"/>
            <a:ext cx="6296860" cy="944959"/>
          </a:xfrm>
          <a:prstGeom prst="rect">
            <a:avLst/>
          </a:prstGeom>
          <a:noFill/>
          <a:ln/>
        </p:spPr>
        <p:txBody>
          <a:bodyPr wrap="square" lIns="0" tIns="0" rIns="0" bIns="0" rtlCol="0" anchor="t">
            <a:normAutofit/>
          </a:bodyPr>
          <a:lstStyle/>
          <a:p>
            <a:pPr marL="0" indent="0" algn="l">
              <a:lnSpc>
                <a:spcPct val="104000"/>
              </a:lnSpc>
              <a:buNone/>
            </a:pPr>
            <a:r>
              <a:rPr lang="en-US" sz="2950" dirty="0">
                <a:solidFill>
                  <a:srgbClr val="FFFFFF"/>
                </a:solidFill>
                <a:latin typeface="Fraunces Medium" pitchFamily="34" charset="0"/>
                <a:ea typeface="Fraunces Medium" pitchFamily="34" charset="-122"/>
                <a:cs typeface="Fraunces Medium" pitchFamily="34" charset="-120"/>
              </a:rPr>
              <a:t>Historical Timeline: The Mobility Curve (1985–2009+)</a:t>
            </a:r>
            <a:endParaRPr lang="en-US" sz="2950" dirty="0"/>
          </a:p>
        </p:txBody>
      </p:sp>
      <p:sp>
        <p:nvSpPr>
          <p:cNvPr id="5" name="Shape 1"/>
          <p:cNvSpPr/>
          <p:nvPr/>
        </p:nvSpPr>
        <p:spPr>
          <a:xfrm>
            <a:off x="831532" y="1819573"/>
            <a:ext cx="19050" cy="4345186"/>
          </a:xfrm>
          <a:prstGeom prst="roundRect">
            <a:avLst>
              <a:gd name="adj" fmla="val 333387"/>
            </a:avLst>
          </a:prstGeom>
          <a:solidFill>
            <a:srgbClr val="414A70"/>
          </a:solidFill>
          <a:ln/>
        </p:spPr>
      </p:sp>
      <p:sp>
        <p:nvSpPr>
          <p:cNvPr id="6" name="Shape 2"/>
          <p:cNvSpPr/>
          <p:nvPr/>
        </p:nvSpPr>
        <p:spPr>
          <a:xfrm>
            <a:off x="982588" y="1980109"/>
            <a:ext cx="453617" cy="19050"/>
          </a:xfrm>
          <a:prstGeom prst="roundRect">
            <a:avLst>
              <a:gd name="adj" fmla="val 333387"/>
            </a:avLst>
          </a:prstGeom>
          <a:solidFill>
            <a:srgbClr val="414A70"/>
          </a:solidFill>
          <a:ln/>
        </p:spPr>
      </p:sp>
      <p:sp>
        <p:nvSpPr>
          <p:cNvPr id="7" name="Shape 3"/>
          <p:cNvSpPr/>
          <p:nvPr/>
        </p:nvSpPr>
        <p:spPr>
          <a:xfrm>
            <a:off x="661425" y="1819573"/>
            <a:ext cx="340213" cy="340221"/>
          </a:xfrm>
          <a:prstGeom prst="roundRect">
            <a:avLst>
              <a:gd name="adj" fmla="val 18668"/>
            </a:avLst>
          </a:prstGeom>
          <a:solidFill>
            <a:srgbClr val="283157"/>
          </a:solidFill>
          <a:ln w="6350">
            <a:solidFill>
              <a:srgbClr val="414A70"/>
            </a:solidFill>
            <a:prstDash val="solid"/>
          </a:ln>
        </p:spPr>
      </p:sp>
      <p:sp>
        <p:nvSpPr>
          <p:cNvPr id="8" name="Text 4"/>
          <p:cNvSpPr/>
          <p:nvPr/>
        </p:nvSpPr>
        <p:spPr>
          <a:xfrm>
            <a:off x="718078" y="1847900"/>
            <a:ext cx="226808" cy="283468"/>
          </a:xfrm>
          <a:prstGeom prst="rect">
            <a:avLst/>
          </a:prstGeom>
          <a:noFill/>
          <a:ln/>
        </p:spPr>
        <p:txBody>
          <a:bodyPr wrap="none" lIns="0" tIns="0" rIns="0" bIns="0" rtlCol="0" anchor="ctr"/>
          <a:lstStyle/>
          <a:p>
            <a:pPr marL="0" indent="0" algn="ctr">
              <a:lnSpc>
                <a:spcPct val="100000"/>
              </a:lnSpc>
              <a:buNone/>
            </a:pPr>
            <a:r>
              <a:rPr lang="en-US" sz="1750" dirty="0">
                <a:solidFill>
                  <a:srgbClr val="EBECEF"/>
                </a:solidFill>
                <a:latin typeface="Fraunces Medium" pitchFamily="34" charset="0"/>
                <a:ea typeface="Fraunces Medium" pitchFamily="34" charset="-122"/>
                <a:cs typeface="Fraunces Medium" pitchFamily="34" charset="-120"/>
              </a:rPr>
              <a:t>1</a:t>
            </a:r>
            <a:endParaRPr lang="en-US" sz="1750" dirty="0"/>
          </a:p>
        </p:txBody>
      </p:sp>
      <p:sp>
        <p:nvSpPr>
          <p:cNvPr id="9" name="Text 5"/>
          <p:cNvSpPr/>
          <p:nvPr/>
        </p:nvSpPr>
        <p:spPr>
          <a:xfrm>
            <a:off x="1587659" y="1871464"/>
            <a:ext cx="5370676" cy="236240"/>
          </a:xfrm>
          <a:prstGeom prst="rect">
            <a:avLst/>
          </a:prstGeom>
          <a:noFill/>
          <a:ln/>
        </p:spPr>
        <p:txBody>
          <a:bodyPr wrap="none" lIns="0" tIns="0" rIns="0" bIns="0" rtlCol="0" anchor="t"/>
          <a:lstStyle/>
          <a:p>
            <a:pPr marL="0" indent="0" algn="l">
              <a:lnSpc>
                <a:spcPct val="104000"/>
              </a:lnSpc>
              <a:buNone/>
            </a:pPr>
            <a:r>
              <a:rPr lang="en-US" sz="1450" dirty="0">
                <a:solidFill>
                  <a:srgbClr val="EBECEF"/>
                </a:solidFill>
                <a:latin typeface="Fraunces Medium" pitchFamily="34" charset="0"/>
                <a:ea typeface="Fraunces Medium" pitchFamily="34" charset="-122"/>
                <a:cs typeface="Fraunces Medium" pitchFamily="34" charset="-120"/>
              </a:rPr>
              <a:t>1985–1995: The Genesis of Portability</a:t>
            </a:r>
            <a:endParaRPr lang="en-US" sz="1450" dirty="0"/>
          </a:p>
        </p:txBody>
      </p:sp>
      <p:sp>
        <p:nvSpPr>
          <p:cNvPr id="10" name="Text 6"/>
          <p:cNvSpPr/>
          <p:nvPr/>
        </p:nvSpPr>
        <p:spPr>
          <a:xfrm>
            <a:off x="1587659" y="2180233"/>
            <a:ext cx="5370676" cy="435372"/>
          </a:xfrm>
          <a:prstGeom prst="rect">
            <a:avLst/>
          </a:prstGeom>
          <a:noFill/>
          <a:ln/>
        </p:spPr>
        <p:txBody>
          <a:bodyPr wrap="square" lIns="0" tIns="0" rIns="0" bIns="0" rtlCol="0" anchor="t">
            <a:normAutofit/>
          </a:bodyPr>
          <a:lstStyle/>
          <a:p>
            <a:pPr marL="0" indent="0" algn="l">
              <a:lnSpc>
                <a:spcPct val="120000"/>
              </a:lnSpc>
              <a:buNone/>
            </a:pPr>
            <a:r>
              <a:rPr lang="en-US" sz="1150" dirty="0">
                <a:solidFill>
                  <a:srgbClr val="EBECEF"/>
                </a:solidFill>
                <a:latin typeface="Epilogue" pitchFamily="34" charset="0"/>
                <a:ea typeface="Epilogue" pitchFamily="34" charset="-122"/>
                <a:cs typeface="Epilogue" pitchFamily="34" charset="-120"/>
              </a:rPr>
              <a:t>Early tactical voice transceivers; heavy emphasis on physical component size reduction and basic battery life engineering.</a:t>
            </a:r>
            <a:endParaRPr lang="en-US" sz="1150" dirty="0"/>
          </a:p>
        </p:txBody>
      </p:sp>
      <p:sp>
        <p:nvSpPr>
          <p:cNvPr id="11" name="Shape 7"/>
          <p:cNvSpPr/>
          <p:nvPr/>
        </p:nvSpPr>
        <p:spPr>
          <a:xfrm>
            <a:off x="982588" y="3018036"/>
            <a:ext cx="453617" cy="19050"/>
          </a:xfrm>
          <a:prstGeom prst="roundRect">
            <a:avLst>
              <a:gd name="adj" fmla="val 333387"/>
            </a:avLst>
          </a:prstGeom>
          <a:solidFill>
            <a:srgbClr val="414A70"/>
          </a:solidFill>
          <a:ln/>
        </p:spPr>
      </p:sp>
      <p:sp>
        <p:nvSpPr>
          <p:cNvPr id="12" name="Shape 8"/>
          <p:cNvSpPr/>
          <p:nvPr/>
        </p:nvSpPr>
        <p:spPr>
          <a:xfrm>
            <a:off x="661425" y="2857500"/>
            <a:ext cx="340213" cy="340221"/>
          </a:xfrm>
          <a:prstGeom prst="roundRect">
            <a:avLst>
              <a:gd name="adj" fmla="val 18668"/>
            </a:avLst>
          </a:prstGeom>
          <a:solidFill>
            <a:srgbClr val="283157"/>
          </a:solidFill>
          <a:ln w="6350">
            <a:solidFill>
              <a:srgbClr val="414A70"/>
            </a:solidFill>
            <a:prstDash val="solid"/>
          </a:ln>
        </p:spPr>
      </p:sp>
      <p:sp>
        <p:nvSpPr>
          <p:cNvPr id="13" name="Text 9"/>
          <p:cNvSpPr/>
          <p:nvPr/>
        </p:nvSpPr>
        <p:spPr>
          <a:xfrm>
            <a:off x="718078" y="2885827"/>
            <a:ext cx="226808" cy="283468"/>
          </a:xfrm>
          <a:prstGeom prst="rect">
            <a:avLst/>
          </a:prstGeom>
          <a:noFill/>
          <a:ln/>
        </p:spPr>
        <p:txBody>
          <a:bodyPr wrap="none" lIns="0" tIns="0" rIns="0" bIns="0" rtlCol="0" anchor="ctr"/>
          <a:lstStyle/>
          <a:p>
            <a:pPr marL="0" indent="0" algn="ctr">
              <a:lnSpc>
                <a:spcPct val="100000"/>
              </a:lnSpc>
              <a:buNone/>
            </a:pPr>
            <a:r>
              <a:rPr lang="en-US" sz="1750" dirty="0">
                <a:solidFill>
                  <a:srgbClr val="EBECEF"/>
                </a:solidFill>
                <a:latin typeface="Fraunces Medium" pitchFamily="34" charset="0"/>
                <a:ea typeface="Fraunces Medium" pitchFamily="34" charset="-122"/>
                <a:cs typeface="Fraunces Medium" pitchFamily="34" charset="-120"/>
              </a:rPr>
              <a:t>2</a:t>
            </a:r>
            <a:endParaRPr lang="en-US" sz="1750" dirty="0"/>
          </a:p>
        </p:txBody>
      </p:sp>
      <p:sp>
        <p:nvSpPr>
          <p:cNvPr id="14" name="Text 10"/>
          <p:cNvSpPr/>
          <p:nvPr/>
        </p:nvSpPr>
        <p:spPr>
          <a:xfrm>
            <a:off x="1587659" y="2909391"/>
            <a:ext cx="5370676" cy="236240"/>
          </a:xfrm>
          <a:prstGeom prst="rect">
            <a:avLst/>
          </a:prstGeom>
          <a:noFill/>
          <a:ln/>
        </p:spPr>
        <p:txBody>
          <a:bodyPr wrap="none" lIns="0" tIns="0" rIns="0" bIns="0" rtlCol="0" anchor="t"/>
          <a:lstStyle/>
          <a:p>
            <a:pPr marL="0" indent="0" algn="l">
              <a:lnSpc>
                <a:spcPct val="104000"/>
              </a:lnSpc>
              <a:buNone/>
            </a:pPr>
            <a:r>
              <a:rPr lang="en-US" sz="1450" dirty="0">
                <a:solidFill>
                  <a:srgbClr val="EBECEF"/>
                </a:solidFill>
                <a:latin typeface="Fraunces Medium" pitchFamily="34" charset="0"/>
                <a:ea typeface="Fraunces Medium" pitchFamily="34" charset="-122"/>
                <a:cs typeface="Fraunces Medium" pitchFamily="34" charset="-120"/>
              </a:rPr>
              <a:t>2000: The Convergence Threshold</a:t>
            </a:r>
            <a:endParaRPr lang="en-US" sz="1450" dirty="0"/>
          </a:p>
        </p:txBody>
      </p:sp>
      <p:sp>
        <p:nvSpPr>
          <p:cNvPr id="15" name="Text 11"/>
          <p:cNvSpPr/>
          <p:nvPr/>
        </p:nvSpPr>
        <p:spPr>
          <a:xfrm>
            <a:off x="1587659" y="3218160"/>
            <a:ext cx="5370676" cy="653058"/>
          </a:xfrm>
          <a:prstGeom prst="rect">
            <a:avLst/>
          </a:prstGeom>
          <a:noFill/>
          <a:ln/>
        </p:spPr>
        <p:txBody>
          <a:bodyPr wrap="square" lIns="0" tIns="0" rIns="0" bIns="0" rtlCol="0" anchor="t">
            <a:normAutofit/>
          </a:bodyPr>
          <a:lstStyle/>
          <a:p>
            <a:pPr marL="0" indent="0" algn="l">
              <a:lnSpc>
                <a:spcPct val="120000"/>
              </a:lnSpc>
              <a:buNone/>
            </a:pPr>
            <a:r>
              <a:rPr lang="en-US" sz="1150" dirty="0">
                <a:solidFill>
                  <a:srgbClr val="EBECEF"/>
                </a:solidFill>
                <a:latin typeface="Epilogue" pitchFamily="34" charset="0"/>
                <a:ea typeface="Epilogue" pitchFamily="34" charset="-122"/>
                <a:cs typeface="Epilogue" pitchFamily="34" charset="-120"/>
              </a:rPr>
              <a:t>Arrival of early digital networks, dual-band radios, integrated low-resolution CMOS cameras, mobile internet precursors (WAP), and basic color screens.</a:t>
            </a:r>
            <a:endParaRPr lang="en-US" sz="1150" dirty="0"/>
          </a:p>
        </p:txBody>
      </p:sp>
      <p:sp>
        <p:nvSpPr>
          <p:cNvPr id="16" name="Shape 12"/>
          <p:cNvSpPr/>
          <p:nvPr/>
        </p:nvSpPr>
        <p:spPr>
          <a:xfrm>
            <a:off x="982588" y="4273649"/>
            <a:ext cx="453617" cy="19050"/>
          </a:xfrm>
          <a:prstGeom prst="roundRect">
            <a:avLst>
              <a:gd name="adj" fmla="val 333387"/>
            </a:avLst>
          </a:prstGeom>
          <a:solidFill>
            <a:srgbClr val="414A70"/>
          </a:solidFill>
          <a:ln/>
        </p:spPr>
      </p:sp>
      <p:sp>
        <p:nvSpPr>
          <p:cNvPr id="17" name="Shape 13"/>
          <p:cNvSpPr/>
          <p:nvPr/>
        </p:nvSpPr>
        <p:spPr>
          <a:xfrm>
            <a:off x="661425" y="4113113"/>
            <a:ext cx="340213" cy="340221"/>
          </a:xfrm>
          <a:prstGeom prst="roundRect">
            <a:avLst>
              <a:gd name="adj" fmla="val 18668"/>
            </a:avLst>
          </a:prstGeom>
          <a:solidFill>
            <a:srgbClr val="283157"/>
          </a:solidFill>
          <a:ln w="6350">
            <a:solidFill>
              <a:srgbClr val="414A70"/>
            </a:solidFill>
            <a:prstDash val="solid"/>
          </a:ln>
        </p:spPr>
      </p:sp>
      <p:sp>
        <p:nvSpPr>
          <p:cNvPr id="18" name="Text 14"/>
          <p:cNvSpPr/>
          <p:nvPr/>
        </p:nvSpPr>
        <p:spPr>
          <a:xfrm>
            <a:off x="718078" y="4141440"/>
            <a:ext cx="226808" cy="283468"/>
          </a:xfrm>
          <a:prstGeom prst="rect">
            <a:avLst/>
          </a:prstGeom>
          <a:noFill/>
          <a:ln/>
        </p:spPr>
        <p:txBody>
          <a:bodyPr wrap="none" lIns="0" tIns="0" rIns="0" bIns="0" rtlCol="0" anchor="ctr"/>
          <a:lstStyle/>
          <a:p>
            <a:pPr marL="0" indent="0" algn="ctr">
              <a:lnSpc>
                <a:spcPct val="100000"/>
              </a:lnSpc>
              <a:buNone/>
            </a:pPr>
            <a:r>
              <a:rPr lang="en-US" sz="1750" dirty="0">
                <a:solidFill>
                  <a:srgbClr val="EBECEF"/>
                </a:solidFill>
                <a:latin typeface="Fraunces Medium" pitchFamily="34" charset="0"/>
                <a:ea typeface="Fraunces Medium" pitchFamily="34" charset="-122"/>
                <a:cs typeface="Fraunces Medium" pitchFamily="34" charset="-120"/>
              </a:rPr>
              <a:t>3</a:t>
            </a:r>
            <a:endParaRPr lang="en-US" sz="1750" dirty="0"/>
          </a:p>
        </p:txBody>
      </p:sp>
      <p:sp>
        <p:nvSpPr>
          <p:cNvPr id="19" name="Text 15"/>
          <p:cNvSpPr/>
          <p:nvPr/>
        </p:nvSpPr>
        <p:spPr>
          <a:xfrm>
            <a:off x="1587659" y="4165005"/>
            <a:ext cx="5370676" cy="236240"/>
          </a:xfrm>
          <a:prstGeom prst="rect">
            <a:avLst/>
          </a:prstGeom>
          <a:noFill/>
          <a:ln/>
        </p:spPr>
        <p:txBody>
          <a:bodyPr wrap="none" lIns="0" tIns="0" rIns="0" bIns="0" rtlCol="0" anchor="t"/>
          <a:lstStyle/>
          <a:p>
            <a:pPr marL="0" indent="0" algn="l">
              <a:lnSpc>
                <a:spcPct val="104000"/>
              </a:lnSpc>
              <a:buNone/>
            </a:pPr>
            <a:r>
              <a:rPr lang="en-US" sz="1450" dirty="0">
                <a:solidFill>
                  <a:srgbClr val="EBECEF"/>
                </a:solidFill>
                <a:latin typeface="Fraunces Medium" pitchFamily="34" charset="0"/>
                <a:ea typeface="Fraunces Medium" pitchFamily="34" charset="-122"/>
                <a:cs typeface="Fraunces Medium" pitchFamily="34" charset="-120"/>
              </a:rPr>
              <a:t>2005: High-Speed Infrastructure Expansion</a:t>
            </a:r>
            <a:endParaRPr lang="en-US" sz="1450" dirty="0"/>
          </a:p>
        </p:txBody>
      </p:sp>
      <p:sp>
        <p:nvSpPr>
          <p:cNvPr id="20" name="Text 16"/>
          <p:cNvSpPr/>
          <p:nvPr/>
        </p:nvSpPr>
        <p:spPr>
          <a:xfrm>
            <a:off x="1587659" y="4473773"/>
            <a:ext cx="5370676" cy="435372"/>
          </a:xfrm>
          <a:prstGeom prst="rect">
            <a:avLst/>
          </a:prstGeom>
          <a:noFill/>
          <a:ln/>
        </p:spPr>
        <p:txBody>
          <a:bodyPr wrap="square" lIns="0" tIns="0" rIns="0" bIns="0" rtlCol="0" anchor="t">
            <a:normAutofit/>
          </a:bodyPr>
          <a:lstStyle/>
          <a:p>
            <a:pPr marL="0" indent="0" algn="l">
              <a:lnSpc>
                <a:spcPct val="120000"/>
              </a:lnSpc>
              <a:buNone/>
            </a:pPr>
            <a:r>
              <a:rPr lang="en-US" sz="1150" dirty="0">
                <a:solidFill>
                  <a:srgbClr val="EBECEF"/>
                </a:solidFill>
                <a:latin typeface="Epilogue" pitchFamily="34" charset="0"/>
                <a:ea typeface="Epilogue" pitchFamily="34" charset="-122"/>
                <a:cs typeface="Epilogue" pitchFamily="34" charset="-120"/>
              </a:rPr>
              <a:t>Proliferation of GPRS/3G networks, high-resolution displays, dedicated MP3 playback engines, and external memory stick integration.</a:t>
            </a:r>
            <a:endParaRPr lang="en-US" sz="1150" dirty="0"/>
          </a:p>
        </p:txBody>
      </p:sp>
      <p:sp>
        <p:nvSpPr>
          <p:cNvPr id="21" name="Shape 17"/>
          <p:cNvSpPr/>
          <p:nvPr/>
        </p:nvSpPr>
        <p:spPr>
          <a:xfrm>
            <a:off x="982588" y="5311577"/>
            <a:ext cx="453617" cy="19050"/>
          </a:xfrm>
          <a:prstGeom prst="roundRect">
            <a:avLst>
              <a:gd name="adj" fmla="val 333387"/>
            </a:avLst>
          </a:prstGeom>
          <a:solidFill>
            <a:srgbClr val="414A70"/>
          </a:solidFill>
          <a:ln/>
        </p:spPr>
      </p:sp>
      <p:sp>
        <p:nvSpPr>
          <p:cNvPr id="22" name="Shape 18"/>
          <p:cNvSpPr/>
          <p:nvPr/>
        </p:nvSpPr>
        <p:spPr>
          <a:xfrm>
            <a:off x="661425" y="5151041"/>
            <a:ext cx="340213" cy="340221"/>
          </a:xfrm>
          <a:prstGeom prst="roundRect">
            <a:avLst>
              <a:gd name="adj" fmla="val 18668"/>
            </a:avLst>
          </a:prstGeom>
          <a:solidFill>
            <a:srgbClr val="283157"/>
          </a:solidFill>
          <a:ln w="6350">
            <a:solidFill>
              <a:srgbClr val="414A70"/>
            </a:solidFill>
            <a:prstDash val="solid"/>
          </a:ln>
        </p:spPr>
      </p:sp>
      <p:sp>
        <p:nvSpPr>
          <p:cNvPr id="23" name="Text 19"/>
          <p:cNvSpPr/>
          <p:nvPr/>
        </p:nvSpPr>
        <p:spPr>
          <a:xfrm>
            <a:off x="718078" y="5179368"/>
            <a:ext cx="226808" cy="283468"/>
          </a:xfrm>
          <a:prstGeom prst="rect">
            <a:avLst/>
          </a:prstGeom>
          <a:noFill/>
          <a:ln/>
        </p:spPr>
        <p:txBody>
          <a:bodyPr wrap="none" lIns="0" tIns="0" rIns="0" bIns="0" rtlCol="0" anchor="ctr"/>
          <a:lstStyle/>
          <a:p>
            <a:pPr marL="0" indent="0" algn="ctr">
              <a:lnSpc>
                <a:spcPct val="100000"/>
              </a:lnSpc>
              <a:buNone/>
            </a:pPr>
            <a:r>
              <a:rPr lang="en-US" sz="1750" dirty="0">
                <a:solidFill>
                  <a:srgbClr val="EBECEF"/>
                </a:solidFill>
                <a:latin typeface="Fraunces Medium" pitchFamily="34" charset="0"/>
                <a:ea typeface="Fraunces Medium" pitchFamily="34" charset="-122"/>
                <a:cs typeface="Fraunces Medium" pitchFamily="34" charset="-120"/>
              </a:rPr>
              <a:t>4</a:t>
            </a:r>
            <a:endParaRPr lang="en-US" sz="1750" dirty="0"/>
          </a:p>
        </p:txBody>
      </p:sp>
      <p:sp>
        <p:nvSpPr>
          <p:cNvPr id="24" name="Text 20"/>
          <p:cNvSpPr/>
          <p:nvPr/>
        </p:nvSpPr>
        <p:spPr>
          <a:xfrm>
            <a:off x="1587659" y="5202932"/>
            <a:ext cx="5370676" cy="236240"/>
          </a:xfrm>
          <a:prstGeom prst="rect">
            <a:avLst/>
          </a:prstGeom>
          <a:noFill/>
          <a:ln/>
        </p:spPr>
        <p:txBody>
          <a:bodyPr wrap="none" lIns="0" tIns="0" rIns="0" bIns="0" rtlCol="0" anchor="t"/>
          <a:lstStyle/>
          <a:p>
            <a:pPr marL="0" indent="0" algn="l">
              <a:lnSpc>
                <a:spcPct val="104000"/>
              </a:lnSpc>
              <a:buNone/>
            </a:pPr>
            <a:r>
              <a:rPr lang="en-US" sz="1450" dirty="0">
                <a:solidFill>
                  <a:srgbClr val="EBECEF"/>
                </a:solidFill>
                <a:latin typeface="Fraunces Medium" pitchFamily="34" charset="0"/>
                <a:ea typeface="Fraunces Medium" pitchFamily="34" charset="-122"/>
                <a:cs typeface="Fraunces Medium" pitchFamily="34" charset="-120"/>
              </a:rPr>
              <a:t>2009 &amp; Beyond: The Modern Smartphone Matrix</a:t>
            </a:r>
            <a:endParaRPr lang="en-US" sz="1450" dirty="0"/>
          </a:p>
        </p:txBody>
      </p:sp>
      <p:sp>
        <p:nvSpPr>
          <p:cNvPr id="25" name="Text 21"/>
          <p:cNvSpPr/>
          <p:nvPr/>
        </p:nvSpPr>
        <p:spPr>
          <a:xfrm>
            <a:off x="1587659" y="5511701"/>
            <a:ext cx="5370676" cy="653058"/>
          </a:xfrm>
          <a:prstGeom prst="rect">
            <a:avLst/>
          </a:prstGeom>
          <a:noFill/>
          <a:ln/>
        </p:spPr>
        <p:txBody>
          <a:bodyPr wrap="square" lIns="0" tIns="0" rIns="0" bIns="0" rtlCol="0" anchor="t">
            <a:normAutofit/>
          </a:bodyPr>
          <a:lstStyle/>
          <a:p>
            <a:pPr marL="0" indent="0" algn="l">
              <a:lnSpc>
                <a:spcPct val="120000"/>
              </a:lnSpc>
              <a:buNone/>
            </a:pPr>
            <a:r>
              <a:rPr lang="en-US" sz="1150" dirty="0">
                <a:solidFill>
                  <a:srgbClr val="EBECEF"/>
                </a:solidFill>
                <a:latin typeface="Epilogue" pitchFamily="34" charset="0"/>
                <a:ea typeface="Epilogue" pitchFamily="34" charset="-122"/>
                <a:cs typeface="Epilogue" pitchFamily="34" charset="-120"/>
              </a:rPr>
              <a:t>Full capacitive touchscreens, ubiquitous WLAN/Bluetooth stacks, digital video capture, standalone GPS navigation arrays, and advanced Personal Digital Assistants (PDAs).</a:t>
            </a:r>
            <a:endParaRPr lang="en-US" sz="1150" dirty="0"/>
          </a:p>
        </p:txBody>
      </p:sp>
    </p:spTree>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619809" y="0"/>
            <a:ext cx="4571886" cy="6858000"/>
          </a:xfrm>
          <a:prstGeom prst="rect">
            <a:avLst/>
          </a:prstGeom>
        </p:spPr>
      </p:pic>
      <p:sp>
        <p:nvSpPr>
          <p:cNvPr id="3" name="Text 0"/>
          <p:cNvSpPr/>
          <p:nvPr/>
        </p:nvSpPr>
        <p:spPr>
          <a:xfrm>
            <a:off x="661475" y="581323"/>
            <a:ext cx="6296860" cy="1126133"/>
          </a:xfrm>
          <a:prstGeom prst="rect">
            <a:avLst/>
          </a:prstGeom>
          <a:noFill/>
          <a:ln/>
        </p:spPr>
        <p:txBody>
          <a:bodyPr wrap="square" lIns="0" tIns="0" rIns="0" bIns="0" rtlCol="0" anchor="t">
            <a:normAutofit/>
          </a:bodyPr>
          <a:lstStyle/>
          <a:p>
            <a:pPr marL="0" indent="0" algn="l">
              <a:lnSpc>
                <a:spcPct val="104000"/>
              </a:lnSpc>
              <a:buNone/>
            </a:pPr>
            <a:r>
              <a:rPr lang="en-US" sz="3500" dirty="0">
                <a:solidFill>
                  <a:srgbClr val="FFFFFF"/>
                </a:solidFill>
                <a:latin typeface="Fraunces Medium" pitchFamily="34" charset="0"/>
                <a:ea typeface="Fraunces Medium" pitchFamily="34" charset="-122"/>
                <a:cs typeface="Fraunces Medium" pitchFamily="34" charset="-120"/>
              </a:rPr>
              <a:t>Taxonomy of Handheld Form Factors (Part 1)</a:t>
            </a:r>
            <a:endParaRPr lang="en-US" sz="3500" dirty="0"/>
          </a:p>
        </p:txBody>
      </p:sp>
      <p:sp>
        <p:nvSpPr>
          <p:cNvPr id="4" name="Shape 1"/>
          <p:cNvSpPr/>
          <p:nvPr/>
        </p:nvSpPr>
        <p:spPr>
          <a:xfrm>
            <a:off x="531700" y="1965027"/>
            <a:ext cx="3188216" cy="4311551"/>
          </a:xfrm>
          <a:prstGeom prst="roundRect">
            <a:avLst>
              <a:gd name="adj" fmla="val 4069"/>
            </a:avLst>
          </a:prstGeom>
          <a:solidFill>
            <a:srgbClr val="8C98CA"/>
          </a:solidFill>
          <a:ln/>
        </p:spPr>
      </p:sp>
      <p:sp>
        <p:nvSpPr>
          <p:cNvPr id="5" name="Text 2"/>
          <p:cNvSpPr/>
          <p:nvPr/>
        </p:nvSpPr>
        <p:spPr>
          <a:xfrm>
            <a:off x="711778" y="2136676"/>
            <a:ext cx="2828061" cy="562967"/>
          </a:xfrm>
          <a:prstGeom prst="rect">
            <a:avLst/>
          </a:prstGeom>
          <a:noFill/>
          <a:ln/>
        </p:spPr>
        <p:txBody>
          <a:bodyPr wrap="square" lIns="0" tIns="0" rIns="0" bIns="0" rtlCol="0" anchor="t">
            <a:normAutofit/>
          </a:bodyPr>
          <a:lstStyle/>
          <a:p>
            <a:pPr marL="0" indent="0" algn="l">
              <a:lnSpc>
                <a:spcPct val="104000"/>
              </a:lnSpc>
              <a:buNone/>
            </a:pPr>
            <a:r>
              <a:rPr lang="en-US" sz="1750" dirty="0">
                <a:solidFill>
                  <a:srgbClr val="000000"/>
                </a:solidFill>
                <a:latin typeface="Fraunces Medium" pitchFamily="34" charset="0"/>
                <a:ea typeface="Fraunces Medium" pitchFamily="34" charset="-122"/>
                <a:cs typeface="Fraunces Medium" pitchFamily="34" charset="-120"/>
              </a:rPr>
              <a:t>Personal Digital Assistants (PDAs)</a:t>
            </a:r>
            <a:endParaRPr lang="en-US" sz="1750" dirty="0"/>
          </a:p>
        </p:txBody>
      </p:sp>
      <p:sp>
        <p:nvSpPr>
          <p:cNvPr id="6" name="Text 3"/>
          <p:cNvSpPr/>
          <p:nvPr/>
        </p:nvSpPr>
        <p:spPr>
          <a:xfrm>
            <a:off x="711778" y="2871291"/>
            <a:ext cx="2828061" cy="3250803"/>
          </a:xfrm>
          <a:prstGeom prst="rect">
            <a:avLst/>
          </a:prstGeom>
          <a:noFill/>
          <a:ln/>
        </p:spPr>
        <p:txBody>
          <a:bodyPr wrap="square" lIns="0" tIns="0" rIns="0" bIns="0" rtlCol="0" anchor="t">
            <a:normAutofit/>
          </a:bodyPr>
          <a:lstStyle/>
          <a:p>
            <a:pPr marL="0" indent="0" algn="l">
              <a:lnSpc>
                <a:spcPct val="130000"/>
              </a:lnSpc>
              <a:buNone/>
            </a:pPr>
            <a:r>
              <a:rPr lang="en-US" sz="1400" i="1" dirty="0">
                <a:solidFill>
                  <a:srgbClr val="000000"/>
                </a:solidFill>
                <a:latin typeface="Epilogue" pitchFamily="34" charset="0"/>
                <a:ea typeface="Epilogue" pitchFamily="34" charset="-122"/>
                <a:cs typeface="Epilogue" pitchFamily="34" charset="-120"/>
              </a:rPr>
              <a:t>Context:</a:t>
            </a:r>
            <a:r>
              <a:rPr lang="en-US" sz="1400" dirty="0">
                <a:solidFill>
                  <a:srgbClr val="000000"/>
                </a:solidFill>
                <a:latin typeface="Epilogue" pitchFamily="34" charset="0"/>
                <a:ea typeface="Epilogue" pitchFamily="34" charset="-122"/>
                <a:cs typeface="Epilogue" pitchFamily="34" charset="-120"/>
              </a:rPr>
              <a:t> Originally engineered as standalone handheld personal information managers (calendars, address books, note systems).</a:t>
            </a:r>
            <a:endParaRPr lang="en-US" sz="1400" dirty="0"/>
          </a:p>
          <a:p>
            <a:pPr marL="0" indent="0" algn="l">
              <a:lnSpc>
                <a:spcPct val="130000"/>
              </a:lnSpc>
              <a:buNone/>
            </a:pPr>
            <a:r>
              <a:rPr lang="en-US" sz="1400" i="1" dirty="0">
                <a:solidFill>
                  <a:srgbClr val="000000"/>
                </a:solidFill>
                <a:latin typeface="Epilogue" pitchFamily="34" charset="0"/>
                <a:ea typeface="Epilogue" pitchFamily="34" charset="-122"/>
                <a:cs typeface="Epilogue" pitchFamily="34" charset="-120"/>
              </a:rPr>
              <a:t>The Shift:</a:t>
            </a:r>
            <a:r>
              <a:rPr lang="en-US" sz="1400" dirty="0">
                <a:solidFill>
                  <a:srgbClr val="000000"/>
                </a:solidFill>
                <a:latin typeface="Epilogue" pitchFamily="34" charset="0"/>
                <a:ea typeface="Epilogue" pitchFamily="34" charset="-122"/>
                <a:cs typeface="Epilogue" pitchFamily="34" charset="-120"/>
              </a:rPr>
              <a:t> They have been universally displaced by the rapid widespread adoption of highly capable, software-extensible smartphones based on Android and iOS platforms.</a:t>
            </a:r>
            <a:endParaRPr lang="en-US" sz="1400" dirty="0"/>
          </a:p>
        </p:txBody>
      </p:sp>
      <p:sp>
        <p:nvSpPr>
          <p:cNvPr id="7" name="Text 4"/>
          <p:cNvSpPr/>
          <p:nvPr/>
        </p:nvSpPr>
        <p:spPr>
          <a:xfrm>
            <a:off x="4036019" y="2136676"/>
            <a:ext cx="2928666" cy="281484"/>
          </a:xfrm>
          <a:prstGeom prst="rect">
            <a:avLst/>
          </a:prstGeom>
          <a:noFill/>
          <a:ln/>
        </p:spPr>
        <p:txBody>
          <a:bodyPr wrap="none" lIns="0" tIns="0" rIns="0" bIns="0" rtlCol="0" anchor="t"/>
          <a:lstStyle/>
          <a:p>
            <a:pPr marL="0" indent="0" algn="l">
              <a:lnSpc>
                <a:spcPct val="104000"/>
              </a:lnSpc>
              <a:buNone/>
            </a:pPr>
            <a:r>
              <a:rPr lang="en-US" sz="1750" dirty="0">
                <a:solidFill>
                  <a:srgbClr val="FFFFFF"/>
                </a:solidFill>
                <a:latin typeface="Fraunces Medium" pitchFamily="34" charset="0"/>
                <a:ea typeface="Fraunces Medium" pitchFamily="34" charset="-122"/>
                <a:cs typeface="Fraunces Medium" pitchFamily="34" charset="-120"/>
              </a:rPr>
              <a:t>Tablets &amp; Slates</a:t>
            </a:r>
            <a:endParaRPr lang="en-US" sz="1750" dirty="0"/>
          </a:p>
        </p:txBody>
      </p:sp>
      <p:sp>
        <p:nvSpPr>
          <p:cNvPr id="8" name="Text 5"/>
          <p:cNvSpPr/>
          <p:nvPr/>
        </p:nvSpPr>
        <p:spPr>
          <a:xfrm>
            <a:off x="4036019" y="2589808"/>
            <a:ext cx="2928666" cy="2969320"/>
          </a:xfrm>
          <a:prstGeom prst="rect">
            <a:avLst/>
          </a:prstGeom>
          <a:noFill/>
          <a:ln/>
        </p:spPr>
        <p:txBody>
          <a:bodyPr wrap="square" lIns="0" tIns="0" rIns="0" bIns="0" rtlCol="0" anchor="t">
            <a:normAutofit/>
          </a:bodyPr>
          <a:lstStyle/>
          <a:p>
            <a:pPr marL="0" indent="0" algn="l">
              <a:lnSpc>
                <a:spcPct val="130000"/>
              </a:lnSpc>
              <a:buNone/>
            </a:pPr>
            <a:r>
              <a:rPr lang="en-US" sz="1400" i="1" dirty="0">
                <a:solidFill>
                  <a:srgbClr val="EBECEF"/>
                </a:solidFill>
                <a:latin typeface="Epilogue" pitchFamily="34" charset="0"/>
                <a:ea typeface="Epilogue" pitchFamily="34" charset="-122"/>
                <a:cs typeface="Epilogue" pitchFamily="34" charset="-120"/>
              </a:rPr>
              <a:t>Context:</a:t>
            </a:r>
            <a:r>
              <a:rPr lang="en-US" sz="1400" dirty="0">
                <a:solidFill>
                  <a:srgbClr val="EBECEF"/>
                </a:solidFill>
                <a:latin typeface="Epilogue" pitchFamily="34" charset="0"/>
                <a:ea typeface="Epilogue" pitchFamily="34" charset="-122"/>
                <a:cs typeface="Epilogue" pitchFamily="34" charset="-120"/>
              </a:rPr>
              <a:t> A wireless, fully portable personal computer featuring an expansive touch-screen interface.</a:t>
            </a:r>
            <a:endParaRPr lang="en-US" sz="1400" dirty="0"/>
          </a:p>
          <a:p>
            <a:pPr marL="0" indent="0" algn="l">
              <a:lnSpc>
                <a:spcPct val="130000"/>
              </a:lnSpc>
              <a:buNone/>
            </a:pPr>
            <a:r>
              <a:rPr lang="en-US" sz="1400" i="1" dirty="0">
                <a:solidFill>
                  <a:srgbClr val="EBECEF"/>
                </a:solidFill>
                <a:latin typeface="Epilogue" pitchFamily="34" charset="0"/>
                <a:ea typeface="Epilogue" pitchFamily="34" charset="-122"/>
                <a:cs typeface="Epilogue" pitchFamily="34" charset="-120"/>
              </a:rPr>
              <a:t>Form Factor Sweet Spot:</a:t>
            </a:r>
            <a:r>
              <a:rPr lang="en-US" sz="1400" dirty="0">
                <a:solidFill>
                  <a:srgbClr val="EBECEF"/>
                </a:solidFill>
                <a:latin typeface="Epilogue" pitchFamily="34" charset="0"/>
                <a:ea typeface="Epilogue" pitchFamily="34" charset="-122"/>
                <a:cs typeface="Epilogue" pitchFamily="34" charset="-120"/>
              </a:rPr>
              <a:t> Fits a distinct operational niche—larger than a standard smartphone, yet significantly more compact and agile than a notebook or laptop computer.</a:t>
            </a:r>
            <a:endParaRPr lang="en-US" sz="1400" dirty="0"/>
          </a:p>
        </p:txBody>
      </p:sp>
    </p:spTree>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619809" y="0"/>
            <a:ext cx="4571886" cy="6858000"/>
          </a:xfrm>
          <a:prstGeom prst="rect">
            <a:avLst/>
          </a:prstGeom>
        </p:spPr>
      </p:pic>
      <p:sp>
        <p:nvSpPr>
          <p:cNvPr id="3" name="Text 0"/>
          <p:cNvSpPr/>
          <p:nvPr/>
        </p:nvSpPr>
        <p:spPr>
          <a:xfrm>
            <a:off x="661475" y="595114"/>
            <a:ext cx="6296860" cy="1162844"/>
          </a:xfrm>
          <a:prstGeom prst="rect">
            <a:avLst/>
          </a:prstGeom>
          <a:noFill/>
          <a:ln/>
        </p:spPr>
        <p:txBody>
          <a:bodyPr wrap="square" lIns="0" tIns="0" rIns="0" bIns="0" rtlCol="0" anchor="t">
            <a:normAutofit/>
          </a:bodyPr>
          <a:lstStyle/>
          <a:p>
            <a:pPr marL="0" indent="0" algn="l">
              <a:lnSpc>
                <a:spcPct val="104000"/>
              </a:lnSpc>
              <a:buNone/>
            </a:pPr>
            <a:r>
              <a:rPr lang="en-US" sz="3650" dirty="0">
                <a:solidFill>
                  <a:srgbClr val="FFFFFF"/>
                </a:solidFill>
                <a:latin typeface="Fraunces Medium" pitchFamily="34" charset="0"/>
                <a:ea typeface="Fraunces Medium" pitchFamily="34" charset="-122"/>
                <a:cs typeface="Fraunces Medium" pitchFamily="34" charset="-120"/>
              </a:rPr>
              <a:t>Taxonomy of Handheld Form Factors (Part 2)</a:t>
            </a:r>
            <a:endParaRPr lang="en-US" sz="3650" dirty="0"/>
          </a:p>
        </p:txBody>
      </p:sp>
      <p:sp>
        <p:nvSpPr>
          <p:cNvPr id="4" name="Text 1"/>
          <p:cNvSpPr/>
          <p:nvPr/>
        </p:nvSpPr>
        <p:spPr>
          <a:xfrm>
            <a:off x="661475" y="2215852"/>
            <a:ext cx="2921522" cy="581422"/>
          </a:xfrm>
          <a:prstGeom prst="rect">
            <a:avLst/>
          </a:prstGeom>
          <a:noFill/>
          <a:ln/>
        </p:spPr>
        <p:txBody>
          <a:bodyPr wrap="square" lIns="0" tIns="0" rIns="0" bIns="0" rtlCol="0" anchor="t">
            <a:normAutofit/>
          </a:bodyPr>
          <a:lstStyle/>
          <a:p>
            <a:pPr marL="0" indent="0" algn="l">
              <a:lnSpc>
                <a:spcPct val="104000"/>
              </a:lnSpc>
              <a:buNone/>
            </a:pPr>
            <a:r>
              <a:rPr lang="en-US" sz="1800" dirty="0">
                <a:solidFill>
                  <a:srgbClr val="FFFFFF"/>
                </a:solidFill>
                <a:latin typeface="Fraunces Medium" pitchFamily="34" charset="0"/>
                <a:ea typeface="Fraunces Medium" pitchFamily="34" charset="-122"/>
                <a:cs typeface="Fraunces Medium" pitchFamily="34" charset="-120"/>
              </a:rPr>
              <a:t>Portable Media Players (PMPs)</a:t>
            </a:r>
            <a:endParaRPr lang="en-US" sz="1800" dirty="0"/>
          </a:p>
        </p:txBody>
      </p:sp>
      <p:sp>
        <p:nvSpPr>
          <p:cNvPr id="5" name="Text 2"/>
          <p:cNvSpPr/>
          <p:nvPr/>
        </p:nvSpPr>
        <p:spPr>
          <a:xfrm>
            <a:off x="661475" y="2980432"/>
            <a:ext cx="2921522" cy="2822277"/>
          </a:xfrm>
          <a:prstGeom prst="rect">
            <a:avLst/>
          </a:prstGeom>
          <a:noFill/>
          <a:ln/>
        </p:spPr>
        <p:txBody>
          <a:bodyPr wrap="square" lIns="0" tIns="0" rIns="0" bIns="0" rtlCol="0" anchor="t">
            <a:normAutofit/>
          </a:bodyPr>
          <a:lstStyle/>
          <a:p>
            <a:pPr marL="0" indent="0" algn="l">
              <a:lnSpc>
                <a:spcPct val="132000"/>
              </a:lnSpc>
              <a:buNone/>
            </a:pPr>
            <a:r>
              <a:rPr lang="en-US" sz="1450" i="1" dirty="0">
                <a:solidFill>
                  <a:srgbClr val="EBECEF"/>
                </a:solidFill>
                <a:latin typeface="Epilogue" pitchFamily="34" charset="0"/>
                <a:ea typeface="Epilogue" pitchFamily="34" charset="-122"/>
                <a:cs typeface="Epilogue" pitchFamily="34" charset="-120"/>
              </a:rPr>
              <a:t>Context:</a:t>
            </a:r>
            <a:r>
              <a:rPr lang="en-US" sz="1450" dirty="0">
                <a:solidFill>
                  <a:srgbClr val="EBECEF"/>
                </a:solidFill>
                <a:latin typeface="Epilogue" pitchFamily="34" charset="0"/>
                <a:ea typeface="Epilogue" pitchFamily="34" charset="-122"/>
                <a:cs typeface="Epilogue" pitchFamily="34" charset="-120"/>
              </a:rPr>
              <a:t> Consumer electronic devices specifically optimized for storing, managing, and seamlessly executing digital media payloads.</a:t>
            </a:r>
            <a:endParaRPr lang="en-US" sz="1450" dirty="0"/>
          </a:p>
          <a:p>
            <a:pPr marL="0" indent="0" algn="l">
              <a:lnSpc>
                <a:spcPct val="132000"/>
              </a:lnSpc>
              <a:buNone/>
            </a:pPr>
            <a:r>
              <a:rPr lang="en-US" sz="1450" i="1" dirty="0">
                <a:solidFill>
                  <a:srgbClr val="EBECEF"/>
                </a:solidFill>
                <a:latin typeface="Epilogue" pitchFamily="34" charset="0"/>
                <a:ea typeface="Epilogue" pitchFamily="34" charset="-122"/>
                <a:cs typeface="Epilogue" pitchFamily="34" charset="-120"/>
              </a:rPr>
              <a:t>Supported Formats:</a:t>
            </a:r>
            <a:r>
              <a:rPr lang="en-US" sz="1450" dirty="0">
                <a:solidFill>
                  <a:srgbClr val="EBECEF"/>
                </a:solidFill>
                <a:latin typeface="Epilogue" pitchFamily="34" charset="0"/>
                <a:ea typeface="Epilogue" pitchFamily="34" charset="-122"/>
                <a:cs typeface="Epilogue" pitchFamily="34" charset="-120"/>
              </a:rPr>
              <a:t> High-fidelity audio streams, high-definition images, and compressed video files.</a:t>
            </a:r>
            <a:endParaRPr lang="en-US" sz="1450" dirty="0"/>
          </a:p>
        </p:txBody>
      </p:sp>
      <p:sp>
        <p:nvSpPr>
          <p:cNvPr id="6" name="Shape 3"/>
          <p:cNvSpPr/>
          <p:nvPr/>
        </p:nvSpPr>
        <p:spPr>
          <a:xfrm>
            <a:off x="3909220" y="2032695"/>
            <a:ext cx="3189406" cy="4230092"/>
          </a:xfrm>
          <a:prstGeom prst="roundRect">
            <a:avLst>
              <a:gd name="adj" fmla="val 4200"/>
            </a:avLst>
          </a:prstGeom>
          <a:solidFill>
            <a:srgbClr val="8C98CA"/>
          </a:solidFill>
          <a:ln/>
        </p:spPr>
      </p:sp>
      <p:sp>
        <p:nvSpPr>
          <p:cNvPr id="7" name="Text 4"/>
          <p:cNvSpPr/>
          <p:nvPr/>
        </p:nvSpPr>
        <p:spPr>
          <a:xfrm>
            <a:off x="4095251" y="2215852"/>
            <a:ext cx="2817345" cy="581422"/>
          </a:xfrm>
          <a:prstGeom prst="rect">
            <a:avLst/>
          </a:prstGeom>
          <a:noFill/>
          <a:ln/>
        </p:spPr>
        <p:txBody>
          <a:bodyPr wrap="square" lIns="0" tIns="0" rIns="0" bIns="0" rtlCol="0" anchor="t">
            <a:normAutofit/>
          </a:bodyPr>
          <a:lstStyle/>
          <a:p>
            <a:pPr marL="0" indent="0" algn="l">
              <a:lnSpc>
                <a:spcPct val="104000"/>
              </a:lnSpc>
              <a:buNone/>
            </a:pPr>
            <a:r>
              <a:rPr lang="en-US" sz="1800" dirty="0">
                <a:solidFill>
                  <a:srgbClr val="000000"/>
                </a:solidFill>
                <a:latin typeface="Fraunces Medium" pitchFamily="34" charset="0"/>
                <a:ea typeface="Fraunces Medium" pitchFamily="34" charset="-122"/>
                <a:cs typeface="Fraunces Medium" pitchFamily="34" charset="-120"/>
              </a:rPr>
              <a:t>Auxiliary Legacy &amp; Niche Handhelds</a:t>
            </a:r>
            <a:endParaRPr lang="en-US" sz="1800" dirty="0"/>
          </a:p>
        </p:txBody>
      </p:sp>
      <p:sp>
        <p:nvSpPr>
          <p:cNvPr id="8" name="Text 5"/>
          <p:cNvSpPr/>
          <p:nvPr/>
        </p:nvSpPr>
        <p:spPr>
          <a:xfrm>
            <a:off x="4095251" y="2980432"/>
            <a:ext cx="2817345" cy="3117552"/>
          </a:xfrm>
          <a:prstGeom prst="rect">
            <a:avLst/>
          </a:prstGeom>
          <a:noFill/>
          <a:ln/>
        </p:spPr>
        <p:txBody>
          <a:bodyPr wrap="square" lIns="0" tIns="0" rIns="0" bIns="0" rtlCol="0" anchor="t">
            <a:normAutofit/>
          </a:bodyPr>
          <a:lstStyle/>
          <a:p>
            <a:pPr marL="0" indent="0" algn="l">
              <a:lnSpc>
                <a:spcPct val="132000"/>
              </a:lnSpc>
              <a:buNone/>
            </a:pPr>
            <a:r>
              <a:rPr lang="en-US" sz="1450" i="1" dirty="0">
                <a:solidFill>
                  <a:srgbClr val="000000"/>
                </a:solidFill>
                <a:latin typeface="Epilogue" pitchFamily="34" charset="0"/>
                <a:ea typeface="Epilogue" pitchFamily="34" charset="-122"/>
                <a:cs typeface="Epilogue" pitchFamily="34" charset="-120"/>
              </a:rPr>
              <a:t>Voice &amp; Video Communication:</a:t>
            </a:r>
            <a:r>
              <a:rPr lang="en-US" sz="1450" dirty="0">
                <a:solidFill>
                  <a:srgbClr val="000000"/>
                </a:solidFill>
                <a:latin typeface="Epilogue" pitchFamily="34" charset="0"/>
                <a:ea typeface="Epilogue" pitchFamily="34" charset="-122"/>
                <a:cs typeface="Epilogue" pitchFamily="34" charset="-120"/>
              </a:rPr>
              <a:t> Pagers, legacy feature phones, and dedicated satellite communication links.</a:t>
            </a:r>
            <a:endParaRPr lang="en-US" sz="1450" dirty="0"/>
          </a:p>
          <a:p>
            <a:pPr marL="0" indent="0" algn="l">
              <a:lnSpc>
                <a:spcPct val="132000"/>
              </a:lnSpc>
              <a:buNone/>
            </a:pPr>
            <a:r>
              <a:rPr lang="en-US" sz="1450" i="1" dirty="0">
                <a:solidFill>
                  <a:srgbClr val="000000"/>
                </a:solidFill>
                <a:latin typeface="Epilogue" pitchFamily="34" charset="0"/>
                <a:ea typeface="Epilogue" pitchFamily="34" charset="-122"/>
                <a:cs typeface="Epilogue" pitchFamily="34" charset="-120"/>
              </a:rPr>
              <a:t>Entertainment &amp; Utilities:</a:t>
            </a:r>
            <a:r>
              <a:rPr lang="en-US" sz="1450" dirty="0">
                <a:solidFill>
                  <a:srgbClr val="000000"/>
                </a:solidFill>
                <a:latin typeface="Epilogue" pitchFamily="34" charset="0"/>
                <a:ea typeface="Epilogue" pitchFamily="34" charset="-122"/>
                <a:cs typeface="Epilogue" pitchFamily="34" charset="-120"/>
              </a:rPr>
              <a:t> Portable handheld game consoles, dedicated standalone GPS tracking systems, and specialized fax/data terminals.</a:t>
            </a:r>
            <a:endParaRPr lang="en-US" sz="1450" dirty="0"/>
          </a:p>
        </p:txBody>
      </p:sp>
    </p:spTree>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619809" y="0"/>
            <a:ext cx="4571886" cy="6858000"/>
          </a:xfrm>
          <a:prstGeom prst="rect">
            <a:avLst/>
          </a:prstGeom>
        </p:spPr>
      </p:pic>
      <p:sp>
        <p:nvSpPr>
          <p:cNvPr id="3" name="Text 0"/>
          <p:cNvSpPr/>
          <p:nvPr/>
        </p:nvSpPr>
        <p:spPr>
          <a:xfrm>
            <a:off x="661475" y="525859"/>
            <a:ext cx="6296860" cy="1004094"/>
          </a:xfrm>
          <a:prstGeom prst="rect">
            <a:avLst/>
          </a:prstGeom>
          <a:noFill/>
          <a:ln/>
        </p:spPr>
        <p:txBody>
          <a:bodyPr wrap="square" lIns="0" tIns="0" rIns="0" bIns="0" rtlCol="0" anchor="t">
            <a:normAutofit/>
          </a:bodyPr>
          <a:lstStyle/>
          <a:p>
            <a:pPr marL="0" indent="0" algn="l">
              <a:lnSpc>
                <a:spcPct val="104000"/>
              </a:lnSpc>
              <a:buNone/>
            </a:pPr>
            <a:r>
              <a:rPr lang="en-US" sz="3150" dirty="0">
                <a:solidFill>
                  <a:srgbClr val="FFFFFF"/>
                </a:solidFill>
                <a:latin typeface="Fraunces Medium" pitchFamily="34" charset="0"/>
                <a:ea typeface="Fraunces Medium" pitchFamily="34" charset="-122"/>
                <a:cs typeface="Fraunces Medium" pitchFamily="34" charset="-120"/>
              </a:rPr>
              <a:t>The Proliferation of Wearable Systems</a:t>
            </a:r>
            <a:endParaRPr lang="en-US" sz="3150" dirty="0"/>
          </a:p>
        </p:txBody>
      </p:sp>
      <p:sp>
        <p:nvSpPr>
          <p:cNvPr id="4" name="Text 1"/>
          <p:cNvSpPr/>
          <p:nvPr/>
        </p:nvSpPr>
        <p:spPr>
          <a:xfrm>
            <a:off x="661475" y="1584523"/>
            <a:ext cx="6296860" cy="251023"/>
          </a:xfrm>
          <a:prstGeom prst="rect">
            <a:avLst/>
          </a:prstGeom>
          <a:noFill/>
          <a:ln/>
        </p:spPr>
        <p:txBody>
          <a:bodyPr wrap="none" lIns="0" tIns="0" rIns="0" bIns="0" rtlCol="0" anchor="t"/>
          <a:lstStyle/>
          <a:p>
            <a:pPr marL="0" indent="0" algn="l">
              <a:lnSpc>
                <a:spcPct val="104000"/>
              </a:lnSpc>
              <a:buNone/>
            </a:pPr>
            <a:r>
              <a:rPr lang="en-US" sz="1550" dirty="0">
                <a:solidFill>
                  <a:srgbClr val="FFFFFF"/>
                </a:solidFill>
                <a:latin typeface="Fraunces Medium" pitchFamily="34" charset="0"/>
                <a:ea typeface="Fraunces Medium" pitchFamily="34" charset="-122"/>
                <a:cs typeface="Fraunces Medium" pitchFamily="34" charset="-120"/>
              </a:rPr>
              <a:t>Core Technological Definition</a:t>
            </a:r>
            <a:endParaRPr lang="en-US" sz="1550" dirty="0"/>
          </a:p>
        </p:txBody>
      </p:sp>
      <p:sp>
        <p:nvSpPr>
          <p:cNvPr id="5" name="Text 2"/>
          <p:cNvSpPr/>
          <p:nvPr/>
        </p:nvSpPr>
        <p:spPr>
          <a:xfrm>
            <a:off x="661475" y="2040334"/>
            <a:ext cx="6296860" cy="713184"/>
          </a:xfrm>
          <a:prstGeom prst="rect">
            <a:avLst/>
          </a:prstGeom>
          <a:noFill/>
          <a:ln/>
        </p:spPr>
        <p:txBody>
          <a:bodyPr wrap="square" lIns="0" tIns="0" rIns="0" bIns="0" rtlCol="0" anchor="t">
            <a:normAutofit/>
          </a:bodyPr>
          <a:lstStyle/>
          <a:p>
            <a:pPr marL="0" indent="0" algn="l">
              <a:lnSpc>
                <a:spcPct val="123000"/>
              </a:lnSpc>
              <a:buNone/>
            </a:pPr>
            <a:r>
              <a:rPr lang="en-US" sz="1250" dirty="0">
                <a:solidFill>
                  <a:srgbClr val="EBECEF"/>
                </a:solidFill>
                <a:latin typeface="Epilogue" pitchFamily="34" charset="0"/>
                <a:ea typeface="Epilogue" pitchFamily="34" charset="-122"/>
                <a:cs typeface="Epilogue" pitchFamily="34" charset="-120"/>
              </a:rPr>
              <a:t>Products tightly controlled by integrated electronic components and embedded micro-software engines that are natively incorporated into clothing or worn directly on the human body as life accessories.</a:t>
            </a:r>
            <a:endParaRPr lang="en-US" sz="1250" dirty="0"/>
          </a:p>
        </p:txBody>
      </p:sp>
      <p:sp>
        <p:nvSpPr>
          <p:cNvPr id="6" name="Text 3"/>
          <p:cNvSpPr/>
          <p:nvPr/>
        </p:nvSpPr>
        <p:spPr>
          <a:xfrm>
            <a:off x="661475" y="2958306"/>
            <a:ext cx="6296860" cy="251023"/>
          </a:xfrm>
          <a:prstGeom prst="rect">
            <a:avLst/>
          </a:prstGeom>
          <a:noFill/>
          <a:ln/>
        </p:spPr>
        <p:txBody>
          <a:bodyPr wrap="none" lIns="0" tIns="0" rIns="0" bIns="0" rtlCol="0" anchor="t"/>
          <a:lstStyle/>
          <a:p>
            <a:pPr marL="0" indent="0" algn="l">
              <a:lnSpc>
                <a:spcPct val="104000"/>
              </a:lnSpc>
              <a:buNone/>
            </a:pPr>
            <a:r>
              <a:rPr lang="en-US" sz="1550" dirty="0">
                <a:solidFill>
                  <a:srgbClr val="FFFFFF"/>
                </a:solidFill>
                <a:latin typeface="Fraunces Medium" pitchFamily="34" charset="0"/>
                <a:ea typeface="Fraunces Medium" pitchFamily="34" charset="-122"/>
                <a:cs typeface="Fraunces Medium" pitchFamily="34" charset="-120"/>
              </a:rPr>
              <a:t>Ubiquitous Ecosystem Integration</a:t>
            </a:r>
            <a:endParaRPr lang="en-US" sz="1550" dirty="0"/>
          </a:p>
        </p:txBody>
      </p:sp>
      <p:sp>
        <p:nvSpPr>
          <p:cNvPr id="7" name="Text 4"/>
          <p:cNvSpPr/>
          <p:nvPr/>
        </p:nvSpPr>
        <p:spPr>
          <a:xfrm>
            <a:off x="661475" y="3414117"/>
            <a:ext cx="6296860" cy="950912"/>
          </a:xfrm>
          <a:prstGeom prst="rect">
            <a:avLst/>
          </a:prstGeom>
          <a:noFill/>
          <a:ln/>
        </p:spPr>
        <p:txBody>
          <a:bodyPr wrap="square" lIns="0" tIns="0" rIns="0" bIns="0" rtlCol="0" anchor="t">
            <a:normAutofit/>
          </a:bodyPr>
          <a:lstStyle/>
          <a:p>
            <a:pPr marL="0" indent="0" algn="l">
              <a:lnSpc>
                <a:spcPct val="123000"/>
              </a:lnSpc>
              <a:buNone/>
            </a:pPr>
            <a:r>
              <a:rPr lang="en-US" sz="1250" dirty="0">
                <a:solidFill>
                  <a:srgbClr val="EBECEF"/>
                </a:solidFill>
                <a:latin typeface="Epilogue" pitchFamily="34" charset="0"/>
                <a:ea typeface="Epilogue" pitchFamily="34" charset="-122"/>
                <a:cs typeface="Epilogue" pitchFamily="34" charset="-120"/>
              </a:rPr>
              <a:t>Wearables act as highly contextual physical edge nodes. They capture environmental and physiological telemetry data locally, which is then broadcast wirelessly to parent apps on smartphones for cloud processing, storage, and analytics.</a:t>
            </a:r>
            <a:endParaRPr lang="en-US" sz="1250" dirty="0"/>
          </a:p>
        </p:txBody>
      </p:sp>
      <p:sp>
        <p:nvSpPr>
          <p:cNvPr id="8" name="Text 5"/>
          <p:cNvSpPr/>
          <p:nvPr/>
        </p:nvSpPr>
        <p:spPr>
          <a:xfrm>
            <a:off x="661475" y="4569817"/>
            <a:ext cx="6296860" cy="251023"/>
          </a:xfrm>
          <a:prstGeom prst="rect">
            <a:avLst/>
          </a:prstGeom>
          <a:noFill/>
          <a:ln/>
        </p:spPr>
        <p:txBody>
          <a:bodyPr wrap="none" lIns="0" tIns="0" rIns="0" bIns="0" rtlCol="0" anchor="t"/>
          <a:lstStyle/>
          <a:p>
            <a:pPr marL="0" indent="0" algn="l">
              <a:lnSpc>
                <a:spcPct val="104000"/>
              </a:lnSpc>
              <a:buNone/>
            </a:pPr>
            <a:r>
              <a:rPr lang="en-US" sz="1550" dirty="0">
                <a:solidFill>
                  <a:srgbClr val="FFFFFF"/>
                </a:solidFill>
                <a:latin typeface="Fraunces Medium" pitchFamily="34" charset="0"/>
                <a:ea typeface="Fraunces Medium" pitchFamily="34" charset="-122"/>
                <a:cs typeface="Fraunces Medium" pitchFamily="34" charset="-120"/>
              </a:rPr>
              <a:t>Primary Archetypes</a:t>
            </a:r>
            <a:endParaRPr lang="en-US" sz="1550" dirty="0"/>
          </a:p>
        </p:txBody>
      </p:sp>
      <p:sp>
        <p:nvSpPr>
          <p:cNvPr id="9" name="Shape 6"/>
          <p:cNvSpPr/>
          <p:nvPr/>
        </p:nvSpPr>
        <p:spPr>
          <a:xfrm>
            <a:off x="661475" y="5025628"/>
            <a:ext cx="3080169" cy="584994"/>
          </a:xfrm>
          <a:prstGeom prst="roundRect">
            <a:avLst>
              <a:gd name="adj" fmla="val 11535"/>
            </a:avLst>
          </a:prstGeom>
          <a:solidFill>
            <a:srgbClr val="283157"/>
          </a:solidFill>
          <a:ln w="6350">
            <a:solidFill>
              <a:srgbClr val="414A70"/>
            </a:solidFill>
            <a:prstDash val="solid"/>
          </a:ln>
        </p:spPr>
      </p:sp>
      <p:sp>
        <p:nvSpPr>
          <p:cNvPr id="10" name="Text 7"/>
          <p:cNvSpPr/>
          <p:nvPr/>
        </p:nvSpPr>
        <p:spPr>
          <a:xfrm>
            <a:off x="828456" y="5192613"/>
            <a:ext cx="2746207" cy="251023"/>
          </a:xfrm>
          <a:prstGeom prst="rect">
            <a:avLst/>
          </a:prstGeom>
          <a:noFill/>
          <a:ln/>
        </p:spPr>
        <p:txBody>
          <a:bodyPr wrap="none" lIns="0" tIns="0" rIns="0" bIns="0" rtlCol="0" anchor="t"/>
          <a:lstStyle/>
          <a:p>
            <a:pPr marL="0" indent="0" algn="l">
              <a:lnSpc>
                <a:spcPct val="104000"/>
              </a:lnSpc>
              <a:buNone/>
            </a:pPr>
            <a:r>
              <a:rPr lang="en-US" sz="1550" dirty="0">
                <a:solidFill>
                  <a:srgbClr val="EBECEF"/>
                </a:solidFill>
                <a:latin typeface="Fraunces Medium" pitchFamily="34" charset="0"/>
                <a:ea typeface="Fraunces Medium" pitchFamily="34" charset="-122"/>
                <a:cs typeface="Fraunces Medium" pitchFamily="34" charset="-120"/>
              </a:rPr>
              <a:t>Smart Glasses</a:t>
            </a:r>
            <a:endParaRPr lang="en-US" sz="1550" dirty="0"/>
          </a:p>
        </p:txBody>
      </p:sp>
      <p:sp>
        <p:nvSpPr>
          <p:cNvPr id="11" name="Shape 8"/>
          <p:cNvSpPr/>
          <p:nvPr/>
        </p:nvSpPr>
        <p:spPr>
          <a:xfrm>
            <a:off x="3878165" y="5025628"/>
            <a:ext cx="3080169" cy="584994"/>
          </a:xfrm>
          <a:prstGeom prst="roundRect">
            <a:avLst>
              <a:gd name="adj" fmla="val 11535"/>
            </a:avLst>
          </a:prstGeom>
          <a:solidFill>
            <a:srgbClr val="283157"/>
          </a:solidFill>
          <a:ln w="6350">
            <a:solidFill>
              <a:srgbClr val="414A70"/>
            </a:solidFill>
            <a:prstDash val="solid"/>
          </a:ln>
        </p:spPr>
      </p:sp>
      <p:sp>
        <p:nvSpPr>
          <p:cNvPr id="12" name="Text 9"/>
          <p:cNvSpPr/>
          <p:nvPr/>
        </p:nvSpPr>
        <p:spPr>
          <a:xfrm>
            <a:off x="4045146" y="5192613"/>
            <a:ext cx="2746207" cy="251023"/>
          </a:xfrm>
          <a:prstGeom prst="rect">
            <a:avLst/>
          </a:prstGeom>
          <a:noFill/>
          <a:ln/>
        </p:spPr>
        <p:txBody>
          <a:bodyPr wrap="none" lIns="0" tIns="0" rIns="0" bIns="0" rtlCol="0" anchor="t"/>
          <a:lstStyle/>
          <a:p>
            <a:pPr marL="0" indent="0" algn="l">
              <a:lnSpc>
                <a:spcPct val="104000"/>
              </a:lnSpc>
              <a:buNone/>
            </a:pPr>
            <a:r>
              <a:rPr lang="en-US" sz="1550" dirty="0">
                <a:solidFill>
                  <a:srgbClr val="EBECEF"/>
                </a:solidFill>
                <a:latin typeface="Fraunces Medium" pitchFamily="34" charset="0"/>
                <a:ea typeface="Fraunces Medium" pitchFamily="34" charset="-122"/>
                <a:cs typeface="Fraunces Medium" pitchFamily="34" charset="-120"/>
              </a:rPr>
              <a:t>Smartwatches</a:t>
            </a:r>
            <a:endParaRPr lang="en-US" sz="1550" dirty="0"/>
          </a:p>
        </p:txBody>
      </p:sp>
      <p:sp>
        <p:nvSpPr>
          <p:cNvPr id="13" name="Shape 10"/>
          <p:cNvSpPr/>
          <p:nvPr/>
        </p:nvSpPr>
        <p:spPr>
          <a:xfrm>
            <a:off x="661475" y="5747147"/>
            <a:ext cx="6296860" cy="584994"/>
          </a:xfrm>
          <a:prstGeom prst="roundRect">
            <a:avLst>
              <a:gd name="adj" fmla="val 11535"/>
            </a:avLst>
          </a:prstGeom>
          <a:solidFill>
            <a:srgbClr val="283157"/>
          </a:solidFill>
          <a:ln w="6350">
            <a:solidFill>
              <a:srgbClr val="414A70"/>
            </a:solidFill>
            <a:prstDash val="solid"/>
          </a:ln>
        </p:spPr>
      </p:sp>
      <p:sp>
        <p:nvSpPr>
          <p:cNvPr id="14" name="Text 11"/>
          <p:cNvSpPr/>
          <p:nvPr/>
        </p:nvSpPr>
        <p:spPr>
          <a:xfrm>
            <a:off x="828456" y="5914132"/>
            <a:ext cx="5962898" cy="251023"/>
          </a:xfrm>
          <a:prstGeom prst="rect">
            <a:avLst/>
          </a:prstGeom>
          <a:noFill/>
          <a:ln/>
        </p:spPr>
        <p:txBody>
          <a:bodyPr wrap="none" lIns="0" tIns="0" rIns="0" bIns="0" rtlCol="0" anchor="t"/>
          <a:lstStyle/>
          <a:p>
            <a:pPr marL="0" indent="0" algn="l">
              <a:lnSpc>
                <a:spcPct val="104000"/>
              </a:lnSpc>
              <a:buNone/>
            </a:pPr>
            <a:r>
              <a:rPr lang="en-US" sz="1550" dirty="0">
                <a:solidFill>
                  <a:srgbClr val="EBECEF"/>
                </a:solidFill>
                <a:latin typeface="Fraunces Medium" pitchFamily="34" charset="0"/>
                <a:ea typeface="Fraunces Medium" pitchFamily="34" charset="-122"/>
                <a:cs typeface="Fraunces Medium" pitchFamily="34" charset="-120"/>
              </a:rPr>
              <a:t>Next-Generation Biosensors</a:t>
            </a:r>
            <a:endParaRPr lang="en-US" sz="1550" dirty="0"/>
          </a:p>
        </p:txBody>
      </p:sp>
    </p:spTree>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619809" y="0"/>
            <a:ext cx="4571886" cy="6858000"/>
          </a:xfrm>
          <a:prstGeom prst="rect">
            <a:avLst/>
          </a:prstGeom>
        </p:spPr>
      </p:pic>
      <p:sp>
        <p:nvSpPr>
          <p:cNvPr id="3" name="Text 0"/>
          <p:cNvSpPr/>
          <p:nvPr/>
        </p:nvSpPr>
        <p:spPr>
          <a:xfrm>
            <a:off x="661475" y="567928"/>
            <a:ext cx="6296860" cy="872133"/>
          </a:xfrm>
          <a:prstGeom prst="rect">
            <a:avLst/>
          </a:prstGeom>
          <a:noFill/>
          <a:ln/>
        </p:spPr>
        <p:txBody>
          <a:bodyPr wrap="square" lIns="0" tIns="0" rIns="0" bIns="0" rtlCol="0" anchor="t">
            <a:normAutofit/>
          </a:bodyPr>
          <a:lstStyle/>
          <a:p>
            <a:pPr marL="0" indent="0" algn="l">
              <a:lnSpc>
                <a:spcPct val="104000"/>
              </a:lnSpc>
              <a:buNone/>
            </a:pPr>
            <a:r>
              <a:rPr lang="en-US" sz="2700" dirty="0">
                <a:solidFill>
                  <a:srgbClr val="FFFFFF"/>
                </a:solidFill>
                <a:latin typeface="Fraunces Medium" pitchFamily="34" charset="0"/>
                <a:ea typeface="Fraunces Medium" pitchFamily="34" charset="-122"/>
                <a:cs typeface="Fraunces Medium" pitchFamily="34" charset="-120"/>
              </a:rPr>
              <a:t>Wearable Classifications: Jewelry, Sensors, &amp; Trackers</a:t>
            </a:r>
            <a:endParaRPr lang="en-US" sz="2700" dirty="0"/>
          </a:p>
        </p:txBody>
      </p:sp>
      <p:pic>
        <p:nvPicPr>
          <p:cNvPr id="4"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61475" y="1594545"/>
            <a:ext cx="6296860" cy="1561207"/>
          </a:xfrm>
          <a:prstGeom prst="rect">
            <a:avLst/>
          </a:prstGeom>
        </p:spPr>
      </p:pic>
      <p:sp>
        <p:nvSpPr>
          <p:cNvPr id="5" name="Text 1"/>
          <p:cNvSpPr/>
          <p:nvPr/>
        </p:nvSpPr>
        <p:spPr>
          <a:xfrm>
            <a:off x="3705232" y="1688902"/>
            <a:ext cx="209247" cy="261640"/>
          </a:xfrm>
          <a:prstGeom prst="rect">
            <a:avLst/>
          </a:prstGeom>
          <a:noFill/>
          <a:ln/>
        </p:spPr>
        <p:txBody>
          <a:bodyPr wrap="none" lIns="0" tIns="0" rIns="0" bIns="0" rtlCol="0" anchor="ctr"/>
          <a:lstStyle/>
          <a:p>
            <a:pPr marL="0" indent="0" algn="ctr">
              <a:lnSpc>
                <a:spcPct val="100000"/>
              </a:lnSpc>
              <a:buNone/>
            </a:pPr>
            <a:r>
              <a:rPr lang="en-US" sz="1600" dirty="0">
                <a:solidFill>
                  <a:srgbClr val="EBECEF"/>
                </a:solidFill>
                <a:latin typeface="Fraunces Medium" pitchFamily="34" charset="0"/>
                <a:ea typeface="Fraunces Medium" pitchFamily="34" charset="-122"/>
                <a:cs typeface="Fraunces Medium" pitchFamily="34" charset="-120"/>
              </a:rPr>
              <a:t>1</a:t>
            </a:r>
            <a:endParaRPr lang="en-US" sz="1600" dirty="0"/>
          </a:p>
        </p:txBody>
      </p:sp>
      <p:sp>
        <p:nvSpPr>
          <p:cNvPr id="6" name="Text 2"/>
          <p:cNvSpPr/>
          <p:nvPr/>
        </p:nvSpPr>
        <p:spPr>
          <a:xfrm>
            <a:off x="820022" y="2135188"/>
            <a:ext cx="5979764" cy="217984"/>
          </a:xfrm>
          <a:prstGeom prst="rect">
            <a:avLst/>
          </a:prstGeom>
          <a:noFill/>
          <a:ln/>
        </p:spPr>
        <p:txBody>
          <a:bodyPr wrap="none" lIns="0" tIns="0" rIns="0" bIns="0" rtlCol="0" anchor="t"/>
          <a:lstStyle/>
          <a:p>
            <a:pPr marL="0" indent="0" algn="l">
              <a:lnSpc>
                <a:spcPct val="104000"/>
              </a:lnSpc>
              <a:buNone/>
            </a:pPr>
            <a:r>
              <a:rPr lang="en-US" sz="1350" dirty="0">
                <a:solidFill>
                  <a:srgbClr val="EBECEF"/>
                </a:solidFill>
                <a:latin typeface="Fraunces Medium" pitchFamily="34" charset="0"/>
                <a:ea typeface="Fraunces Medium" pitchFamily="34" charset="-122"/>
                <a:cs typeface="Fraunces Medium" pitchFamily="34" charset="-120"/>
              </a:rPr>
              <a:t>Smart Jewelry &amp; Ornaments</a:t>
            </a:r>
            <a:endParaRPr lang="en-US" sz="1350" dirty="0"/>
          </a:p>
        </p:txBody>
      </p:sp>
      <p:sp>
        <p:nvSpPr>
          <p:cNvPr id="7" name="Text 3"/>
          <p:cNvSpPr/>
          <p:nvPr/>
        </p:nvSpPr>
        <p:spPr>
          <a:xfrm>
            <a:off x="820022" y="2414984"/>
            <a:ext cx="5979764" cy="582216"/>
          </a:xfrm>
          <a:prstGeom prst="rect">
            <a:avLst/>
          </a:prstGeom>
          <a:noFill/>
          <a:ln/>
        </p:spPr>
        <p:txBody>
          <a:bodyPr wrap="square" lIns="0" tIns="0" rIns="0" bIns="0" rtlCol="0" anchor="t">
            <a:normAutofit/>
          </a:bodyPr>
          <a:lstStyle/>
          <a:p>
            <a:pPr marL="0" indent="0" algn="l">
              <a:lnSpc>
                <a:spcPct val="116000"/>
              </a:lnSpc>
              <a:buNone/>
            </a:pPr>
            <a:r>
              <a:rPr lang="en-US" sz="1050" dirty="0">
                <a:solidFill>
                  <a:srgbClr val="EBECEF"/>
                </a:solidFill>
                <a:latin typeface="Epilogue" pitchFamily="34" charset="0"/>
                <a:ea typeface="Epilogue" pitchFamily="34" charset="-122"/>
                <a:cs typeface="Epilogue" pitchFamily="34" charset="-120"/>
              </a:rPr>
              <a:t>Includes smart rings, bracelets, watches, and interactive pins. These miniaturized systems look like traditional luxury items but contain micro-displays and contextual vibration components.</a:t>
            </a:r>
            <a:endParaRPr lang="en-US" sz="1050" dirty="0"/>
          </a:p>
        </p:txBody>
      </p:sp>
      <p:pic>
        <p:nvPicPr>
          <p:cNvPr id="8" name="Image 2"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61475" y="3258741"/>
            <a:ext cx="6296860" cy="1367135"/>
          </a:xfrm>
          <a:prstGeom prst="rect">
            <a:avLst/>
          </a:prstGeom>
        </p:spPr>
      </p:pic>
      <p:sp>
        <p:nvSpPr>
          <p:cNvPr id="9" name="Text 4"/>
          <p:cNvSpPr/>
          <p:nvPr/>
        </p:nvSpPr>
        <p:spPr>
          <a:xfrm>
            <a:off x="3705232" y="3353098"/>
            <a:ext cx="209247" cy="261640"/>
          </a:xfrm>
          <a:prstGeom prst="rect">
            <a:avLst/>
          </a:prstGeom>
          <a:noFill/>
          <a:ln/>
        </p:spPr>
        <p:txBody>
          <a:bodyPr wrap="none" lIns="0" tIns="0" rIns="0" bIns="0" rtlCol="0" anchor="ctr"/>
          <a:lstStyle/>
          <a:p>
            <a:pPr marL="0" indent="0" algn="ctr">
              <a:lnSpc>
                <a:spcPct val="100000"/>
              </a:lnSpc>
              <a:buNone/>
            </a:pPr>
            <a:r>
              <a:rPr lang="en-US" sz="1600" dirty="0">
                <a:solidFill>
                  <a:srgbClr val="EBECEF"/>
                </a:solidFill>
                <a:latin typeface="Fraunces Medium" pitchFamily="34" charset="0"/>
                <a:ea typeface="Fraunces Medium" pitchFamily="34" charset="-122"/>
                <a:cs typeface="Fraunces Medium" pitchFamily="34" charset="-120"/>
              </a:rPr>
              <a:t>2</a:t>
            </a:r>
            <a:endParaRPr lang="en-US" sz="1600" dirty="0"/>
          </a:p>
        </p:txBody>
      </p:sp>
      <p:sp>
        <p:nvSpPr>
          <p:cNvPr id="10" name="Text 5"/>
          <p:cNvSpPr/>
          <p:nvPr/>
        </p:nvSpPr>
        <p:spPr>
          <a:xfrm>
            <a:off x="820022" y="3799384"/>
            <a:ext cx="5979764" cy="217984"/>
          </a:xfrm>
          <a:prstGeom prst="rect">
            <a:avLst/>
          </a:prstGeom>
          <a:noFill/>
          <a:ln/>
        </p:spPr>
        <p:txBody>
          <a:bodyPr wrap="none" lIns="0" tIns="0" rIns="0" bIns="0" rtlCol="0" anchor="t"/>
          <a:lstStyle/>
          <a:p>
            <a:pPr marL="0" indent="0" algn="l">
              <a:lnSpc>
                <a:spcPct val="104000"/>
              </a:lnSpc>
              <a:buNone/>
            </a:pPr>
            <a:r>
              <a:rPr lang="en-US" sz="1350" dirty="0">
                <a:solidFill>
                  <a:srgbClr val="EBECEF"/>
                </a:solidFill>
                <a:latin typeface="Fraunces Medium" pitchFamily="34" charset="0"/>
                <a:ea typeface="Fraunces Medium" pitchFamily="34" charset="-122"/>
                <a:cs typeface="Fraunces Medium" pitchFamily="34" charset="-120"/>
              </a:rPr>
              <a:t>Body-Mounted Biosensors</a:t>
            </a:r>
            <a:endParaRPr lang="en-US" sz="1350" dirty="0"/>
          </a:p>
        </p:txBody>
      </p:sp>
      <p:sp>
        <p:nvSpPr>
          <p:cNvPr id="11" name="Text 6"/>
          <p:cNvSpPr/>
          <p:nvPr/>
        </p:nvSpPr>
        <p:spPr>
          <a:xfrm>
            <a:off x="820022" y="4079180"/>
            <a:ext cx="5979764" cy="388144"/>
          </a:xfrm>
          <a:prstGeom prst="rect">
            <a:avLst/>
          </a:prstGeom>
          <a:noFill/>
          <a:ln/>
        </p:spPr>
        <p:txBody>
          <a:bodyPr wrap="square" lIns="0" tIns="0" rIns="0" bIns="0" rtlCol="0" anchor="t">
            <a:normAutofit/>
          </a:bodyPr>
          <a:lstStyle/>
          <a:p>
            <a:pPr marL="0" indent="0" algn="l">
              <a:lnSpc>
                <a:spcPct val="116000"/>
              </a:lnSpc>
              <a:buNone/>
            </a:pPr>
            <a:r>
              <a:rPr lang="en-US" sz="1050" dirty="0">
                <a:solidFill>
                  <a:srgbClr val="EBECEF"/>
                </a:solidFill>
                <a:latin typeface="Epilogue" pitchFamily="34" charset="0"/>
                <a:ea typeface="Epilogue" pitchFamily="34" charset="-122"/>
                <a:cs typeface="Epilogue" pitchFamily="34" charset="-120"/>
              </a:rPr>
              <a:t>Specialized medical-grade sensors placed directly on human skin. Their goal is to persistently monitor, process, and transmit biological data to healthcare databases.</a:t>
            </a:r>
            <a:endParaRPr lang="en-US" sz="1050" dirty="0"/>
          </a:p>
        </p:txBody>
      </p:sp>
      <p:pic>
        <p:nvPicPr>
          <p:cNvPr id="12" name="Image 3"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61475" y="4728865"/>
            <a:ext cx="6296860" cy="1561207"/>
          </a:xfrm>
          <a:prstGeom prst="rect">
            <a:avLst/>
          </a:prstGeom>
        </p:spPr>
      </p:pic>
      <p:sp>
        <p:nvSpPr>
          <p:cNvPr id="13" name="Text 7"/>
          <p:cNvSpPr/>
          <p:nvPr/>
        </p:nvSpPr>
        <p:spPr>
          <a:xfrm>
            <a:off x="3705232" y="4823222"/>
            <a:ext cx="209247" cy="261640"/>
          </a:xfrm>
          <a:prstGeom prst="rect">
            <a:avLst/>
          </a:prstGeom>
          <a:noFill/>
          <a:ln/>
        </p:spPr>
        <p:txBody>
          <a:bodyPr wrap="none" lIns="0" tIns="0" rIns="0" bIns="0" rtlCol="0" anchor="ctr"/>
          <a:lstStyle/>
          <a:p>
            <a:pPr marL="0" indent="0" algn="ctr">
              <a:lnSpc>
                <a:spcPct val="100000"/>
              </a:lnSpc>
              <a:buNone/>
            </a:pPr>
            <a:r>
              <a:rPr lang="en-US" sz="1600" dirty="0">
                <a:solidFill>
                  <a:srgbClr val="EBECEF"/>
                </a:solidFill>
                <a:latin typeface="Fraunces Medium" pitchFamily="34" charset="0"/>
                <a:ea typeface="Fraunces Medium" pitchFamily="34" charset="-122"/>
                <a:cs typeface="Fraunces Medium" pitchFamily="34" charset="-120"/>
              </a:rPr>
              <a:t>3</a:t>
            </a:r>
            <a:endParaRPr lang="en-US" sz="1600" dirty="0"/>
          </a:p>
        </p:txBody>
      </p:sp>
      <p:sp>
        <p:nvSpPr>
          <p:cNvPr id="14" name="Text 8"/>
          <p:cNvSpPr/>
          <p:nvPr/>
        </p:nvSpPr>
        <p:spPr>
          <a:xfrm>
            <a:off x="820022" y="5269508"/>
            <a:ext cx="5979764" cy="217984"/>
          </a:xfrm>
          <a:prstGeom prst="rect">
            <a:avLst/>
          </a:prstGeom>
          <a:noFill/>
          <a:ln/>
        </p:spPr>
        <p:txBody>
          <a:bodyPr wrap="none" lIns="0" tIns="0" rIns="0" bIns="0" rtlCol="0" anchor="t"/>
          <a:lstStyle/>
          <a:p>
            <a:pPr marL="0" indent="0" algn="l">
              <a:lnSpc>
                <a:spcPct val="104000"/>
              </a:lnSpc>
              <a:buNone/>
            </a:pPr>
            <a:r>
              <a:rPr lang="en-US" sz="1350" dirty="0">
                <a:solidFill>
                  <a:srgbClr val="EBECEF"/>
                </a:solidFill>
                <a:latin typeface="Fraunces Medium" pitchFamily="34" charset="0"/>
                <a:ea typeface="Fraunces Medium" pitchFamily="34" charset="-122"/>
                <a:cs typeface="Fraunces Medium" pitchFamily="34" charset="-120"/>
              </a:rPr>
              <a:t>Fitness Trackers</a:t>
            </a:r>
            <a:endParaRPr lang="en-US" sz="1350" dirty="0"/>
          </a:p>
        </p:txBody>
      </p:sp>
      <p:sp>
        <p:nvSpPr>
          <p:cNvPr id="15" name="Text 9"/>
          <p:cNvSpPr/>
          <p:nvPr/>
        </p:nvSpPr>
        <p:spPr>
          <a:xfrm>
            <a:off x="820022" y="5549305"/>
            <a:ext cx="5979764" cy="582216"/>
          </a:xfrm>
          <a:prstGeom prst="rect">
            <a:avLst/>
          </a:prstGeom>
          <a:noFill/>
          <a:ln/>
        </p:spPr>
        <p:txBody>
          <a:bodyPr wrap="square" lIns="0" tIns="0" rIns="0" bIns="0" rtlCol="0" anchor="t">
            <a:normAutofit/>
          </a:bodyPr>
          <a:lstStyle/>
          <a:p>
            <a:pPr marL="0" indent="0" algn="l">
              <a:lnSpc>
                <a:spcPct val="116000"/>
              </a:lnSpc>
              <a:buNone/>
            </a:pPr>
            <a:r>
              <a:rPr lang="en-US" sz="1050" dirty="0">
                <a:solidFill>
                  <a:srgbClr val="EBECEF"/>
                </a:solidFill>
                <a:latin typeface="Epilogue" pitchFamily="34" charset="0"/>
                <a:ea typeface="Epilogue" pitchFamily="34" charset="-122"/>
                <a:cs typeface="Epilogue" pitchFamily="34" charset="-120"/>
              </a:rPr>
              <a:t>Wearables integrated into everyday wristbands, straps, or active headbands. They track physical movement metrics, monitor vital signs, and sync seamlessly with smartphones.</a:t>
            </a:r>
            <a:endParaRPr lang="en-US" sz="1050" dirty="0"/>
          </a:p>
        </p:txBody>
      </p:sp>
    </p:spTree>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619809" y="0"/>
            <a:ext cx="4571886" cy="6858000"/>
          </a:xfrm>
          <a:prstGeom prst="rect">
            <a:avLst/>
          </a:prstGeom>
        </p:spPr>
      </p:pic>
      <p:sp>
        <p:nvSpPr>
          <p:cNvPr id="3" name="Text 0"/>
          <p:cNvSpPr/>
          <p:nvPr/>
        </p:nvSpPr>
        <p:spPr>
          <a:xfrm>
            <a:off x="661475" y="547985"/>
            <a:ext cx="6296860" cy="1420416"/>
          </a:xfrm>
          <a:prstGeom prst="rect">
            <a:avLst/>
          </a:prstGeom>
          <a:noFill/>
          <a:ln/>
        </p:spPr>
        <p:txBody>
          <a:bodyPr wrap="square" lIns="0" tIns="0" rIns="0" bIns="0" rtlCol="0" anchor="t">
            <a:normAutofit/>
          </a:bodyPr>
          <a:lstStyle/>
          <a:p>
            <a:pPr marL="0" indent="0" algn="l">
              <a:lnSpc>
                <a:spcPct val="104000"/>
              </a:lnSpc>
              <a:buNone/>
            </a:pPr>
            <a:r>
              <a:rPr lang="en-US" sz="2950" dirty="0">
                <a:solidFill>
                  <a:srgbClr val="FFFFFF"/>
                </a:solidFill>
                <a:latin typeface="Fraunces Medium" pitchFamily="34" charset="0"/>
                <a:ea typeface="Fraunces Medium" pitchFamily="34" charset="-122"/>
                <a:cs typeface="Fraunces Medium" pitchFamily="34" charset="-120"/>
              </a:rPr>
              <a:t>Wearable Classifications: Glasses, Watches, &amp; Head-Mounted Displays</a:t>
            </a:r>
            <a:endParaRPr lang="en-US" sz="2950" dirty="0"/>
          </a:p>
        </p:txBody>
      </p:sp>
      <p:pic>
        <p:nvPicPr>
          <p:cNvPr id="4"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61475" y="2150566"/>
            <a:ext cx="6296860" cy="1305520"/>
          </a:xfrm>
          <a:prstGeom prst="rect">
            <a:avLst/>
          </a:prstGeom>
        </p:spPr>
      </p:pic>
      <p:sp>
        <p:nvSpPr>
          <p:cNvPr id="5" name="Text 1"/>
          <p:cNvSpPr/>
          <p:nvPr/>
        </p:nvSpPr>
        <p:spPr>
          <a:xfrm>
            <a:off x="866753" y="2661245"/>
            <a:ext cx="227205" cy="284063"/>
          </a:xfrm>
          <a:prstGeom prst="rect">
            <a:avLst/>
          </a:prstGeom>
          <a:noFill/>
          <a:ln/>
        </p:spPr>
        <p:txBody>
          <a:bodyPr wrap="none" lIns="0" tIns="0" rIns="0" bIns="0" rtlCol="0" anchor="ctr"/>
          <a:lstStyle/>
          <a:p>
            <a:pPr marL="0" indent="0" algn="ctr">
              <a:lnSpc>
                <a:spcPct val="100000"/>
              </a:lnSpc>
              <a:buNone/>
            </a:pPr>
            <a:r>
              <a:rPr lang="en-US" sz="1750" dirty="0">
                <a:solidFill>
                  <a:srgbClr val="EBECEF"/>
                </a:solidFill>
                <a:latin typeface="Fraunces Medium" pitchFamily="34" charset="0"/>
                <a:ea typeface="Fraunces Medium" pitchFamily="34" charset="-122"/>
                <a:cs typeface="Fraunces Medium" pitchFamily="34" charset="-120"/>
              </a:rPr>
              <a:t>1</a:t>
            </a:r>
            <a:endParaRPr lang="en-US" sz="1750" dirty="0"/>
          </a:p>
        </p:txBody>
      </p:sp>
      <p:sp>
        <p:nvSpPr>
          <p:cNvPr id="6" name="Text 2"/>
          <p:cNvSpPr/>
          <p:nvPr/>
        </p:nvSpPr>
        <p:spPr>
          <a:xfrm>
            <a:off x="1407978" y="2321123"/>
            <a:ext cx="5379804" cy="236736"/>
          </a:xfrm>
          <a:prstGeom prst="rect">
            <a:avLst/>
          </a:prstGeom>
          <a:noFill/>
          <a:ln/>
        </p:spPr>
        <p:txBody>
          <a:bodyPr wrap="none" lIns="0" tIns="0" rIns="0" bIns="0" rtlCol="0" anchor="t"/>
          <a:lstStyle/>
          <a:p>
            <a:pPr marL="0" indent="0" algn="l">
              <a:lnSpc>
                <a:spcPct val="104000"/>
              </a:lnSpc>
              <a:buNone/>
            </a:pPr>
            <a:r>
              <a:rPr lang="en-US" sz="1450" dirty="0">
                <a:solidFill>
                  <a:srgbClr val="EBECEF"/>
                </a:solidFill>
                <a:latin typeface="Fraunces Medium" pitchFamily="34" charset="0"/>
                <a:ea typeface="Fraunces Medium" pitchFamily="34" charset="-122"/>
                <a:cs typeface="Fraunces Medium" pitchFamily="34" charset="-120"/>
              </a:rPr>
              <a:t>Smart Glasses</a:t>
            </a:r>
            <a:endParaRPr lang="en-US" sz="1450" dirty="0"/>
          </a:p>
        </p:txBody>
      </p:sp>
      <p:sp>
        <p:nvSpPr>
          <p:cNvPr id="7" name="Text 3"/>
          <p:cNvSpPr/>
          <p:nvPr/>
        </p:nvSpPr>
        <p:spPr>
          <a:xfrm>
            <a:off x="1407978" y="2630686"/>
            <a:ext cx="5379804" cy="654844"/>
          </a:xfrm>
          <a:prstGeom prst="rect">
            <a:avLst/>
          </a:prstGeom>
          <a:noFill/>
          <a:ln/>
        </p:spPr>
        <p:txBody>
          <a:bodyPr wrap="square" lIns="0" tIns="0" rIns="0" bIns="0" rtlCol="0" anchor="t">
            <a:normAutofit/>
          </a:bodyPr>
          <a:lstStyle/>
          <a:p>
            <a:pPr marL="0" indent="0" algn="l">
              <a:lnSpc>
                <a:spcPct val="120000"/>
              </a:lnSpc>
              <a:buNone/>
            </a:pPr>
            <a:r>
              <a:rPr lang="en-US" sz="1150" dirty="0">
                <a:solidFill>
                  <a:srgbClr val="EBECEF"/>
                </a:solidFill>
                <a:latin typeface="Epilogue" pitchFamily="34" charset="0"/>
                <a:ea typeface="Epilogue" pitchFamily="34" charset="-122"/>
                <a:cs typeface="Epilogue" pitchFamily="34" charset="-120"/>
              </a:rPr>
              <a:t>Optical head-mounted displays (OHMDs) that project digital information directly into the user's field of vision. They often integrate voice commands and gesture recognition for hands-free operation.</a:t>
            </a:r>
            <a:endParaRPr lang="en-US" sz="1150" dirty="0"/>
          </a:p>
        </p:txBody>
      </p:sp>
      <p:pic>
        <p:nvPicPr>
          <p:cNvPr id="8" name="Image 2"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61475" y="3577530"/>
            <a:ext cx="6296860" cy="1305520"/>
          </a:xfrm>
          <a:prstGeom prst="rect">
            <a:avLst/>
          </a:prstGeom>
        </p:spPr>
      </p:pic>
      <p:sp>
        <p:nvSpPr>
          <p:cNvPr id="9" name="Text 4"/>
          <p:cNvSpPr/>
          <p:nvPr/>
        </p:nvSpPr>
        <p:spPr>
          <a:xfrm>
            <a:off x="866753" y="4088209"/>
            <a:ext cx="227205" cy="284063"/>
          </a:xfrm>
          <a:prstGeom prst="rect">
            <a:avLst/>
          </a:prstGeom>
          <a:noFill/>
          <a:ln/>
        </p:spPr>
        <p:txBody>
          <a:bodyPr wrap="none" lIns="0" tIns="0" rIns="0" bIns="0" rtlCol="0" anchor="ctr"/>
          <a:lstStyle/>
          <a:p>
            <a:pPr marL="0" indent="0" algn="ctr">
              <a:lnSpc>
                <a:spcPct val="100000"/>
              </a:lnSpc>
              <a:buNone/>
            </a:pPr>
            <a:r>
              <a:rPr lang="en-US" sz="1750" dirty="0">
                <a:solidFill>
                  <a:srgbClr val="EBECEF"/>
                </a:solidFill>
                <a:latin typeface="Fraunces Medium" pitchFamily="34" charset="0"/>
                <a:ea typeface="Fraunces Medium" pitchFamily="34" charset="-122"/>
                <a:cs typeface="Fraunces Medium" pitchFamily="34" charset="-120"/>
              </a:rPr>
              <a:t>2</a:t>
            </a:r>
            <a:endParaRPr lang="en-US" sz="1750" dirty="0"/>
          </a:p>
        </p:txBody>
      </p:sp>
      <p:sp>
        <p:nvSpPr>
          <p:cNvPr id="10" name="Text 5"/>
          <p:cNvSpPr/>
          <p:nvPr/>
        </p:nvSpPr>
        <p:spPr>
          <a:xfrm>
            <a:off x="1407978" y="3748088"/>
            <a:ext cx="5379804" cy="236736"/>
          </a:xfrm>
          <a:prstGeom prst="rect">
            <a:avLst/>
          </a:prstGeom>
          <a:noFill/>
          <a:ln/>
        </p:spPr>
        <p:txBody>
          <a:bodyPr wrap="none" lIns="0" tIns="0" rIns="0" bIns="0" rtlCol="0" anchor="t"/>
          <a:lstStyle/>
          <a:p>
            <a:pPr marL="0" indent="0" algn="l">
              <a:lnSpc>
                <a:spcPct val="104000"/>
              </a:lnSpc>
              <a:buNone/>
            </a:pPr>
            <a:r>
              <a:rPr lang="en-US" sz="1450" dirty="0">
                <a:solidFill>
                  <a:srgbClr val="EBECEF"/>
                </a:solidFill>
                <a:latin typeface="Fraunces Medium" pitchFamily="34" charset="0"/>
                <a:ea typeface="Fraunces Medium" pitchFamily="34" charset="-122"/>
                <a:cs typeface="Fraunces Medium" pitchFamily="34" charset="-120"/>
              </a:rPr>
              <a:t>Smartwatches</a:t>
            </a:r>
            <a:endParaRPr lang="en-US" sz="1450" dirty="0"/>
          </a:p>
        </p:txBody>
      </p:sp>
      <p:sp>
        <p:nvSpPr>
          <p:cNvPr id="11" name="Text 6"/>
          <p:cNvSpPr/>
          <p:nvPr/>
        </p:nvSpPr>
        <p:spPr>
          <a:xfrm>
            <a:off x="1407978" y="4057650"/>
            <a:ext cx="5379804" cy="654844"/>
          </a:xfrm>
          <a:prstGeom prst="rect">
            <a:avLst/>
          </a:prstGeom>
          <a:noFill/>
          <a:ln/>
        </p:spPr>
        <p:txBody>
          <a:bodyPr wrap="square" lIns="0" tIns="0" rIns="0" bIns="0" rtlCol="0" anchor="t">
            <a:normAutofit/>
          </a:bodyPr>
          <a:lstStyle/>
          <a:p>
            <a:pPr marL="0" indent="0" algn="l">
              <a:lnSpc>
                <a:spcPct val="120000"/>
              </a:lnSpc>
              <a:buNone/>
            </a:pPr>
            <a:r>
              <a:rPr lang="en-US" sz="1150" dirty="0">
                <a:solidFill>
                  <a:srgbClr val="EBECEF"/>
                </a:solidFill>
                <a:latin typeface="Epilogue" pitchFamily="34" charset="0"/>
                <a:ea typeface="Epilogue" pitchFamily="34" charset="-122"/>
                <a:cs typeface="Epilogue" pitchFamily="34" charset="-120"/>
              </a:rPr>
              <a:t>Wrist-worn computers that extend smartphone functionality. They handle notifications, health monitoring, GPS tracking, and contactless payments.</a:t>
            </a:r>
            <a:endParaRPr lang="en-US" sz="1150" dirty="0"/>
          </a:p>
        </p:txBody>
      </p:sp>
      <p:pic>
        <p:nvPicPr>
          <p:cNvPr id="12" name="Image 3"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61475" y="5004495"/>
            <a:ext cx="6296860" cy="1305520"/>
          </a:xfrm>
          <a:prstGeom prst="rect">
            <a:avLst/>
          </a:prstGeom>
        </p:spPr>
      </p:pic>
      <p:sp>
        <p:nvSpPr>
          <p:cNvPr id="13" name="Text 7"/>
          <p:cNvSpPr/>
          <p:nvPr/>
        </p:nvSpPr>
        <p:spPr>
          <a:xfrm>
            <a:off x="866753" y="5515173"/>
            <a:ext cx="227205" cy="284063"/>
          </a:xfrm>
          <a:prstGeom prst="rect">
            <a:avLst/>
          </a:prstGeom>
          <a:noFill/>
          <a:ln/>
        </p:spPr>
        <p:txBody>
          <a:bodyPr wrap="none" lIns="0" tIns="0" rIns="0" bIns="0" rtlCol="0" anchor="ctr"/>
          <a:lstStyle/>
          <a:p>
            <a:pPr marL="0" indent="0" algn="ctr">
              <a:lnSpc>
                <a:spcPct val="100000"/>
              </a:lnSpc>
              <a:buNone/>
            </a:pPr>
            <a:r>
              <a:rPr lang="en-US" sz="1750" dirty="0">
                <a:solidFill>
                  <a:srgbClr val="EBECEF"/>
                </a:solidFill>
                <a:latin typeface="Fraunces Medium" pitchFamily="34" charset="0"/>
                <a:ea typeface="Fraunces Medium" pitchFamily="34" charset="-122"/>
                <a:cs typeface="Fraunces Medium" pitchFamily="34" charset="-120"/>
              </a:rPr>
              <a:t>3</a:t>
            </a:r>
            <a:endParaRPr lang="en-US" sz="1750" dirty="0"/>
          </a:p>
        </p:txBody>
      </p:sp>
      <p:sp>
        <p:nvSpPr>
          <p:cNvPr id="14" name="Text 8"/>
          <p:cNvSpPr/>
          <p:nvPr/>
        </p:nvSpPr>
        <p:spPr>
          <a:xfrm>
            <a:off x="1407978" y="5175052"/>
            <a:ext cx="5379804" cy="236736"/>
          </a:xfrm>
          <a:prstGeom prst="rect">
            <a:avLst/>
          </a:prstGeom>
          <a:noFill/>
          <a:ln/>
        </p:spPr>
        <p:txBody>
          <a:bodyPr wrap="none" lIns="0" tIns="0" rIns="0" bIns="0" rtlCol="0" anchor="t"/>
          <a:lstStyle/>
          <a:p>
            <a:pPr marL="0" indent="0" algn="l">
              <a:lnSpc>
                <a:spcPct val="104000"/>
              </a:lnSpc>
              <a:buNone/>
            </a:pPr>
            <a:r>
              <a:rPr lang="en-US" sz="1450" dirty="0">
                <a:solidFill>
                  <a:srgbClr val="EBECEF"/>
                </a:solidFill>
                <a:latin typeface="Fraunces Medium" pitchFamily="34" charset="0"/>
                <a:ea typeface="Fraunces Medium" pitchFamily="34" charset="-122"/>
                <a:cs typeface="Fraunces Medium" pitchFamily="34" charset="-120"/>
              </a:rPr>
              <a:t>Head-Mounted Displays (HMDs)</a:t>
            </a:r>
            <a:endParaRPr lang="en-US" sz="1450" dirty="0"/>
          </a:p>
        </p:txBody>
      </p:sp>
      <p:sp>
        <p:nvSpPr>
          <p:cNvPr id="15" name="Text 9"/>
          <p:cNvSpPr/>
          <p:nvPr/>
        </p:nvSpPr>
        <p:spPr>
          <a:xfrm>
            <a:off x="1407978" y="5484614"/>
            <a:ext cx="5379804" cy="654844"/>
          </a:xfrm>
          <a:prstGeom prst="rect">
            <a:avLst/>
          </a:prstGeom>
          <a:noFill/>
          <a:ln/>
        </p:spPr>
        <p:txBody>
          <a:bodyPr wrap="square" lIns="0" tIns="0" rIns="0" bIns="0" rtlCol="0" anchor="t">
            <a:normAutofit/>
          </a:bodyPr>
          <a:lstStyle/>
          <a:p>
            <a:pPr marL="0" indent="0" algn="l">
              <a:lnSpc>
                <a:spcPct val="120000"/>
              </a:lnSpc>
              <a:buNone/>
            </a:pPr>
            <a:r>
              <a:rPr lang="en-US" sz="1150" dirty="0">
                <a:solidFill>
                  <a:srgbClr val="EBECEF"/>
                </a:solidFill>
                <a:latin typeface="Epilogue" pitchFamily="34" charset="0"/>
                <a:ea typeface="Epilogue" pitchFamily="34" charset="-122"/>
                <a:cs typeface="Epilogue" pitchFamily="34" charset="-120"/>
              </a:rPr>
              <a:t>Advanced immersive devices used for Augmented Reality (AR) and Virtual Reality (VR) experiences. They overlay digital content onto the physical world or create fully simulated environments.</a:t>
            </a:r>
            <a:endParaRPr lang="en-US" sz="1150" dirty="0"/>
          </a:p>
        </p:txBody>
      </p:sp>
    </p:spTree>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936</Words>
  <Application>Microsoft Office PowerPoint</Application>
  <PresentationFormat>Widescreen</PresentationFormat>
  <Paragraphs>91</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Epilogue Bold</vt:lpstr>
      <vt:lpstr>Fraunces Medium</vt:lpstr>
      <vt:lpstr>Epilogue</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Joshua Valencia</cp:lastModifiedBy>
  <cp:revision>2</cp:revision>
  <dcterms:created xsi:type="dcterms:W3CDTF">2026-07-08T06:32:57Z</dcterms:created>
  <dcterms:modified xsi:type="dcterms:W3CDTF">2026-07-08T06:34:11Z</dcterms:modified>
</cp:coreProperties>
</file>