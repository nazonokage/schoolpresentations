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embeddedFontLst>
    <p:embeddedFont>
      <p:font typeface="Epilogue Thin"/>
      <p:regular r:id="rId201314"/>
    </p:embeddedFont>
    <p:embeddedFont>
      <p:font typeface="Epilogue ExtraLight"/>
      <p:regular r:id="rId201315"/>
    </p:embeddedFont>
    <p:embeddedFont>
      <p:font typeface="Epilogue Light"/>
      <p:regular r:id="rId201316"/>
    </p:embeddedFont>
    <p:embeddedFont>
      <p:font typeface="Epilogue"/>
      <p:regular r:id="rId201317"/>
    </p:embeddedFont>
    <p:embeddedFont>
      <p:font typeface="Epilogue Medium"/>
      <p:regular r:id="rId201318"/>
    </p:embeddedFont>
    <p:embeddedFont>
      <p:font typeface="Epilogue SemiBold"/>
      <p:regular r:id="rId201319"/>
    </p:embeddedFont>
    <p:embeddedFont>
      <p:font typeface="Epilogue ExtraBold"/>
      <p:regular r:id="rId201320"/>
    </p:embeddedFont>
    <p:embeddedFont>
      <p:font typeface="Epilogue Black"/>
      <p:regular r:id="rId201321"/>
    </p:embeddedFont>
    <p:embeddedFont>
      <p:font typeface="Epilogue Bold"/>
      <p:regular r:id="rId201322"/>
    </p:embeddedFont>
    <p:embeddedFont>
      <p:font typeface="Fraunces Light"/>
      <p:regular r:id="rId201323"/>
    </p:embeddedFont>
    <p:embeddedFont>
      <p:font typeface="Fraunces Thin"/>
      <p:regular r:id="rId201324"/>
    </p:embeddedFont>
    <p:embeddedFont>
      <p:font typeface="Fraunces ExtraLight"/>
      <p:regular r:id="rId201325"/>
    </p:embeddedFont>
    <p:embeddedFont>
      <p:font typeface="Fraunces"/>
      <p:regular r:id="rId201326"/>
    </p:embeddedFont>
    <p:embeddedFont>
      <p:font typeface="Fraunces Medium"/>
      <p:regular r:id="rId201327"/>
    </p:embeddedFont>
    <p:embeddedFont>
      <p:font typeface="Fraunces SemiBold"/>
      <p:regular r:id="rId201328"/>
    </p:embeddedFont>
    <p:embeddedFont>
      <p:font typeface="Fraunces Bold"/>
      <p:regular r:id="rId201329"/>
    </p:embeddedFont>
    <p:embeddedFont>
      <p:font typeface="Fraunces ExtraBold"/>
      <p:regular r:id="rId201330"/>
    </p:embeddedFont>
    <p:embeddedFont>
      <p:font typeface="Fraunces Black"/>
      <p:regular r:id="rId20133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 Id="rId201322" Target="fonts/201322.fntdata" Type="http://schemas.openxmlformats.org/officeDocument/2006/relationships/font"/><Relationship Id="rId201323" Target="fonts/201323.fntdata" Type="http://schemas.openxmlformats.org/officeDocument/2006/relationships/font"/><Relationship Id="rId201324" Target="fonts/201324.fntdata" Type="http://schemas.openxmlformats.org/officeDocument/2006/relationships/font"/><Relationship Id="rId201325" Target="fonts/201325.fntdata" Type="http://schemas.openxmlformats.org/officeDocument/2006/relationships/font"/><Relationship Id="rId201326" Target="fonts/201326.fntdata" Type="http://schemas.openxmlformats.org/officeDocument/2006/relationships/font"/><Relationship Id="rId201327" Target="fonts/201327.fntdata" Type="http://schemas.openxmlformats.org/officeDocument/2006/relationships/font"/><Relationship Id="rId201328" Target="fonts/201328.fntdata" Type="http://schemas.openxmlformats.org/officeDocument/2006/relationships/font"/><Relationship Id="rId201329" Target="fonts/201329.fntdata" Type="http://schemas.openxmlformats.org/officeDocument/2006/relationships/font"/><Relationship Id="rId201330" Target="fonts/201330.fntdata" Type="http://schemas.openxmlformats.org/officeDocument/2006/relationships/font"/><Relationship Id="rId201331" Target="fonts/201331.fntdata" Type="http://schemas.openxmlformats.org/officeDocument/2006/relationships/font"/><Relationship Id="rId201332" Target="fonts/201332.fntdata" Type="http://schemas.openxmlformats.org/officeDocument/2006/relationships/font"/><Relationship Id="rId201333" Target="fonts/201333.fntdata" Type="http://schemas.openxmlformats.org/officeDocument/2006/relationships/font"/><Relationship Id="rId201334" Target="fonts/201334.fntdata" Type="http://schemas.openxmlformats.org/officeDocument/2006/relationships/font"/><Relationship Id="rId201335" Target="fonts/201335.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A8AFCC"/>
          </a:solidFill>
          <a:ln/>
        </p:spPr>
      </p:sp>
      <p:sp>
        <p:nvSpPr>
          <p:cNvPr id="3" name="Shape 1"/>
          <p:cNvSpPr/>
          <p:nvPr/>
        </p:nvSpPr>
        <p:spPr>
          <a:xfrm>
            <a:off x="0" y="0"/>
            <a:ext cx="12191695" cy="6858000"/>
          </a:xfrm>
          <a:prstGeom prst="rect">
            <a:avLst/>
          </a:prstGeom>
          <a:solidFill>
            <a:srgbClr val="080E26"/>
          </a:solidFill>
          <a:ln/>
        </p:spPr>
      </p:sp>
      <p:pic>
        <p:nvPicPr>
          <p:cNvPr id="4"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svg"/><Relationship Id="rId4" Type="http://schemas.openxmlformats.org/officeDocument/2006/relationships/image" Target="../media/image-8-2.png"/><Relationship Id="rId5" Type="http://schemas.openxmlformats.org/officeDocument/2006/relationships/image" Target="../media/image-8-3.svg"/><Relationship Id="rId6" Type="http://schemas.openxmlformats.org/officeDocument/2006/relationships/image" Target="../media/image-4-2.png"/><Relationship Id="rId7" Type="http://schemas.openxmlformats.org/officeDocument/2006/relationships/slideLayout" Target="../slideLayouts/slideLayout2.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7619809" y="0"/>
            <a:ext cx="4571886" cy="6858000"/>
          </a:xfrm>
          <a:prstGeom prst="rect">
            <a:avLst/>
          </a:prstGeom>
          <a:solidFill>
            <a:srgbClr val="283157"/>
          </a:solidFill>
          <a:ln/>
        </p:spPr>
      </p:sp>
      <p:pic>
        <p:nvPicPr>
          <p:cNvPr id="3" name="Image 0" descr="preencoded.png">    </p:cNvPr>
          <p:cNvPicPr>
            <a:picLocks noChangeAspect="1"/>
          </p:cNvPicPr>
          <p:nvPr/>
        </p:nvPicPr>
        <p:blipFill>
          <a:blip r:embed="rId1"/>
          <a:stretch>
            <a:fillRect/>
          </a:stretch>
        </p:blipFill>
        <p:spPr>
          <a:xfrm>
            <a:off x="7714263" y="141684"/>
            <a:ext cx="4382978" cy="6574631"/>
          </a:xfrm>
          <a:prstGeom prst="rect">
            <a:avLst/>
          </a:prstGeom>
        </p:spPr>
      </p:pic>
      <p:sp>
        <p:nvSpPr>
          <p:cNvPr id="4" name="Text 1"/>
          <p:cNvSpPr/>
          <p:nvPr/>
        </p:nvSpPr>
        <p:spPr>
          <a:xfrm>
            <a:off x="661475" y="211028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dirty="0">
                <a:solidFill>
                  <a:srgbClr val="FFFFFF"/>
                </a:solidFill>
                <a:latin typeface="Fraunces Medium" pitchFamily="34" charset="0"/>
                <a:ea typeface="Fraunces Medium" pitchFamily="34" charset="-122"/>
                <a:cs typeface="Fraunces Medium" pitchFamily="34" charset="-120"/>
              </a:rPr>
              <a:t>Introduction to Data Structures &amp; Algorithms</a:t>
            </a:r>
            <a:endParaRPr lang="en-US" sz="3700" dirty="0"/>
          </a:p>
        </p:txBody>
      </p:sp>
      <p:sp>
        <p:nvSpPr>
          <p:cNvPr id="5" name="Text 2"/>
          <p:cNvSpPr/>
          <p:nvPr/>
        </p:nvSpPr>
        <p:spPr>
          <a:xfrm>
            <a:off x="661475" y="3575050"/>
            <a:ext cx="6296860"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EBECEF"/>
                </a:solidFill>
                <a:latin typeface="Epilogue" pitchFamily="34" charset="0"/>
                <a:ea typeface="Epilogue" pitchFamily="34" charset="-122"/>
                <a:cs typeface="Epilogue" pitchFamily="34" charset="-120"/>
              </a:rPr>
              <a:t>A beginner's journey through the </a:t>
            </a:r>
            <a:pPr algn="l" indent="0" marL="0">
              <a:lnSpc>
                <a:spcPct val="133000"/>
              </a:lnSpc>
              <a:buNone/>
            </a:pPr>
            <a:r>
              <a:rPr lang="en-US" sz="1450" b="1" dirty="0">
                <a:solidFill>
                  <a:srgbClr val="EBECEF"/>
                </a:solidFill>
                <a:latin typeface="Epilogue Bold" pitchFamily="34" charset="0"/>
                <a:ea typeface="Epilogue Bold" pitchFamily="34" charset="-122"/>
                <a:cs typeface="Epilogue Bold" pitchFamily="34" charset="-120"/>
              </a:rPr>
              <a:t>"what"</a:t>
            </a:r>
            <a:pPr algn="l" indent="0" marL="0">
              <a:lnSpc>
                <a:spcPct val="133000"/>
              </a:lnSpc>
              <a:buNone/>
            </a:pPr>
            <a:r>
              <a:rPr lang="en-US" sz="1450" dirty="0">
                <a:solidFill>
                  <a:srgbClr val="EBECEF"/>
                </a:solidFill>
                <a:latin typeface="Epilogue" pitchFamily="34" charset="0"/>
                <a:ea typeface="Epilogue" pitchFamily="34" charset="-122"/>
                <a:cs typeface="Epilogue" pitchFamily="34" charset="-120"/>
              </a:rPr>
              <a:t> and </a:t>
            </a:r>
            <a:pPr algn="l" indent="0" marL="0">
              <a:lnSpc>
                <a:spcPct val="133000"/>
              </a:lnSpc>
              <a:buNone/>
            </a:pPr>
            <a:r>
              <a:rPr lang="en-US" sz="1450" b="1" dirty="0">
                <a:solidFill>
                  <a:srgbClr val="EBECEF"/>
                </a:solidFill>
                <a:latin typeface="Epilogue Bold" pitchFamily="34" charset="0"/>
                <a:ea typeface="Epilogue Bold" pitchFamily="34" charset="-122"/>
                <a:cs typeface="Epilogue Bold" pitchFamily="34" charset="-120"/>
              </a:rPr>
              <a:t>"how"</a:t>
            </a:r>
            <a:pPr algn="l" indent="0" marL="0">
              <a:lnSpc>
                <a:spcPct val="133000"/>
              </a:lnSpc>
              <a:buNone/>
            </a:pPr>
            <a:r>
              <a:rPr lang="en-US" sz="1450" dirty="0">
                <a:solidFill>
                  <a:srgbClr val="EBECEF"/>
                </a:solidFill>
                <a:latin typeface="Epilogue" pitchFamily="34" charset="0"/>
                <a:ea typeface="Epilogue" pitchFamily="34" charset="-122"/>
                <a:cs typeface="Epilogue" pitchFamily="34" charset="-120"/>
              </a:rPr>
              <a:t> of data — with Java, C++, and Dart.</a:t>
            </a:r>
            <a:endParaRPr lang="en-US" sz="1450" dirty="0"/>
          </a:p>
        </p:txBody>
      </p:sp>
      <p:sp>
        <p:nvSpPr>
          <p:cNvPr id="6" name="Shape 3"/>
          <p:cNvSpPr/>
          <p:nvPr/>
        </p:nvSpPr>
        <p:spPr>
          <a:xfrm>
            <a:off x="661475" y="4392513"/>
            <a:ext cx="562457" cy="355203"/>
          </a:xfrm>
          <a:prstGeom prst="roundRect">
            <a:avLst>
              <a:gd name="adj" fmla="val 17880"/>
            </a:avLst>
          </a:prstGeom>
          <a:solidFill>
            <a:srgbClr val="181E34"/>
          </a:solidFill>
          <a:ln/>
        </p:spPr>
      </p:sp>
      <p:sp>
        <p:nvSpPr>
          <p:cNvPr id="7" name="Text 4"/>
          <p:cNvSpPr/>
          <p:nvPr/>
        </p:nvSpPr>
        <p:spPr>
          <a:xfrm>
            <a:off x="774879" y="4449167"/>
            <a:ext cx="945233" cy="241895"/>
          </a:xfrm>
          <a:prstGeom prst="rect">
            <a:avLst/>
          </a:prstGeom>
          <a:noFill/>
          <a:ln/>
        </p:spPr>
        <p:txBody>
          <a:bodyPr wrap="none" lIns="0" tIns="0" rIns="0" bIns="0" rtlCol="0" anchor="t"/>
          <a:lstStyle/>
          <a:p>
            <a:pPr algn="l" indent="0" marL="0">
              <a:lnSpc>
                <a:spcPct val="133000"/>
              </a:lnSpc>
              <a:buNone/>
            </a:pPr>
            <a:r>
              <a:rPr lang="en-US" sz="1150" dirty="0">
                <a:solidFill>
                  <a:srgbClr val="EBECEF"/>
                </a:solidFill>
                <a:latin typeface="Epilogue" pitchFamily="34" charset="0"/>
                <a:ea typeface="Epilogue" pitchFamily="34" charset="-122"/>
                <a:cs typeface="Epilogue" pitchFamily="34" charset="-120"/>
              </a:rPr>
              <a:t>JAVA</a:t>
            </a:r>
            <a:endParaRPr lang="en-US" sz="1150" dirty="0"/>
          </a:p>
        </p:txBody>
      </p:sp>
      <p:sp>
        <p:nvSpPr>
          <p:cNvPr id="8" name="Shape 5"/>
          <p:cNvSpPr/>
          <p:nvPr/>
        </p:nvSpPr>
        <p:spPr>
          <a:xfrm>
            <a:off x="1318386" y="4392513"/>
            <a:ext cx="507392" cy="355203"/>
          </a:xfrm>
          <a:prstGeom prst="roundRect">
            <a:avLst>
              <a:gd name="adj" fmla="val 17880"/>
            </a:avLst>
          </a:prstGeom>
          <a:noFill/>
          <a:ln/>
          <a:effectLst>
            <a:outerShdw sx="100000" sy="100000" kx="0" ky="0" algn="bl" rotWithShape="0" blurRad="101600" dist="50800" dir="16200000">
              <a:srgbClr val="8c98ca">
                <a:alpha val="100000"/>
              </a:srgbClr>
            </a:outerShdw>
          </a:effectLst>
        </p:spPr>
      </p:sp>
      <p:sp>
        <p:nvSpPr>
          <p:cNvPr id="9" name="Text 6"/>
          <p:cNvSpPr/>
          <p:nvPr/>
        </p:nvSpPr>
        <p:spPr>
          <a:xfrm>
            <a:off x="1431790" y="4449167"/>
            <a:ext cx="890168" cy="241895"/>
          </a:xfrm>
          <a:prstGeom prst="rect">
            <a:avLst/>
          </a:prstGeom>
          <a:noFill/>
          <a:ln/>
        </p:spPr>
        <p:txBody>
          <a:bodyPr wrap="none" lIns="0" tIns="0" rIns="0" bIns="0" rtlCol="0" anchor="t"/>
          <a:lstStyle/>
          <a:p>
            <a:pPr algn="l" indent="0" marL="0">
              <a:lnSpc>
                <a:spcPct val="133000"/>
              </a:lnSpc>
              <a:buNone/>
            </a:pPr>
            <a:r>
              <a:rPr lang="en-US" sz="1150" dirty="0">
                <a:solidFill>
                  <a:srgbClr val="8C98CA"/>
                </a:solidFill>
                <a:latin typeface="Epilogue" pitchFamily="34" charset="0"/>
                <a:ea typeface="Epilogue" pitchFamily="34" charset="-122"/>
                <a:cs typeface="Epilogue" pitchFamily="34" charset="-120"/>
              </a:rPr>
              <a:t>C++</a:t>
            </a:r>
            <a:endParaRPr lang="en-US" sz="1150" dirty="0"/>
          </a:p>
        </p:txBody>
      </p:sp>
      <p:sp>
        <p:nvSpPr>
          <p:cNvPr id="10" name="Shape 7"/>
          <p:cNvSpPr/>
          <p:nvPr/>
        </p:nvSpPr>
        <p:spPr>
          <a:xfrm>
            <a:off x="1920232" y="4392513"/>
            <a:ext cx="575454" cy="355203"/>
          </a:xfrm>
          <a:prstGeom prst="roundRect">
            <a:avLst>
              <a:gd name="adj" fmla="val 17880"/>
            </a:avLst>
          </a:prstGeom>
          <a:noFill/>
          <a:ln/>
          <a:effectLst>
            <a:outerShdw sx="100000" sy="100000" kx="0" ky="0" algn="bl" rotWithShape="0" blurRad="101600" dist="50800" dir="16200000">
              <a:srgbClr val="8c98ca">
                <a:alpha val="100000"/>
              </a:srgbClr>
            </a:outerShdw>
          </a:effectLst>
        </p:spPr>
      </p:sp>
      <p:sp>
        <p:nvSpPr>
          <p:cNvPr id="11" name="Text 8"/>
          <p:cNvSpPr/>
          <p:nvPr/>
        </p:nvSpPr>
        <p:spPr>
          <a:xfrm>
            <a:off x="2033636" y="4449167"/>
            <a:ext cx="958231" cy="241895"/>
          </a:xfrm>
          <a:prstGeom prst="rect">
            <a:avLst/>
          </a:prstGeom>
          <a:noFill/>
          <a:ln/>
        </p:spPr>
        <p:txBody>
          <a:bodyPr wrap="none" lIns="0" tIns="0" rIns="0" bIns="0" rtlCol="0" anchor="t"/>
          <a:lstStyle/>
          <a:p>
            <a:pPr algn="l" indent="0" marL="0">
              <a:lnSpc>
                <a:spcPct val="133000"/>
              </a:lnSpc>
              <a:buNone/>
            </a:pPr>
            <a:r>
              <a:rPr lang="en-US" sz="1150" dirty="0">
                <a:solidFill>
                  <a:srgbClr val="8C98CA"/>
                </a:solidFill>
                <a:latin typeface="Epilogue" pitchFamily="34" charset="0"/>
                <a:ea typeface="Epilogue" pitchFamily="34" charset="-122"/>
                <a:cs typeface="Epilogue" pitchFamily="34" charset="-120"/>
              </a:rPr>
              <a:t>DART</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1475" y="583605"/>
            <a:ext cx="10868745" cy="552351"/>
          </a:xfrm>
          <a:prstGeom prst="rect">
            <a:avLst/>
          </a:prstGeom>
          <a:noFill/>
          <a:ln/>
        </p:spPr>
        <p:txBody>
          <a:bodyPr wrap="none" lIns="0" tIns="0" rIns="0" bIns="0" rtlCol="0" anchor="t"/>
          <a:lstStyle/>
          <a:p>
            <a:pPr algn="l" indent="0" marL="0">
              <a:lnSpc>
                <a:spcPct val="104000"/>
              </a:lnSpc>
              <a:buNone/>
            </a:pPr>
            <a:r>
              <a:rPr lang="en-US" sz="3450" dirty="0">
                <a:solidFill>
                  <a:srgbClr val="FFFFFF"/>
                </a:solidFill>
                <a:latin typeface="Fraunces Medium" pitchFamily="34" charset="0"/>
                <a:ea typeface="Fraunces Medium" pitchFamily="34" charset="-122"/>
                <a:cs typeface="Fraunces Medium" pitchFamily="34" charset="-120"/>
              </a:rPr>
              <a:t>Data Structures &amp; Algorithms</a:t>
            </a:r>
            <a:endParaRPr lang="en-US" sz="3450" dirty="0"/>
          </a:p>
        </p:txBody>
      </p:sp>
      <p:pic>
        <p:nvPicPr>
          <p:cNvPr id="3" name="Image 0" descr="preencoded.png">    </p:cNvPr>
          <p:cNvPicPr>
            <a:picLocks noChangeAspect="1"/>
          </p:cNvPicPr>
          <p:nvPr/>
        </p:nvPicPr>
        <p:blipFill>
          <a:blip r:embed="rId1"/>
          <a:stretch>
            <a:fillRect/>
          </a:stretch>
        </p:blipFill>
        <p:spPr>
          <a:xfrm>
            <a:off x="661475" y="2155329"/>
            <a:ext cx="3347557" cy="3347641"/>
          </a:xfrm>
          <a:prstGeom prst="rect">
            <a:avLst/>
          </a:prstGeom>
        </p:spPr>
      </p:pic>
      <p:sp>
        <p:nvSpPr>
          <p:cNvPr id="4" name="Text 1"/>
          <p:cNvSpPr/>
          <p:nvPr/>
        </p:nvSpPr>
        <p:spPr>
          <a:xfrm>
            <a:off x="4622784" y="1549202"/>
            <a:ext cx="6913687" cy="276126"/>
          </a:xfrm>
          <a:prstGeom prst="rect">
            <a:avLst/>
          </a:prstGeom>
          <a:noFill/>
          <a:ln/>
        </p:spPr>
        <p:txBody>
          <a:bodyPr wrap="none" lIns="0" tIns="0" rIns="0" bIns="0" rtlCol="0" anchor="t"/>
          <a:lstStyle/>
          <a:p>
            <a:pPr algn="l" indent="0" marL="0">
              <a:lnSpc>
                <a:spcPct val="104000"/>
              </a:lnSpc>
              <a:buNone/>
            </a:pPr>
            <a:r>
              <a:rPr lang="en-US" sz="1700" dirty="0">
                <a:solidFill>
                  <a:srgbClr val="FFFFFF"/>
                </a:solidFill>
                <a:latin typeface="Fraunces Medium" pitchFamily="34" charset="0"/>
                <a:ea typeface="Fraunces Medium" pitchFamily="34" charset="-122"/>
                <a:cs typeface="Fraunces Medium" pitchFamily="34" charset="-120"/>
              </a:rPr>
              <a:t>The Core Idea</a:t>
            </a:r>
            <a:endParaRPr lang="en-US" sz="1700" dirty="0"/>
          </a:p>
        </p:txBody>
      </p:sp>
      <p:sp>
        <p:nvSpPr>
          <p:cNvPr id="5" name="Shape 2"/>
          <p:cNvSpPr/>
          <p:nvPr/>
        </p:nvSpPr>
        <p:spPr>
          <a:xfrm>
            <a:off x="4622784" y="2011263"/>
            <a:ext cx="19050" cy="844649"/>
          </a:xfrm>
          <a:prstGeom prst="roundRect">
            <a:avLst>
              <a:gd name="adj" fmla="val 59999"/>
            </a:avLst>
          </a:prstGeom>
          <a:solidFill>
            <a:srgbClr val="8C98CA"/>
          </a:solidFill>
          <a:ln/>
        </p:spPr>
      </p:sp>
      <p:sp>
        <p:nvSpPr>
          <p:cNvPr id="6" name="Text 3"/>
          <p:cNvSpPr/>
          <p:nvPr/>
        </p:nvSpPr>
        <p:spPr>
          <a:xfrm>
            <a:off x="4887889" y="2159992"/>
            <a:ext cx="6648581" cy="547291"/>
          </a:xfrm>
          <a:prstGeom prst="rect">
            <a:avLst/>
          </a:prstGeom>
          <a:noFill/>
          <a:ln/>
        </p:spPr>
        <p:txBody>
          <a:bodyPr wrap="square" lIns="0" tIns="0" rIns="0" bIns="0" rtlCol="0" anchor="t">
            <a:normAutofit/>
          </a:bodyPr>
          <a:lstStyle/>
          <a:p>
            <a:pPr algn="l" indent="0" marL="0">
              <a:lnSpc>
                <a:spcPct val="129000"/>
              </a:lnSpc>
              <a:buNone/>
            </a:pPr>
            <a:r>
              <a:rPr lang="en-US" sz="1350" dirty="0">
                <a:solidFill>
                  <a:srgbClr val="EBECEF"/>
                </a:solidFill>
                <a:latin typeface="Epilogue" pitchFamily="34" charset="0"/>
                <a:ea typeface="Epilogue" pitchFamily="34" charset="-122"/>
                <a:cs typeface="Epilogue" pitchFamily="34" charset="-120"/>
              </a:rPr>
              <a:t>"Data structures hold data, while algorithms are used to resolve the problem of data."</a:t>
            </a:r>
            <a:endParaRPr lang="en-US" sz="1350" dirty="0"/>
          </a:p>
        </p:txBody>
      </p:sp>
      <p:sp>
        <p:nvSpPr>
          <p:cNvPr id="7" name="Shape 4"/>
          <p:cNvSpPr/>
          <p:nvPr/>
        </p:nvSpPr>
        <p:spPr>
          <a:xfrm>
            <a:off x="4622784" y="3041948"/>
            <a:ext cx="3374147" cy="1380232"/>
          </a:xfrm>
          <a:prstGeom prst="roundRect">
            <a:avLst>
              <a:gd name="adj" fmla="val 5379"/>
            </a:avLst>
          </a:prstGeom>
          <a:solidFill>
            <a:srgbClr val="080E26"/>
          </a:solidFill>
          <a:ln w="19050">
            <a:solidFill>
              <a:srgbClr val="414A70"/>
            </a:solidFill>
            <a:prstDash val="solid"/>
          </a:ln>
        </p:spPr>
      </p:sp>
      <p:sp>
        <p:nvSpPr>
          <p:cNvPr id="8" name="Text 5"/>
          <p:cNvSpPr/>
          <p:nvPr/>
        </p:nvSpPr>
        <p:spPr>
          <a:xfrm>
            <a:off x="4818537" y="3237706"/>
            <a:ext cx="2982639" cy="276126"/>
          </a:xfrm>
          <a:prstGeom prst="rect">
            <a:avLst/>
          </a:prstGeom>
          <a:noFill/>
          <a:ln/>
        </p:spPr>
        <p:txBody>
          <a:bodyPr wrap="none" lIns="0" tIns="0" rIns="0" bIns="0" rtlCol="0" anchor="t"/>
          <a:lstStyle/>
          <a:p>
            <a:pPr algn="l" indent="0" marL="0">
              <a:lnSpc>
                <a:spcPct val="104000"/>
              </a:lnSpc>
              <a:buNone/>
            </a:pPr>
            <a:r>
              <a:rPr lang="en-US" sz="1700" dirty="0">
                <a:solidFill>
                  <a:srgbClr val="EBECEF"/>
                </a:solidFill>
                <a:latin typeface="Fraunces Medium" pitchFamily="34" charset="0"/>
                <a:ea typeface="Fraunces Medium" pitchFamily="34" charset="-122"/>
                <a:cs typeface="Fraunces Medium" pitchFamily="34" charset="-120"/>
              </a:rPr>
              <a:t>Data Structure</a:t>
            </a:r>
            <a:endParaRPr lang="en-US" sz="1700" dirty="0"/>
          </a:p>
        </p:txBody>
      </p:sp>
      <p:sp>
        <p:nvSpPr>
          <p:cNvPr id="9" name="Text 6"/>
          <p:cNvSpPr/>
          <p:nvPr/>
        </p:nvSpPr>
        <p:spPr>
          <a:xfrm>
            <a:off x="4818537" y="3679130"/>
            <a:ext cx="2982639" cy="547291"/>
          </a:xfrm>
          <a:prstGeom prst="rect">
            <a:avLst/>
          </a:prstGeom>
          <a:noFill/>
          <a:ln/>
        </p:spPr>
        <p:txBody>
          <a:bodyPr wrap="square" lIns="0" tIns="0" rIns="0" bIns="0" rtlCol="0" anchor="t">
            <a:normAutofit/>
          </a:bodyPr>
          <a:lstStyle/>
          <a:p>
            <a:pPr algn="l" indent="0" marL="0">
              <a:lnSpc>
                <a:spcPct val="129000"/>
              </a:lnSpc>
              <a:buNone/>
            </a:pPr>
            <a:r>
              <a:rPr lang="en-US" sz="1350" dirty="0">
                <a:solidFill>
                  <a:srgbClr val="EBECEF"/>
                </a:solidFill>
                <a:latin typeface="Epilogue" pitchFamily="34" charset="0"/>
                <a:ea typeface="Epilogue" pitchFamily="34" charset="-122"/>
                <a:cs typeface="Epilogue" pitchFamily="34" charset="-120"/>
              </a:rPr>
              <a:t>The </a:t>
            </a:r>
            <a:pPr algn="l" indent="0" marL="0">
              <a:lnSpc>
                <a:spcPct val="129000"/>
              </a:lnSpc>
              <a:buNone/>
            </a:pPr>
            <a:r>
              <a:rPr lang="en-US" sz="1350" b="1" dirty="0">
                <a:solidFill>
                  <a:srgbClr val="EBECEF"/>
                </a:solidFill>
                <a:latin typeface="Epilogue Bold" pitchFamily="34" charset="0"/>
                <a:ea typeface="Epilogue Bold" pitchFamily="34" charset="-122"/>
                <a:cs typeface="Epilogue Bold" pitchFamily="34" charset="-120"/>
              </a:rPr>
              <a:t>container</a:t>
            </a:r>
            <a:pPr algn="l" indent="0" marL="0">
              <a:lnSpc>
                <a:spcPct val="129000"/>
              </a:lnSpc>
              <a:buNone/>
            </a:pPr>
            <a:r>
              <a:rPr lang="en-US" sz="1350" dirty="0">
                <a:solidFill>
                  <a:srgbClr val="EBECEF"/>
                </a:solidFill>
                <a:latin typeface="Epilogue" pitchFamily="34" charset="0"/>
                <a:ea typeface="Epilogue" pitchFamily="34" charset="-122"/>
                <a:cs typeface="Epilogue" pitchFamily="34" charset="-120"/>
              </a:rPr>
              <a:t> or </a:t>
            </a:r>
            <a:pPr algn="l" indent="0" marL="0">
              <a:lnSpc>
                <a:spcPct val="129000"/>
              </a:lnSpc>
              <a:buNone/>
            </a:pPr>
            <a:r>
              <a:rPr lang="en-US" sz="1350" b="1" dirty="0">
                <a:solidFill>
                  <a:srgbClr val="EBECEF"/>
                </a:solidFill>
                <a:latin typeface="Epilogue Bold" pitchFamily="34" charset="0"/>
                <a:ea typeface="Epilogue Bold" pitchFamily="34" charset="-122"/>
                <a:cs typeface="Epilogue Bold" pitchFamily="34" charset="-120"/>
              </a:rPr>
              <a:t>format</a:t>
            </a:r>
            <a:pPr algn="l" indent="0" marL="0">
              <a:lnSpc>
                <a:spcPct val="129000"/>
              </a:lnSpc>
              <a:buNone/>
            </a:pPr>
            <a:r>
              <a:rPr lang="en-US" sz="1350" dirty="0">
                <a:solidFill>
                  <a:srgbClr val="EBECEF"/>
                </a:solidFill>
                <a:latin typeface="Epilogue" pitchFamily="34" charset="0"/>
                <a:ea typeface="Epilogue" pitchFamily="34" charset="-122"/>
                <a:cs typeface="Epilogue" pitchFamily="34" charset="-120"/>
              </a:rPr>
              <a:t> that holds your data.</a:t>
            </a:r>
            <a:endParaRPr lang="en-US" sz="1350" dirty="0"/>
          </a:p>
        </p:txBody>
      </p:sp>
      <p:sp>
        <p:nvSpPr>
          <p:cNvPr id="10" name="Shape 7"/>
          <p:cNvSpPr/>
          <p:nvPr/>
        </p:nvSpPr>
        <p:spPr>
          <a:xfrm>
            <a:off x="8162225" y="3041948"/>
            <a:ext cx="3374246" cy="1380232"/>
          </a:xfrm>
          <a:prstGeom prst="roundRect">
            <a:avLst>
              <a:gd name="adj" fmla="val 5379"/>
            </a:avLst>
          </a:prstGeom>
          <a:solidFill>
            <a:srgbClr val="080E26"/>
          </a:solidFill>
          <a:ln w="19050">
            <a:solidFill>
              <a:srgbClr val="414A70"/>
            </a:solidFill>
            <a:prstDash val="solid"/>
          </a:ln>
        </p:spPr>
      </p:sp>
      <p:sp>
        <p:nvSpPr>
          <p:cNvPr id="11" name="Text 8"/>
          <p:cNvSpPr/>
          <p:nvPr/>
        </p:nvSpPr>
        <p:spPr>
          <a:xfrm>
            <a:off x="8357978" y="3237706"/>
            <a:ext cx="2982739" cy="276126"/>
          </a:xfrm>
          <a:prstGeom prst="rect">
            <a:avLst/>
          </a:prstGeom>
          <a:noFill/>
          <a:ln/>
        </p:spPr>
        <p:txBody>
          <a:bodyPr wrap="none" lIns="0" tIns="0" rIns="0" bIns="0" rtlCol="0" anchor="t"/>
          <a:lstStyle/>
          <a:p>
            <a:pPr algn="l" indent="0" marL="0">
              <a:lnSpc>
                <a:spcPct val="104000"/>
              </a:lnSpc>
              <a:buNone/>
            </a:pPr>
            <a:r>
              <a:rPr lang="en-US" sz="1700" dirty="0">
                <a:solidFill>
                  <a:srgbClr val="EBECEF"/>
                </a:solidFill>
                <a:latin typeface="Fraunces Medium" pitchFamily="34" charset="0"/>
                <a:ea typeface="Fraunces Medium" pitchFamily="34" charset="-122"/>
                <a:cs typeface="Fraunces Medium" pitchFamily="34" charset="-120"/>
              </a:rPr>
              <a:t>Algorithm</a:t>
            </a:r>
            <a:endParaRPr lang="en-US" sz="1700" dirty="0"/>
          </a:p>
        </p:txBody>
      </p:sp>
      <p:sp>
        <p:nvSpPr>
          <p:cNvPr id="12" name="Text 9"/>
          <p:cNvSpPr/>
          <p:nvPr/>
        </p:nvSpPr>
        <p:spPr>
          <a:xfrm>
            <a:off x="8357978" y="3679130"/>
            <a:ext cx="2982739" cy="547291"/>
          </a:xfrm>
          <a:prstGeom prst="rect">
            <a:avLst/>
          </a:prstGeom>
          <a:noFill/>
          <a:ln/>
        </p:spPr>
        <p:txBody>
          <a:bodyPr wrap="square" lIns="0" tIns="0" rIns="0" bIns="0" rtlCol="0" anchor="t">
            <a:normAutofit/>
          </a:bodyPr>
          <a:lstStyle/>
          <a:p>
            <a:pPr algn="l" indent="0" marL="0">
              <a:lnSpc>
                <a:spcPct val="129000"/>
              </a:lnSpc>
              <a:buNone/>
            </a:pPr>
            <a:r>
              <a:rPr lang="en-US" sz="1350" dirty="0">
                <a:solidFill>
                  <a:srgbClr val="EBECEF"/>
                </a:solidFill>
                <a:latin typeface="Epilogue" pitchFamily="34" charset="0"/>
                <a:ea typeface="Epilogue" pitchFamily="34" charset="-122"/>
                <a:cs typeface="Epilogue" pitchFamily="34" charset="-120"/>
              </a:rPr>
              <a:t>The </a:t>
            </a:r>
            <a:pPr algn="l" indent="0" marL="0">
              <a:lnSpc>
                <a:spcPct val="129000"/>
              </a:lnSpc>
              <a:buNone/>
            </a:pPr>
            <a:r>
              <a:rPr lang="en-US" sz="1350" b="1" dirty="0">
                <a:solidFill>
                  <a:srgbClr val="EBECEF"/>
                </a:solidFill>
                <a:latin typeface="Epilogue Bold" pitchFamily="34" charset="0"/>
                <a:ea typeface="Epilogue Bold" pitchFamily="34" charset="-122"/>
                <a:cs typeface="Epilogue Bold" pitchFamily="34" charset="-120"/>
              </a:rPr>
              <a:t>set of steps</a:t>
            </a:r>
            <a:pPr algn="l" indent="0" marL="0">
              <a:lnSpc>
                <a:spcPct val="129000"/>
              </a:lnSpc>
              <a:buNone/>
            </a:pPr>
            <a:r>
              <a:rPr lang="en-US" sz="1350" dirty="0">
                <a:solidFill>
                  <a:srgbClr val="EBECEF"/>
                </a:solidFill>
                <a:latin typeface="Epilogue" pitchFamily="34" charset="0"/>
                <a:ea typeface="Epilogue" pitchFamily="34" charset="-122"/>
                <a:cs typeface="Epilogue" pitchFamily="34" charset="-120"/>
              </a:rPr>
              <a:t> used to solve a problem using that data.</a:t>
            </a:r>
            <a:endParaRPr lang="en-US" sz="1350" dirty="0"/>
          </a:p>
        </p:txBody>
      </p:sp>
      <p:sp>
        <p:nvSpPr>
          <p:cNvPr id="13" name="Shape 10"/>
          <p:cNvSpPr/>
          <p:nvPr/>
        </p:nvSpPr>
        <p:spPr>
          <a:xfrm>
            <a:off x="4622784" y="4608116"/>
            <a:ext cx="6913687" cy="1480344"/>
          </a:xfrm>
          <a:prstGeom prst="roundRect">
            <a:avLst>
              <a:gd name="adj" fmla="val 5015"/>
            </a:avLst>
          </a:prstGeom>
          <a:solidFill>
            <a:srgbClr val="283157"/>
          </a:solidFill>
          <a:ln/>
        </p:spPr>
      </p:sp>
      <p:pic>
        <p:nvPicPr>
          <p:cNvPr id="14" name="Image 1" descr="preencoded.png">    </p:cNvPr>
          <p:cNvPicPr>
            <a:picLocks noChangeAspect="1"/>
          </p:cNvPicPr>
          <p:nvPr/>
        </p:nvPicPr>
        <p:blipFill>
          <a:blip r:embed="rId2"/>
          <a:stretch>
            <a:fillRect/>
          </a:stretch>
        </p:blipFill>
        <p:spPr>
          <a:xfrm>
            <a:off x="4799488" y="4858445"/>
            <a:ext cx="220855" cy="176709"/>
          </a:xfrm>
          <a:prstGeom prst="rect">
            <a:avLst/>
          </a:prstGeom>
        </p:spPr>
      </p:pic>
      <p:sp>
        <p:nvSpPr>
          <p:cNvPr id="15" name="Text 11"/>
          <p:cNvSpPr/>
          <p:nvPr/>
        </p:nvSpPr>
        <p:spPr>
          <a:xfrm>
            <a:off x="5197047" y="4800997"/>
            <a:ext cx="6162719" cy="1094581"/>
          </a:xfrm>
          <a:prstGeom prst="rect">
            <a:avLst/>
          </a:prstGeom>
          <a:noFill/>
          <a:ln/>
        </p:spPr>
        <p:txBody>
          <a:bodyPr wrap="square" lIns="0" tIns="0" rIns="0" bIns="0" rtlCol="0" anchor="t">
            <a:normAutofit/>
          </a:bodyPr>
          <a:lstStyle/>
          <a:p>
            <a:pPr algn="l" indent="0" marL="0">
              <a:lnSpc>
                <a:spcPct val="129000"/>
              </a:lnSpc>
              <a:buNone/>
            </a:pPr>
            <a:r>
              <a:rPr lang="en-US" sz="1350" b="1" dirty="0">
                <a:solidFill>
                  <a:srgbClr val="FFFFFF"/>
                </a:solidFill>
                <a:latin typeface="Epilogue Bold" pitchFamily="34" charset="0"/>
                <a:ea typeface="Epilogue Bold" pitchFamily="34" charset="-122"/>
                <a:cs typeface="Epilogue Bold" pitchFamily="34" charset="-120"/>
              </a:rPr>
              <a:t>Analogy:</a:t>
            </a:r>
            <a:pPr algn="l" indent="0" marL="0">
              <a:lnSpc>
                <a:spcPct val="129000"/>
              </a:lnSpc>
              <a:buNone/>
            </a:pPr>
            <a:r>
              <a:rPr lang="en-US" sz="1350" dirty="0">
                <a:solidFill>
                  <a:srgbClr val="FFFFFF"/>
                </a:solidFill>
                <a:latin typeface="Epilogue" pitchFamily="34" charset="0"/>
                <a:ea typeface="Epilogue" pitchFamily="34" charset="-122"/>
                <a:cs typeface="Epilogue" pitchFamily="34" charset="-120"/>
              </a:rPr>
              <a:t> A cabinet with drawers is a data structure. How you search, sort, or arrange those drawers is the algorithm. Understanding both lets you ask not just "does it work?" but "why does it work this way, and how efficiently?"</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7619809" y="0"/>
            <a:ext cx="4571886" cy="6858000"/>
          </a:xfrm>
          <a:prstGeom prst="rect">
            <a:avLst/>
          </a:prstGeom>
          <a:solidFill>
            <a:srgbClr val="283157"/>
          </a:solidFill>
          <a:ln/>
        </p:spPr>
      </p:sp>
      <p:pic>
        <p:nvPicPr>
          <p:cNvPr id="3" name="Image 0" descr="preencoded.png">    </p:cNvPr>
          <p:cNvPicPr>
            <a:picLocks noChangeAspect="1"/>
          </p:cNvPicPr>
          <p:nvPr/>
        </p:nvPicPr>
        <p:blipFill>
          <a:blip r:embed="rId1"/>
          <a:stretch>
            <a:fillRect/>
          </a:stretch>
        </p:blipFill>
        <p:spPr>
          <a:xfrm>
            <a:off x="7683804" y="95945"/>
            <a:ext cx="4443897" cy="6666012"/>
          </a:xfrm>
          <a:prstGeom prst="rect">
            <a:avLst/>
          </a:prstGeom>
        </p:spPr>
      </p:pic>
      <p:sp>
        <p:nvSpPr>
          <p:cNvPr id="4" name="Text 1"/>
          <p:cNvSpPr/>
          <p:nvPr/>
        </p:nvSpPr>
        <p:spPr>
          <a:xfrm>
            <a:off x="661475" y="545207"/>
            <a:ext cx="6296860" cy="400546"/>
          </a:xfrm>
          <a:prstGeom prst="rect">
            <a:avLst/>
          </a:prstGeom>
          <a:noFill/>
          <a:ln/>
        </p:spPr>
        <p:txBody>
          <a:bodyPr wrap="none" lIns="0" tIns="0" rIns="0" bIns="0" rtlCol="0" anchor="t"/>
          <a:lstStyle/>
          <a:p>
            <a:pPr algn="l" indent="0" marL="0">
              <a:lnSpc>
                <a:spcPct val="104000"/>
              </a:lnSpc>
              <a:buNone/>
            </a:pPr>
            <a:r>
              <a:rPr lang="en-US" sz="2500" dirty="0">
                <a:solidFill>
                  <a:srgbClr val="FFFFFF"/>
                </a:solidFill>
                <a:latin typeface="Fraunces Medium" pitchFamily="34" charset="0"/>
                <a:ea typeface="Fraunces Medium" pitchFamily="34" charset="-122"/>
                <a:cs typeface="Fraunces Medium" pitchFamily="34" charset="-120"/>
              </a:rPr>
              <a:t>How Data Actually Lives in Memory</a:t>
            </a:r>
            <a:endParaRPr lang="en-US" sz="2500" dirty="0"/>
          </a:p>
        </p:txBody>
      </p:sp>
      <p:sp>
        <p:nvSpPr>
          <p:cNvPr id="5" name="Text 2"/>
          <p:cNvSpPr/>
          <p:nvPr/>
        </p:nvSpPr>
        <p:spPr>
          <a:xfrm>
            <a:off x="661475" y="1076127"/>
            <a:ext cx="6296860" cy="430213"/>
          </a:xfrm>
          <a:prstGeom prst="rect">
            <a:avLst/>
          </a:prstGeom>
          <a:noFill/>
          <a:ln/>
        </p:spPr>
        <p:txBody>
          <a:bodyPr wrap="square" lIns="0" tIns="0" rIns="0" bIns="0" rtlCol="0" anchor="t">
            <a:normAutofit/>
          </a:bodyPr>
          <a:lstStyle/>
          <a:p>
            <a:pPr algn="l" indent="0" marL="0">
              <a:lnSpc>
                <a:spcPct val="112000"/>
              </a:lnSpc>
              <a:buNone/>
            </a:pPr>
            <a:r>
              <a:rPr lang="en-US" sz="1250" dirty="0">
                <a:solidFill>
                  <a:srgbClr val="EBECEF"/>
                </a:solidFill>
                <a:latin typeface="Epilogue" pitchFamily="34" charset="0"/>
                <a:ea typeface="Epilogue" pitchFamily="34" charset="-122"/>
                <a:cs typeface="Epilogue" pitchFamily="34" charset="-120"/>
              </a:rPr>
              <a:t>Every variable is stored in a </a:t>
            </a:r>
            <a:pPr algn="l" indent="0" marL="0">
              <a:lnSpc>
                <a:spcPct val="112000"/>
              </a:lnSpc>
              <a:buNone/>
            </a:pPr>
            <a:r>
              <a:rPr lang="en-US" sz="1250" b="1" dirty="0">
                <a:solidFill>
                  <a:srgbClr val="EBECEF"/>
                </a:solidFill>
                <a:latin typeface="Epilogue Bold" pitchFamily="34" charset="0"/>
                <a:ea typeface="Epilogue Bold" pitchFamily="34" charset="-122"/>
                <a:cs typeface="Epilogue Bold" pitchFamily="34" charset="-120"/>
              </a:rPr>
              <a:t>numbered memory slot</a:t>
            </a:r>
            <a:pPr algn="l" indent="0" marL="0">
              <a:lnSpc>
                <a:spcPct val="112000"/>
              </a:lnSpc>
              <a:buNone/>
            </a:pPr>
            <a:r>
              <a:rPr lang="en-US" sz="1250" dirty="0">
                <a:solidFill>
                  <a:srgbClr val="EBECEF"/>
                </a:solidFill>
                <a:latin typeface="Epilogue" pitchFamily="34" charset="0"/>
                <a:ea typeface="Epilogue" pitchFamily="34" charset="-122"/>
                <a:cs typeface="Epilogue" pitchFamily="34" charset="-120"/>
              </a:rPr>
              <a:t> — an </a:t>
            </a:r>
            <a:pPr algn="l" indent="0" marL="0">
              <a:lnSpc>
                <a:spcPct val="112000"/>
              </a:lnSpc>
              <a:buNone/>
            </a:pPr>
            <a:r>
              <a:rPr lang="en-US" sz="1250" b="1" dirty="0">
                <a:solidFill>
                  <a:srgbClr val="EBECEF"/>
                </a:solidFill>
                <a:latin typeface="Epilogue Bold" pitchFamily="34" charset="0"/>
                <a:ea typeface="Epilogue Bold" pitchFamily="34" charset="-122"/>
                <a:cs typeface="Epilogue Bold" pitchFamily="34" charset="-120"/>
              </a:rPr>
              <a:t>address</a:t>
            </a:r>
            <a:pPr algn="l" indent="0" marL="0">
              <a:lnSpc>
                <a:spcPct val="112000"/>
              </a:lnSpc>
              <a:buNone/>
            </a:pPr>
            <a:r>
              <a:rPr lang="en-US" sz="1250" dirty="0">
                <a:solidFill>
                  <a:srgbClr val="EBECEF"/>
                </a:solidFill>
                <a:latin typeface="Epilogue" pitchFamily="34" charset="0"/>
                <a:ea typeface="Epilogue" pitchFamily="34" charset="-122"/>
                <a:cs typeface="Epilogue" pitchFamily="34" charset="-120"/>
              </a:rPr>
              <a:t>. Think of a hallway of lockers, each with a unique number.</a:t>
            </a:r>
            <a:endParaRPr lang="en-US" sz="1250" dirty="0"/>
          </a:p>
        </p:txBody>
      </p:sp>
      <p:sp>
        <p:nvSpPr>
          <p:cNvPr id="6" name="Text 3"/>
          <p:cNvSpPr/>
          <p:nvPr/>
        </p:nvSpPr>
        <p:spPr>
          <a:xfrm>
            <a:off x="661475" y="1604070"/>
            <a:ext cx="256276" cy="160139"/>
          </a:xfrm>
          <a:prstGeom prst="rect">
            <a:avLst/>
          </a:prstGeom>
          <a:noFill/>
          <a:ln/>
        </p:spPr>
        <p:txBody>
          <a:bodyPr wrap="none" lIns="0" tIns="0" rIns="0" bIns="0" rtlCol="0" anchor="ctr"/>
          <a:lstStyle/>
          <a:p>
            <a:pPr algn="l" indent="0" marL="0">
              <a:lnSpc>
                <a:spcPct val="100000"/>
              </a:lnSpc>
              <a:buNone/>
            </a:pPr>
            <a:r>
              <a:rPr lang="en-US" sz="1000" dirty="0">
                <a:solidFill>
                  <a:srgbClr val="EBECEF"/>
                </a:solidFill>
                <a:latin typeface="Fraunces Light" pitchFamily="34" charset="0"/>
                <a:ea typeface="Fraunces Light" pitchFamily="34" charset="-122"/>
                <a:cs typeface="Fraunces Light" pitchFamily="34" charset="-120"/>
              </a:rPr>
              <a:t>01</a:t>
            </a:r>
            <a:endParaRPr lang="en-US" sz="1000" dirty="0"/>
          </a:p>
        </p:txBody>
      </p:sp>
      <p:sp>
        <p:nvSpPr>
          <p:cNvPr id="7" name="Shape 4"/>
          <p:cNvSpPr/>
          <p:nvPr/>
        </p:nvSpPr>
        <p:spPr>
          <a:xfrm>
            <a:off x="661475" y="1802705"/>
            <a:ext cx="6296860" cy="19050"/>
          </a:xfrm>
          <a:prstGeom prst="rect">
            <a:avLst/>
          </a:prstGeom>
          <a:solidFill>
            <a:srgbClr val="8C98CA"/>
          </a:solidFill>
          <a:ln/>
        </p:spPr>
      </p:sp>
      <p:sp>
        <p:nvSpPr>
          <p:cNvPr id="8" name="Text 5"/>
          <p:cNvSpPr/>
          <p:nvPr/>
        </p:nvSpPr>
        <p:spPr>
          <a:xfrm>
            <a:off x="661475" y="1904802"/>
            <a:ext cx="6296860" cy="200223"/>
          </a:xfrm>
          <a:prstGeom prst="rect">
            <a:avLst/>
          </a:prstGeom>
          <a:noFill/>
          <a:ln/>
        </p:spPr>
        <p:txBody>
          <a:bodyPr wrap="none" lIns="0" tIns="0" rIns="0" bIns="0" rtlCol="0" anchor="t"/>
          <a:lstStyle/>
          <a:p>
            <a:pPr algn="l" indent="0" marL="0">
              <a:lnSpc>
                <a:spcPct val="104000"/>
              </a:lnSpc>
              <a:buNone/>
            </a:pPr>
            <a:r>
              <a:rPr lang="en-US" sz="1250" dirty="0">
                <a:solidFill>
                  <a:srgbClr val="EBECEF"/>
                </a:solidFill>
                <a:latin typeface="Fraunces Medium" pitchFamily="34" charset="0"/>
                <a:ea typeface="Fraunces Medium" pitchFamily="34" charset="-122"/>
                <a:cs typeface="Fraunces Medium" pitchFamily="34" charset="-120"/>
              </a:rPr>
              <a:t>Find an empty locker</a:t>
            </a:r>
            <a:endParaRPr lang="en-US" sz="1250" dirty="0"/>
          </a:p>
        </p:txBody>
      </p:sp>
      <p:sp>
        <p:nvSpPr>
          <p:cNvPr id="9" name="Text 6"/>
          <p:cNvSpPr/>
          <p:nvPr/>
        </p:nvSpPr>
        <p:spPr>
          <a:xfrm>
            <a:off x="661475" y="2157115"/>
            <a:ext cx="6296860" cy="215106"/>
          </a:xfrm>
          <a:prstGeom prst="rect">
            <a:avLst/>
          </a:prstGeom>
          <a:noFill/>
          <a:ln/>
        </p:spPr>
        <p:txBody>
          <a:bodyPr wrap="none" lIns="0" tIns="0" rIns="0" bIns="0" rtlCol="0" anchor="t"/>
          <a:lstStyle/>
          <a:p>
            <a:pPr algn="l" indent="0" marL="0">
              <a:lnSpc>
                <a:spcPct val="112000"/>
              </a:lnSpc>
              <a:buNone/>
            </a:pPr>
            <a:r>
              <a:rPr lang="en-US" sz="1250" dirty="0">
                <a:solidFill>
                  <a:srgbClr val="EBECEF"/>
                </a:solidFill>
                <a:latin typeface="Epilogue" pitchFamily="34" charset="0"/>
                <a:ea typeface="Epilogue" pitchFamily="34" charset="-122"/>
                <a:cs typeface="Epilogue" pitchFamily="34" charset="-120"/>
              </a:rPr>
              <a:t>The computer locates a free memory slot.</a:t>
            </a:r>
            <a:endParaRPr lang="en-US" sz="1250" dirty="0"/>
          </a:p>
        </p:txBody>
      </p:sp>
      <p:sp>
        <p:nvSpPr>
          <p:cNvPr id="10" name="Text 7"/>
          <p:cNvSpPr/>
          <p:nvPr/>
        </p:nvSpPr>
        <p:spPr>
          <a:xfrm>
            <a:off x="661475" y="2555180"/>
            <a:ext cx="256276" cy="160139"/>
          </a:xfrm>
          <a:prstGeom prst="rect">
            <a:avLst/>
          </a:prstGeom>
          <a:noFill/>
          <a:ln/>
        </p:spPr>
        <p:txBody>
          <a:bodyPr wrap="none" lIns="0" tIns="0" rIns="0" bIns="0" rtlCol="0" anchor="ctr"/>
          <a:lstStyle/>
          <a:p>
            <a:pPr algn="l" indent="0" marL="0">
              <a:lnSpc>
                <a:spcPct val="100000"/>
              </a:lnSpc>
              <a:buNone/>
            </a:pPr>
            <a:r>
              <a:rPr lang="en-US" sz="1000" dirty="0">
                <a:solidFill>
                  <a:srgbClr val="EBECEF"/>
                </a:solidFill>
                <a:latin typeface="Fraunces Light" pitchFamily="34" charset="0"/>
                <a:ea typeface="Fraunces Light" pitchFamily="34" charset="-122"/>
                <a:cs typeface="Fraunces Light" pitchFamily="34" charset="-120"/>
              </a:rPr>
              <a:t>02</a:t>
            </a:r>
            <a:endParaRPr lang="en-US" sz="1000" dirty="0"/>
          </a:p>
        </p:txBody>
      </p:sp>
      <p:sp>
        <p:nvSpPr>
          <p:cNvPr id="11" name="Shape 8"/>
          <p:cNvSpPr/>
          <p:nvPr/>
        </p:nvSpPr>
        <p:spPr>
          <a:xfrm>
            <a:off x="661475" y="2753816"/>
            <a:ext cx="6296860" cy="19050"/>
          </a:xfrm>
          <a:prstGeom prst="rect">
            <a:avLst/>
          </a:prstGeom>
          <a:solidFill>
            <a:srgbClr val="8C98CA"/>
          </a:solidFill>
          <a:ln/>
        </p:spPr>
      </p:sp>
      <p:sp>
        <p:nvSpPr>
          <p:cNvPr id="12" name="Text 9"/>
          <p:cNvSpPr/>
          <p:nvPr/>
        </p:nvSpPr>
        <p:spPr>
          <a:xfrm>
            <a:off x="661475" y="2855913"/>
            <a:ext cx="6296860" cy="200223"/>
          </a:xfrm>
          <a:prstGeom prst="rect">
            <a:avLst/>
          </a:prstGeom>
          <a:noFill/>
          <a:ln/>
        </p:spPr>
        <p:txBody>
          <a:bodyPr wrap="none" lIns="0" tIns="0" rIns="0" bIns="0" rtlCol="0" anchor="t"/>
          <a:lstStyle/>
          <a:p>
            <a:pPr algn="l" indent="0" marL="0">
              <a:lnSpc>
                <a:spcPct val="104000"/>
              </a:lnSpc>
              <a:buNone/>
            </a:pPr>
            <a:r>
              <a:rPr lang="en-US" sz="1250" dirty="0">
                <a:solidFill>
                  <a:srgbClr val="EBECEF"/>
                </a:solidFill>
                <a:latin typeface="Fraunces Medium" pitchFamily="34" charset="0"/>
                <a:ea typeface="Fraunces Medium" pitchFamily="34" charset="-122"/>
                <a:cs typeface="Fraunces Medium" pitchFamily="34" charset="-120"/>
              </a:rPr>
              <a:t>Label it with an address</a:t>
            </a:r>
            <a:endParaRPr lang="en-US" sz="1250" dirty="0"/>
          </a:p>
        </p:txBody>
      </p:sp>
      <p:sp>
        <p:nvSpPr>
          <p:cNvPr id="13" name="Text 10"/>
          <p:cNvSpPr/>
          <p:nvPr/>
        </p:nvSpPr>
        <p:spPr>
          <a:xfrm>
            <a:off x="661475" y="3108226"/>
            <a:ext cx="6296860" cy="215106"/>
          </a:xfrm>
          <a:prstGeom prst="rect">
            <a:avLst/>
          </a:prstGeom>
          <a:noFill/>
          <a:ln/>
        </p:spPr>
        <p:txBody>
          <a:bodyPr wrap="none" lIns="0" tIns="0" rIns="0" bIns="0" rtlCol="0" anchor="t"/>
          <a:lstStyle/>
          <a:p>
            <a:pPr algn="l" indent="0" marL="0">
              <a:lnSpc>
                <a:spcPct val="112000"/>
              </a:lnSpc>
              <a:buNone/>
            </a:pPr>
            <a:r>
              <a:rPr lang="en-US" sz="1250" dirty="0">
                <a:solidFill>
                  <a:srgbClr val="EBECEF"/>
                </a:solidFill>
                <a:latin typeface="Epilogue" pitchFamily="34" charset="0"/>
                <a:ea typeface="Epilogue" pitchFamily="34" charset="-122"/>
                <a:cs typeface="Epilogue" pitchFamily="34" charset="-120"/>
              </a:rPr>
              <a:t>Each slot gets a unique memory address.</a:t>
            </a:r>
            <a:endParaRPr lang="en-US" sz="1250" dirty="0"/>
          </a:p>
        </p:txBody>
      </p:sp>
      <p:sp>
        <p:nvSpPr>
          <p:cNvPr id="14" name="Text 11"/>
          <p:cNvSpPr/>
          <p:nvPr/>
        </p:nvSpPr>
        <p:spPr>
          <a:xfrm>
            <a:off x="661475" y="3506291"/>
            <a:ext cx="256276" cy="160139"/>
          </a:xfrm>
          <a:prstGeom prst="rect">
            <a:avLst/>
          </a:prstGeom>
          <a:noFill/>
          <a:ln/>
        </p:spPr>
        <p:txBody>
          <a:bodyPr wrap="none" lIns="0" tIns="0" rIns="0" bIns="0" rtlCol="0" anchor="ctr"/>
          <a:lstStyle/>
          <a:p>
            <a:pPr algn="l" indent="0" marL="0">
              <a:lnSpc>
                <a:spcPct val="100000"/>
              </a:lnSpc>
              <a:buNone/>
            </a:pPr>
            <a:r>
              <a:rPr lang="en-US" sz="1000" dirty="0">
                <a:solidFill>
                  <a:srgbClr val="EBECEF"/>
                </a:solidFill>
                <a:latin typeface="Fraunces Light" pitchFamily="34" charset="0"/>
                <a:ea typeface="Fraunces Light" pitchFamily="34" charset="-122"/>
                <a:cs typeface="Fraunces Light" pitchFamily="34" charset="-120"/>
              </a:rPr>
              <a:t>03</a:t>
            </a:r>
            <a:endParaRPr lang="en-US" sz="1000" dirty="0"/>
          </a:p>
        </p:txBody>
      </p:sp>
      <p:sp>
        <p:nvSpPr>
          <p:cNvPr id="15" name="Shape 12"/>
          <p:cNvSpPr/>
          <p:nvPr/>
        </p:nvSpPr>
        <p:spPr>
          <a:xfrm>
            <a:off x="661475" y="3704927"/>
            <a:ext cx="6296860" cy="19050"/>
          </a:xfrm>
          <a:prstGeom prst="rect">
            <a:avLst/>
          </a:prstGeom>
          <a:solidFill>
            <a:srgbClr val="8C98CA"/>
          </a:solidFill>
          <a:ln/>
        </p:spPr>
      </p:sp>
      <p:sp>
        <p:nvSpPr>
          <p:cNvPr id="16" name="Text 13"/>
          <p:cNvSpPr/>
          <p:nvPr/>
        </p:nvSpPr>
        <p:spPr>
          <a:xfrm>
            <a:off x="661475" y="3807023"/>
            <a:ext cx="6296860" cy="200223"/>
          </a:xfrm>
          <a:prstGeom prst="rect">
            <a:avLst/>
          </a:prstGeom>
          <a:noFill/>
          <a:ln/>
        </p:spPr>
        <p:txBody>
          <a:bodyPr wrap="none" lIns="0" tIns="0" rIns="0" bIns="0" rtlCol="0" anchor="t"/>
          <a:lstStyle/>
          <a:p>
            <a:pPr algn="l" indent="0" marL="0">
              <a:lnSpc>
                <a:spcPct val="104000"/>
              </a:lnSpc>
              <a:buNone/>
            </a:pPr>
            <a:r>
              <a:rPr lang="en-US" sz="1250" dirty="0">
                <a:solidFill>
                  <a:srgbClr val="EBECEF"/>
                </a:solidFill>
                <a:latin typeface="Fraunces Medium" pitchFamily="34" charset="0"/>
                <a:ea typeface="Fraunces Medium" pitchFamily="34" charset="-122"/>
                <a:cs typeface="Fraunces Medium" pitchFamily="34" charset="-120"/>
              </a:rPr>
              <a:t>Place the value inside</a:t>
            </a:r>
            <a:endParaRPr lang="en-US" sz="1250" dirty="0"/>
          </a:p>
        </p:txBody>
      </p:sp>
      <p:sp>
        <p:nvSpPr>
          <p:cNvPr id="17" name="Text 14"/>
          <p:cNvSpPr/>
          <p:nvPr/>
        </p:nvSpPr>
        <p:spPr>
          <a:xfrm>
            <a:off x="661475" y="4059337"/>
            <a:ext cx="6296860" cy="234156"/>
          </a:xfrm>
          <a:prstGeom prst="rect">
            <a:avLst/>
          </a:prstGeom>
          <a:noFill/>
          <a:ln/>
        </p:spPr>
        <p:txBody>
          <a:bodyPr wrap="none" lIns="0" tIns="0" rIns="0" bIns="0" rtlCol="0" anchor="t"/>
          <a:lstStyle/>
          <a:p>
            <a:pPr algn="l" indent="0" marL="0">
              <a:lnSpc>
                <a:spcPct val="112000"/>
              </a:lnSpc>
              <a:buNone/>
            </a:pPr>
            <a:r>
              <a:rPr lang="en-US" sz="1250" dirty="0">
                <a:solidFill>
                  <a:srgbClr val="EBECEF"/>
                </a:solidFill>
                <a:highlight>
                  <a:srgbClr val="151B33"/>
                </a:highlight>
                <a:latin typeface="Consolas" pitchFamily="34" charset="0"/>
                <a:ea typeface="Consolas" pitchFamily="34" charset="-122"/>
                <a:cs typeface="Consolas" pitchFamily="34" charset="-120"/>
              </a:rPr>
              <a:t>int score = 10;</a:t>
            </a:r>
            <a:pPr algn="l" indent="0" marL="0">
              <a:lnSpc>
                <a:spcPct val="112000"/>
              </a:lnSpc>
              <a:buNone/>
            </a:pPr>
            <a:r>
              <a:rPr lang="en-US" sz="1250" dirty="0">
                <a:solidFill>
                  <a:srgbClr val="EBECEF"/>
                </a:solidFill>
                <a:latin typeface="Epilogue" pitchFamily="34" charset="0"/>
                <a:ea typeface="Epilogue" pitchFamily="34" charset="-122"/>
                <a:cs typeface="Epilogue" pitchFamily="34" charset="-120"/>
              </a:rPr>
              <a:t> — value 10 goes in the locker.</a:t>
            </a:r>
            <a:endParaRPr lang="en-US" sz="1250" dirty="0"/>
          </a:p>
        </p:txBody>
      </p:sp>
      <p:sp>
        <p:nvSpPr>
          <p:cNvPr id="18" name="Text 15"/>
          <p:cNvSpPr/>
          <p:nvPr/>
        </p:nvSpPr>
        <p:spPr>
          <a:xfrm>
            <a:off x="661475" y="4476452"/>
            <a:ext cx="256276" cy="160139"/>
          </a:xfrm>
          <a:prstGeom prst="rect">
            <a:avLst/>
          </a:prstGeom>
          <a:noFill/>
          <a:ln/>
        </p:spPr>
        <p:txBody>
          <a:bodyPr wrap="none" lIns="0" tIns="0" rIns="0" bIns="0" rtlCol="0" anchor="ctr"/>
          <a:lstStyle/>
          <a:p>
            <a:pPr algn="l" indent="0" marL="0">
              <a:lnSpc>
                <a:spcPct val="100000"/>
              </a:lnSpc>
              <a:buNone/>
            </a:pPr>
            <a:r>
              <a:rPr lang="en-US" sz="1000" dirty="0">
                <a:solidFill>
                  <a:srgbClr val="EBECEF"/>
                </a:solidFill>
                <a:latin typeface="Fraunces Light" pitchFamily="34" charset="0"/>
                <a:ea typeface="Fraunces Light" pitchFamily="34" charset="-122"/>
                <a:cs typeface="Fraunces Light" pitchFamily="34" charset="-120"/>
              </a:rPr>
              <a:t>04</a:t>
            </a:r>
            <a:endParaRPr lang="en-US" sz="1000" dirty="0"/>
          </a:p>
        </p:txBody>
      </p:sp>
      <p:sp>
        <p:nvSpPr>
          <p:cNvPr id="19" name="Shape 16"/>
          <p:cNvSpPr/>
          <p:nvPr/>
        </p:nvSpPr>
        <p:spPr>
          <a:xfrm>
            <a:off x="661475" y="4675088"/>
            <a:ext cx="6296860" cy="19050"/>
          </a:xfrm>
          <a:prstGeom prst="rect">
            <a:avLst/>
          </a:prstGeom>
          <a:solidFill>
            <a:srgbClr val="8C98CA"/>
          </a:solidFill>
          <a:ln/>
        </p:spPr>
      </p:sp>
      <p:sp>
        <p:nvSpPr>
          <p:cNvPr id="20" name="Text 17"/>
          <p:cNvSpPr/>
          <p:nvPr/>
        </p:nvSpPr>
        <p:spPr>
          <a:xfrm>
            <a:off x="661475" y="4777184"/>
            <a:ext cx="6296860" cy="200223"/>
          </a:xfrm>
          <a:prstGeom prst="rect">
            <a:avLst/>
          </a:prstGeom>
          <a:noFill/>
          <a:ln/>
        </p:spPr>
        <p:txBody>
          <a:bodyPr wrap="none" lIns="0" tIns="0" rIns="0" bIns="0" rtlCol="0" anchor="t"/>
          <a:lstStyle/>
          <a:p>
            <a:pPr algn="l" indent="0" marL="0">
              <a:lnSpc>
                <a:spcPct val="104000"/>
              </a:lnSpc>
              <a:buNone/>
            </a:pPr>
            <a:r>
              <a:rPr lang="en-US" sz="1250" dirty="0">
                <a:solidFill>
                  <a:srgbClr val="EBECEF"/>
                </a:solidFill>
                <a:latin typeface="Fraunces Medium" pitchFamily="34" charset="0"/>
                <a:ea typeface="Fraunces Medium" pitchFamily="34" charset="-122"/>
                <a:cs typeface="Fraunces Medium" pitchFamily="34" charset="-120"/>
              </a:rPr>
              <a:t>Remember the number</a:t>
            </a:r>
            <a:endParaRPr lang="en-US" sz="1250" dirty="0"/>
          </a:p>
        </p:txBody>
      </p:sp>
      <p:sp>
        <p:nvSpPr>
          <p:cNvPr id="21" name="Text 18"/>
          <p:cNvSpPr/>
          <p:nvPr/>
        </p:nvSpPr>
        <p:spPr>
          <a:xfrm>
            <a:off x="661475" y="5029498"/>
            <a:ext cx="6296860" cy="215106"/>
          </a:xfrm>
          <a:prstGeom prst="rect">
            <a:avLst/>
          </a:prstGeom>
          <a:noFill/>
          <a:ln/>
        </p:spPr>
        <p:txBody>
          <a:bodyPr wrap="none" lIns="0" tIns="0" rIns="0" bIns="0" rtlCol="0" anchor="t"/>
          <a:lstStyle/>
          <a:p>
            <a:pPr algn="l" indent="0" marL="0">
              <a:lnSpc>
                <a:spcPct val="112000"/>
              </a:lnSpc>
              <a:buNone/>
            </a:pPr>
            <a:r>
              <a:rPr lang="en-US" sz="1250" dirty="0">
                <a:solidFill>
                  <a:srgbClr val="EBECEF"/>
                </a:solidFill>
                <a:latin typeface="Epilogue" pitchFamily="34" charset="0"/>
                <a:ea typeface="Epilogue" pitchFamily="34" charset="-122"/>
                <a:cs typeface="Epilogue" pitchFamily="34" charset="-120"/>
              </a:rPr>
              <a:t>The address is stored so the value can be fetched later.</a:t>
            </a:r>
            <a:endParaRPr lang="en-US" sz="1250" dirty="0"/>
          </a:p>
        </p:txBody>
      </p:sp>
      <p:sp>
        <p:nvSpPr>
          <p:cNvPr id="22" name="Shape 19"/>
          <p:cNvSpPr/>
          <p:nvPr/>
        </p:nvSpPr>
        <p:spPr>
          <a:xfrm>
            <a:off x="661475" y="5438378"/>
            <a:ext cx="6296860" cy="874316"/>
          </a:xfrm>
          <a:prstGeom prst="roundRect">
            <a:avLst>
              <a:gd name="adj" fmla="val 6157"/>
            </a:avLst>
          </a:prstGeom>
          <a:solidFill>
            <a:srgbClr val="283157"/>
          </a:solidFill>
          <a:ln/>
        </p:spPr>
      </p:sp>
      <p:pic>
        <p:nvPicPr>
          <p:cNvPr id="23" name="Image 1" descr="preencoded.png">    </p:cNvPr>
          <p:cNvPicPr>
            <a:picLocks noChangeAspect="1"/>
          </p:cNvPicPr>
          <p:nvPr/>
        </p:nvPicPr>
        <p:blipFill>
          <a:blip r:embed="rId2"/>
          <a:stretch>
            <a:fillRect/>
          </a:stretch>
        </p:blipFill>
        <p:spPr>
          <a:xfrm>
            <a:off x="789563" y="5563096"/>
            <a:ext cx="200218" cy="160139"/>
          </a:xfrm>
          <a:prstGeom prst="rect">
            <a:avLst/>
          </a:prstGeom>
        </p:spPr>
      </p:pic>
      <p:sp>
        <p:nvSpPr>
          <p:cNvPr id="24" name="Text 20"/>
          <p:cNvSpPr/>
          <p:nvPr/>
        </p:nvSpPr>
        <p:spPr>
          <a:xfrm>
            <a:off x="1117870" y="5557242"/>
            <a:ext cx="5712377" cy="645319"/>
          </a:xfrm>
          <a:prstGeom prst="rect">
            <a:avLst/>
          </a:prstGeom>
          <a:noFill/>
          <a:ln/>
        </p:spPr>
        <p:txBody>
          <a:bodyPr wrap="square" lIns="0" tIns="0" rIns="0" bIns="0" rtlCol="0" anchor="t">
            <a:normAutofit/>
          </a:bodyPr>
          <a:lstStyle/>
          <a:p>
            <a:pPr algn="l" indent="0" marL="0">
              <a:lnSpc>
                <a:spcPct val="112000"/>
              </a:lnSpc>
              <a:buNone/>
            </a:pPr>
            <a:r>
              <a:rPr lang="en-US" sz="1250" b="1" dirty="0">
                <a:solidFill>
                  <a:srgbClr val="FFFFFF"/>
                </a:solidFill>
                <a:latin typeface="Epilogue Bold" pitchFamily="34" charset="0"/>
                <a:ea typeface="Epilogue Bold" pitchFamily="34" charset="-122"/>
                <a:cs typeface="Epilogue Bold" pitchFamily="34" charset="-120"/>
              </a:rPr>
              <a:t>Why it matters:</a:t>
            </a:r>
            <a:pPr algn="l" indent="0" marL="0">
              <a:lnSpc>
                <a:spcPct val="112000"/>
              </a:lnSpc>
              <a:buNone/>
            </a:pPr>
            <a:r>
              <a:rPr lang="en-US" sz="1250" dirty="0">
                <a:solidFill>
                  <a:srgbClr val="FFFFFF"/>
                </a:solidFill>
                <a:latin typeface="Epilogue" pitchFamily="34" charset="0"/>
                <a:ea typeface="Epilogue" pitchFamily="34" charset="-122"/>
                <a:cs typeface="Epilogue" pitchFamily="34" charset="-120"/>
              </a:rPr>
              <a:t> Arrays = adjacent lockers (fast index access). Linked Lists = scattered lockers, each holding a note pointing to the next. This is why data structures directly affect algorithm speed.</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543719"/>
            <a:ext cx="10868745" cy="561181"/>
          </a:xfrm>
          <a:prstGeom prst="rect">
            <a:avLst/>
          </a:prstGeom>
          <a:noFill/>
          <a:ln/>
        </p:spPr>
        <p:txBody>
          <a:bodyPr wrap="none" lIns="0" tIns="0" rIns="0" bIns="0" rtlCol="0" anchor="t"/>
          <a:lstStyle/>
          <a:p>
            <a:pPr algn="l" indent="0" marL="0">
              <a:lnSpc>
                <a:spcPct val="104000"/>
              </a:lnSpc>
              <a:buNone/>
            </a:pPr>
            <a:r>
              <a:rPr lang="en-US" sz="3500" dirty="0">
                <a:solidFill>
                  <a:srgbClr val="FFFFFF"/>
                </a:solidFill>
                <a:latin typeface="Fraunces Medium" pitchFamily="34" charset="0"/>
                <a:ea typeface="Fraunces Medium" pitchFamily="34" charset="-122"/>
                <a:cs typeface="Fraunces Medium" pitchFamily="34" charset="-120"/>
              </a:rPr>
              <a:t>Stack — Last In, First Out</a:t>
            </a:r>
            <a:endParaRPr lang="en-US" sz="3500" dirty="0"/>
          </a:p>
        </p:txBody>
      </p:sp>
      <p:pic>
        <p:nvPicPr>
          <p:cNvPr id="3" name="Image 0" descr="preencoded.png">    </p:cNvPr>
          <p:cNvPicPr>
            <a:picLocks noChangeAspect="1"/>
          </p:cNvPicPr>
          <p:nvPr/>
        </p:nvPicPr>
        <p:blipFill>
          <a:blip r:embed="rId1"/>
          <a:stretch>
            <a:fillRect/>
          </a:stretch>
        </p:blipFill>
        <p:spPr>
          <a:xfrm>
            <a:off x="661475" y="1552674"/>
            <a:ext cx="3343191" cy="3343275"/>
          </a:xfrm>
          <a:prstGeom prst="rect">
            <a:avLst/>
          </a:prstGeom>
        </p:spPr>
      </p:pic>
      <p:sp>
        <p:nvSpPr>
          <p:cNvPr id="4" name="Text 1"/>
          <p:cNvSpPr/>
          <p:nvPr/>
        </p:nvSpPr>
        <p:spPr>
          <a:xfrm>
            <a:off x="4625165" y="1990427"/>
            <a:ext cx="6911306" cy="286841"/>
          </a:xfrm>
          <a:prstGeom prst="rect">
            <a:avLst/>
          </a:prstGeom>
          <a:noFill/>
          <a:ln/>
        </p:spPr>
        <p:txBody>
          <a:bodyPr wrap="none" lIns="0" tIns="0" rIns="0" bIns="0" rtlCol="0" anchor="t"/>
          <a:lstStyle/>
          <a:p>
            <a:pPr algn="l" indent="0" marL="0">
              <a:lnSpc>
                <a:spcPct val="104000"/>
              </a:lnSpc>
              <a:buNone/>
            </a:pPr>
            <a:r>
              <a:rPr lang="en-US" sz="1750"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1750" dirty="0">
                <a:solidFill>
                  <a:srgbClr val="FFFFFF"/>
                </a:solidFill>
                <a:latin typeface="Fraunces Medium" pitchFamily="34" charset="0"/>
                <a:ea typeface="Fraunces Medium" pitchFamily="34" charset="-122"/>
                <a:cs typeface="Fraunces Medium" pitchFamily="34" charset="-120"/>
              </a:rPr>
              <a:t> Analogy: A Stack of Plates</a:t>
            </a:r>
            <a:endParaRPr lang="en-US" sz="1750" dirty="0"/>
          </a:p>
        </p:txBody>
      </p:sp>
      <p:sp>
        <p:nvSpPr>
          <p:cNvPr id="5" name="Text 2"/>
          <p:cNvSpPr/>
          <p:nvPr/>
        </p:nvSpPr>
        <p:spPr>
          <a:xfrm>
            <a:off x="4625165" y="2447826"/>
            <a:ext cx="6911306" cy="560189"/>
          </a:xfrm>
          <a:prstGeom prst="rect">
            <a:avLst/>
          </a:prstGeom>
          <a:noFill/>
          <a:ln/>
        </p:spPr>
        <p:txBody>
          <a:bodyPr wrap="square" lIns="0" tIns="0" rIns="0" bIns="0" rtlCol="0" anchor="t">
            <a:normAutofit/>
          </a:bodyPr>
          <a:lstStyle/>
          <a:p>
            <a:pPr algn="l" indent="0" marL="0">
              <a:lnSpc>
                <a:spcPct val="130000"/>
              </a:lnSpc>
              <a:buNone/>
            </a:pPr>
            <a:r>
              <a:rPr lang="en-US" sz="1400" dirty="0">
                <a:solidFill>
                  <a:srgbClr val="EBECEF"/>
                </a:solidFill>
                <a:latin typeface="Epilogue" pitchFamily="34" charset="0"/>
                <a:ea typeface="Epilogue" pitchFamily="34" charset="-122"/>
                <a:cs typeface="Epilogue" pitchFamily="34" charset="-120"/>
              </a:rPr>
              <a:t>You can only </a:t>
            </a:r>
            <a:pPr algn="l" indent="0" marL="0">
              <a:lnSpc>
                <a:spcPct val="130000"/>
              </a:lnSpc>
              <a:buNone/>
            </a:pPr>
            <a:r>
              <a:rPr lang="en-US" sz="1400" b="1" dirty="0">
                <a:solidFill>
                  <a:srgbClr val="EBECEF"/>
                </a:solidFill>
                <a:latin typeface="Epilogue Bold" pitchFamily="34" charset="0"/>
                <a:ea typeface="Epilogue Bold" pitchFamily="34" charset="-122"/>
                <a:cs typeface="Epilogue Bold" pitchFamily="34" charset="-120"/>
              </a:rPr>
              <a:t>take from the top</a:t>
            </a:r>
            <a:pPr algn="l" indent="0" marL="0">
              <a:lnSpc>
                <a:spcPct val="130000"/>
              </a:lnSpc>
              <a:buNone/>
            </a:pPr>
            <a:r>
              <a:rPr lang="en-US" sz="1400" dirty="0">
                <a:solidFill>
                  <a:srgbClr val="EBECEF"/>
                </a:solidFill>
                <a:latin typeface="Epilogue" pitchFamily="34" charset="0"/>
                <a:ea typeface="Epilogue" pitchFamily="34" charset="-122"/>
                <a:cs typeface="Epilogue" pitchFamily="34" charset="-120"/>
              </a:rPr>
              <a:t> and </a:t>
            </a:r>
            <a:pPr algn="l" indent="0" marL="0">
              <a:lnSpc>
                <a:spcPct val="130000"/>
              </a:lnSpc>
              <a:buNone/>
            </a:pPr>
            <a:r>
              <a:rPr lang="en-US" sz="1400" b="1" dirty="0">
                <a:solidFill>
                  <a:srgbClr val="EBECEF"/>
                </a:solidFill>
                <a:latin typeface="Epilogue Bold" pitchFamily="34" charset="0"/>
                <a:ea typeface="Epilogue Bold" pitchFamily="34" charset="-122"/>
                <a:cs typeface="Epilogue Bold" pitchFamily="34" charset="-120"/>
              </a:rPr>
              <a:t>add to the top</a:t>
            </a:r>
            <a:pPr algn="l" indent="0" marL="0">
              <a:lnSpc>
                <a:spcPct val="130000"/>
              </a:lnSpc>
              <a:buNone/>
            </a:pPr>
            <a:r>
              <a:rPr lang="en-US" sz="1400" dirty="0">
                <a:solidFill>
                  <a:srgbClr val="EBECEF"/>
                </a:solidFill>
                <a:latin typeface="Epilogue" pitchFamily="34" charset="0"/>
                <a:ea typeface="Epilogue" pitchFamily="34" charset="-122"/>
                <a:cs typeface="Epilogue" pitchFamily="34" charset="-120"/>
              </a:rPr>
              <a:t>. The last plate placed is the first removed — </a:t>
            </a:r>
            <a:pPr algn="l" indent="0" marL="0">
              <a:lnSpc>
                <a:spcPct val="130000"/>
              </a:lnSpc>
              <a:buNone/>
            </a:pPr>
            <a:r>
              <a:rPr lang="en-US" sz="1400" b="1" dirty="0">
                <a:solidFill>
                  <a:srgbClr val="EBECEF"/>
                </a:solidFill>
                <a:latin typeface="Epilogue Bold" pitchFamily="34" charset="0"/>
                <a:ea typeface="Epilogue Bold" pitchFamily="34" charset="-122"/>
                <a:cs typeface="Epilogue Bold" pitchFamily="34" charset="-120"/>
              </a:rPr>
              <a:t>LIFO</a:t>
            </a:r>
            <a:pPr algn="l" indent="0" marL="0">
              <a:lnSpc>
                <a:spcPct val="130000"/>
              </a:lnSpc>
              <a:buNone/>
            </a:pPr>
            <a:r>
              <a:rPr lang="en-US" sz="1400" dirty="0">
                <a:solidFill>
                  <a:srgbClr val="EBECEF"/>
                </a:solidFill>
                <a:latin typeface="Epilogue" pitchFamily="34" charset="0"/>
                <a:ea typeface="Epilogue" pitchFamily="34" charset="-122"/>
                <a:cs typeface="Epilogue" pitchFamily="34" charset="-120"/>
              </a:rPr>
              <a:t>.</a:t>
            </a:r>
            <a:endParaRPr lang="en-US" sz="1400" dirty="0"/>
          </a:p>
        </p:txBody>
      </p:sp>
      <p:sp>
        <p:nvSpPr>
          <p:cNvPr id="6" name="Shape 3"/>
          <p:cNvSpPr/>
          <p:nvPr/>
        </p:nvSpPr>
        <p:spPr>
          <a:xfrm>
            <a:off x="4625165" y="3199904"/>
            <a:ext cx="6911306" cy="1236960"/>
          </a:xfrm>
          <a:prstGeom prst="roundRect">
            <a:avLst>
              <a:gd name="adj" fmla="val 6097"/>
            </a:avLst>
          </a:prstGeom>
          <a:solidFill>
            <a:srgbClr val="283157"/>
          </a:solidFill>
          <a:ln/>
        </p:spPr>
      </p:sp>
      <p:pic>
        <p:nvPicPr>
          <p:cNvPr id="7" name="Image 1" descr="preencoded.png">    </p:cNvPr>
          <p:cNvPicPr>
            <a:picLocks noChangeAspect="1"/>
          </p:cNvPicPr>
          <p:nvPr/>
        </p:nvPicPr>
        <p:blipFill>
          <a:blip r:embed="rId2"/>
          <a:stretch>
            <a:fillRect/>
          </a:stretch>
        </p:blipFill>
        <p:spPr>
          <a:xfrm>
            <a:off x="4804647" y="3451324"/>
            <a:ext cx="224427" cy="179487"/>
          </a:xfrm>
          <a:prstGeom prst="rect">
            <a:avLst/>
          </a:prstGeom>
        </p:spPr>
      </p:pic>
      <p:sp>
        <p:nvSpPr>
          <p:cNvPr id="8" name="Text 4"/>
          <p:cNvSpPr/>
          <p:nvPr/>
        </p:nvSpPr>
        <p:spPr>
          <a:xfrm>
            <a:off x="5208556" y="3398242"/>
            <a:ext cx="6148432" cy="840284"/>
          </a:xfrm>
          <a:prstGeom prst="rect">
            <a:avLst/>
          </a:prstGeom>
          <a:noFill/>
          <a:ln/>
        </p:spPr>
        <p:txBody>
          <a:bodyPr wrap="square" lIns="0" tIns="0" rIns="0" bIns="0" rtlCol="0" anchor="t">
            <a:normAutofit/>
          </a:bodyPr>
          <a:lstStyle/>
          <a:p>
            <a:pPr algn="l" indent="0" marL="0">
              <a:lnSpc>
                <a:spcPct val="130000"/>
              </a:lnSpc>
              <a:buNone/>
            </a:pPr>
            <a:r>
              <a:rPr lang="en-US" sz="1400" b="1" dirty="0">
                <a:solidFill>
                  <a:srgbClr val="FFFFFF"/>
                </a:solidFill>
                <a:latin typeface="Epilogue Bold" pitchFamily="34" charset="0"/>
                <a:ea typeface="Epilogue Bold" pitchFamily="34" charset="-122"/>
                <a:cs typeface="Epilogue Bold" pitchFamily="34" charset="-120"/>
              </a:rPr>
              <a:t>Real-World Use — Undo (Ctrl+Z):</a:t>
            </a:r>
            <a:pPr algn="l" indent="0" marL="0">
              <a:lnSpc>
                <a:spcPct val="130000"/>
              </a:lnSpc>
              <a:buNone/>
            </a:pPr>
            <a:r>
              <a:rPr lang="en-US" sz="1400" dirty="0">
                <a:solidFill>
                  <a:srgbClr val="FFFFFF"/>
                </a:solidFill>
                <a:latin typeface="Epilogue" pitchFamily="34" charset="0"/>
                <a:ea typeface="Epilogue" pitchFamily="34" charset="-122"/>
                <a:cs typeface="Epilogue" pitchFamily="34" charset="-120"/>
              </a:rPr>
              <a:t> Every action is </a:t>
            </a:r>
            <a:pPr algn="l" indent="0" marL="0">
              <a:lnSpc>
                <a:spcPct val="130000"/>
              </a:lnSpc>
              <a:buNone/>
            </a:pPr>
            <a:r>
              <a:rPr lang="en-US" sz="1400" b="1" dirty="0">
                <a:solidFill>
                  <a:srgbClr val="FFFFFF"/>
                </a:solidFill>
                <a:latin typeface="Epilogue Bold" pitchFamily="34" charset="0"/>
                <a:ea typeface="Epilogue Bold" pitchFamily="34" charset="-122"/>
                <a:cs typeface="Epilogue Bold" pitchFamily="34" charset="-120"/>
              </a:rPr>
              <a:t>pushed</a:t>
            </a:r>
            <a:pPr algn="l" indent="0" marL="0">
              <a:lnSpc>
                <a:spcPct val="130000"/>
              </a:lnSpc>
              <a:buNone/>
            </a:pPr>
            <a:r>
              <a:rPr lang="en-US" sz="1400" dirty="0">
                <a:solidFill>
                  <a:srgbClr val="FFFFFF"/>
                </a:solidFill>
                <a:latin typeface="Epilogue" pitchFamily="34" charset="0"/>
                <a:ea typeface="Epilogue" pitchFamily="34" charset="-122"/>
                <a:cs typeface="Epilogue" pitchFamily="34" charset="-120"/>
              </a:rPr>
              <a:t> onto a stack. Pressing Ctrl+Z </a:t>
            </a:r>
            <a:pPr algn="l" indent="0" marL="0">
              <a:lnSpc>
                <a:spcPct val="130000"/>
              </a:lnSpc>
              <a:buNone/>
            </a:pPr>
            <a:r>
              <a:rPr lang="en-US" sz="1400" b="1" dirty="0">
                <a:solidFill>
                  <a:srgbClr val="FFFFFF"/>
                </a:solidFill>
                <a:latin typeface="Epilogue Bold" pitchFamily="34" charset="0"/>
                <a:ea typeface="Epilogue Bold" pitchFamily="34" charset="-122"/>
                <a:cs typeface="Epilogue Bold" pitchFamily="34" charset="-120"/>
              </a:rPr>
              <a:t>pops</a:t>
            </a:r>
            <a:pPr algn="l" indent="0" marL="0">
              <a:lnSpc>
                <a:spcPct val="130000"/>
              </a:lnSpc>
              <a:buNone/>
            </a:pPr>
            <a:r>
              <a:rPr lang="en-US" sz="1400" dirty="0">
                <a:solidFill>
                  <a:srgbClr val="FFFFFF"/>
                </a:solidFill>
                <a:latin typeface="Epilogue" pitchFamily="34" charset="0"/>
                <a:ea typeface="Epilogue" pitchFamily="34" charset="-122"/>
                <a:cs typeface="Epilogue" pitchFamily="34" charset="-120"/>
              </a:rPr>
              <a:t> the most recent action first — exactly LIFO behavior.</a:t>
            </a:r>
            <a:endParaRPr lang="en-US" sz="1400" dirty="0"/>
          </a:p>
        </p:txBody>
      </p:sp>
      <p:sp>
        <p:nvSpPr>
          <p:cNvPr id="9" name="Shape 5"/>
          <p:cNvSpPr/>
          <p:nvPr/>
        </p:nvSpPr>
        <p:spPr>
          <a:xfrm>
            <a:off x="661475" y="5279727"/>
            <a:ext cx="10868745" cy="1034554"/>
          </a:xfrm>
          <a:prstGeom prst="roundRect">
            <a:avLst>
              <a:gd name="adj" fmla="val 7290"/>
            </a:avLst>
          </a:prstGeom>
          <a:solidFill>
            <a:srgbClr val="283157"/>
          </a:solidFill>
          <a:ln w="6350">
            <a:solidFill>
              <a:srgbClr val="414A70"/>
            </a:solidFill>
            <a:prstDash val="solid"/>
          </a:ln>
        </p:spPr>
      </p:sp>
      <p:sp>
        <p:nvSpPr>
          <p:cNvPr id="10" name="Shape 6"/>
          <p:cNvSpPr/>
          <p:nvPr/>
        </p:nvSpPr>
        <p:spPr>
          <a:xfrm>
            <a:off x="667825" y="5286077"/>
            <a:ext cx="5428023" cy="1021854"/>
          </a:xfrm>
          <a:prstGeom prst="rect">
            <a:avLst/>
          </a:prstGeom>
          <a:solidFill>
            <a:srgbClr val="283157"/>
          </a:solidFill>
          <a:ln/>
        </p:spPr>
      </p:sp>
      <p:sp>
        <p:nvSpPr>
          <p:cNvPr id="11" name="Text 7"/>
          <p:cNvSpPr/>
          <p:nvPr/>
        </p:nvSpPr>
        <p:spPr>
          <a:xfrm>
            <a:off x="847307" y="5465564"/>
            <a:ext cx="5069058" cy="280491"/>
          </a:xfrm>
          <a:prstGeom prst="rect">
            <a:avLst/>
          </a:prstGeom>
          <a:noFill/>
          <a:ln/>
        </p:spPr>
        <p:txBody>
          <a:bodyPr wrap="none" lIns="0" tIns="0" rIns="0" bIns="0" rtlCol="0" anchor="t"/>
          <a:lstStyle/>
          <a:p>
            <a:pPr algn="l" indent="0" marL="0">
              <a:lnSpc>
                <a:spcPct val="104000"/>
              </a:lnSpc>
              <a:buNone/>
            </a:pPr>
            <a:r>
              <a:rPr lang="en-US" sz="1750" dirty="0">
                <a:solidFill>
                  <a:srgbClr val="EBECEF"/>
                </a:solidFill>
                <a:latin typeface="Fraunces Medium" pitchFamily="34" charset="0"/>
                <a:ea typeface="Fraunces Medium" pitchFamily="34" charset="-122"/>
                <a:cs typeface="Fraunces Medium" pitchFamily="34" charset="-120"/>
              </a:rPr>
              <a:t>Push</a:t>
            </a:r>
            <a:endParaRPr lang="en-US" sz="1750" dirty="0"/>
          </a:p>
        </p:txBody>
      </p:sp>
      <p:sp>
        <p:nvSpPr>
          <p:cNvPr id="12" name="Text 8"/>
          <p:cNvSpPr/>
          <p:nvPr/>
        </p:nvSpPr>
        <p:spPr>
          <a:xfrm>
            <a:off x="847307" y="5848350"/>
            <a:ext cx="5069058" cy="280095"/>
          </a:xfrm>
          <a:prstGeom prst="rect">
            <a:avLst/>
          </a:prstGeom>
          <a:noFill/>
          <a:ln/>
        </p:spPr>
        <p:txBody>
          <a:bodyPr wrap="none" lIns="0" tIns="0" rIns="0" bIns="0" rtlCol="0" anchor="t"/>
          <a:lstStyle/>
          <a:p>
            <a:pPr algn="l" indent="0" marL="0">
              <a:lnSpc>
                <a:spcPct val="130000"/>
              </a:lnSpc>
              <a:buNone/>
            </a:pPr>
            <a:r>
              <a:rPr lang="en-US" sz="1400" dirty="0">
                <a:solidFill>
                  <a:srgbClr val="EBECEF"/>
                </a:solidFill>
                <a:latin typeface="Epilogue" pitchFamily="34" charset="0"/>
                <a:ea typeface="Epilogue" pitchFamily="34" charset="-122"/>
                <a:cs typeface="Epilogue" pitchFamily="34" charset="-120"/>
              </a:rPr>
              <a:t>Add item to top</a:t>
            </a:r>
            <a:endParaRPr lang="en-US" sz="1400" dirty="0"/>
          </a:p>
        </p:txBody>
      </p:sp>
      <p:sp>
        <p:nvSpPr>
          <p:cNvPr id="13" name="Shape 9"/>
          <p:cNvSpPr/>
          <p:nvPr/>
        </p:nvSpPr>
        <p:spPr>
          <a:xfrm>
            <a:off x="6095848" y="5286077"/>
            <a:ext cx="5428023" cy="1021854"/>
          </a:xfrm>
          <a:prstGeom prst="rect">
            <a:avLst/>
          </a:prstGeom>
          <a:solidFill>
            <a:srgbClr val="283157"/>
          </a:solidFill>
          <a:ln/>
        </p:spPr>
      </p:sp>
      <p:sp>
        <p:nvSpPr>
          <p:cNvPr id="14" name="Shape 10"/>
          <p:cNvSpPr/>
          <p:nvPr/>
        </p:nvSpPr>
        <p:spPr>
          <a:xfrm>
            <a:off x="6095848" y="5286077"/>
            <a:ext cx="25399" cy="1021854"/>
          </a:xfrm>
          <a:prstGeom prst="roundRect">
            <a:avLst>
              <a:gd name="adj" fmla="val 296934"/>
            </a:avLst>
          </a:prstGeom>
          <a:solidFill>
            <a:srgbClr val="414A70"/>
          </a:solidFill>
          <a:ln/>
        </p:spPr>
      </p:sp>
      <p:sp>
        <p:nvSpPr>
          <p:cNvPr id="15" name="Text 11"/>
          <p:cNvSpPr/>
          <p:nvPr/>
        </p:nvSpPr>
        <p:spPr>
          <a:xfrm>
            <a:off x="6275330" y="5465564"/>
            <a:ext cx="5069058" cy="280491"/>
          </a:xfrm>
          <a:prstGeom prst="rect">
            <a:avLst/>
          </a:prstGeom>
          <a:noFill/>
          <a:ln/>
        </p:spPr>
        <p:txBody>
          <a:bodyPr wrap="none" lIns="0" tIns="0" rIns="0" bIns="0" rtlCol="0" anchor="t"/>
          <a:lstStyle/>
          <a:p>
            <a:pPr algn="l" indent="0" marL="0">
              <a:lnSpc>
                <a:spcPct val="104000"/>
              </a:lnSpc>
              <a:buNone/>
            </a:pPr>
            <a:r>
              <a:rPr lang="en-US" sz="1750" dirty="0">
                <a:solidFill>
                  <a:srgbClr val="EBECEF"/>
                </a:solidFill>
                <a:latin typeface="Fraunces Medium" pitchFamily="34" charset="0"/>
                <a:ea typeface="Fraunces Medium" pitchFamily="34" charset="-122"/>
                <a:cs typeface="Fraunces Medium" pitchFamily="34" charset="-120"/>
              </a:rPr>
              <a:t>Pop</a:t>
            </a:r>
            <a:endParaRPr lang="en-US" sz="1750" dirty="0"/>
          </a:p>
        </p:txBody>
      </p:sp>
      <p:sp>
        <p:nvSpPr>
          <p:cNvPr id="16" name="Text 12"/>
          <p:cNvSpPr/>
          <p:nvPr/>
        </p:nvSpPr>
        <p:spPr>
          <a:xfrm>
            <a:off x="6275330" y="5848350"/>
            <a:ext cx="5069058" cy="280095"/>
          </a:xfrm>
          <a:prstGeom prst="rect">
            <a:avLst/>
          </a:prstGeom>
          <a:noFill/>
          <a:ln/>
        </p:spPr>
        <p:txBody>
          <a:bodyPr wrap="none" lIns="0" tIns="0" rIns="0" bIns="0" rtlCol="0" anchor="t"/>
          <a:lstStyle/>
          <a:p>
            <a:pPr algn="l" indent="0" marL="0">
              <a:lnSpc>
                <a:spcPct val="130000"/>
              </a:lnSpc>
              <a:buNone/>
            </a:pPr>
            <a:r>
              <a:rPr lang="en-US" sz="1400" dirty="0">
                <a:solidFill>
                  <a:srgbClr val="EBECEF"/>
                </a:solidFill>
                <a:latin typeface="Epilogue" pitchFamily="34" charset="0"/>
                <a:ea typeface="Epilogue" pitchFamily="34" charset="-122"/>
                <a:cs typeface="Epilogue" pitchFamily="34" charset="-120"/>
              </a:rPr>
              <a:t>Remove from top</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543719"/>
            <a:ext cx="10868745" cy="561181"/>
          </a:xfrm>
          <a:prstGeom prst="rect">
            <a:avLst/>
          </a:prstGeom>
          <a:noFill/>
          <a:ln/>
        </p:spPr>
        <p:txBody>
          <a:bodyPr wrap="none" lIns="0" tIns="0" rIns="0" bIns="0" rtlCol="0" anchor="t"/>
          <a:lstStyle/>
          <a:p>
            <a:pPr algn="l" indent="0" marL="0">
              <a:lnSpc>
                <a:spcPct val="104000"/>
              </a:lnSpc>
              <a:buNone/>
            </a:pPr>
            <a:r>
              <a:rPr lang="en-US" sz="3500" dirty="0">
                <a:solidFill>
                  <a:srgbClr val="FFFFFF"/>
                </a:solidFill>
                <a:latin typeface="Fraunces Medium" pitchFamily="34" charset="0"/>
                <a:ea typeface="Fraunces Medium" pitchFamily="34" charset="-122"/>
                <a:cs typeface="Fraunces Medium" pitchFamily="34" charset="-120"/>
              </a:rPr>
              <a:t>Queue — First In, First Out</a:t>
            </a:r>
            <a:endParaRPr lang="en-US" sz="3500" dirty="0"/>
          </a:p>
        </p:txBody>
      </p:sp>
      <p:pic>
        <p:nvPicPr>
          <p:cNvPr id="3" name="Image 0" descr="preencoded.png">    </p:cNvPr>
          <p:cNvPicPr>
            <a:picLocks noChangeAspect="1"/>
          </p:cNvPicPr>
          <p:nvPr/>
        </p:nvPicPr>
        <p:blipFill>
          <a:blip r:embed="rId1"/>
          <a:stretch>
            <a:fillRect/>
          </a:stretch>
        </p:blipFill>
        <p:spPr>
          <a:xfrm>
            <a:off x="661475" y="1552674"/>
            <a:ext cx="3343191" cy="3343275"/>
          </a:xfrm>
          <a:prstGeom prst="rect">
            <a:avLst/>
          </a:prstGeom>
        </p:spPr>
      </p:pic>
      <p:sp>
        <p:nvSpPr>
          <p:cNvPr id="4" name="Text 1"/>
          <p:cNvSpPr/>
          <p:nvPr/>
        </p:nvSpPr>
        <p:spPr>
          <a:xfrm>
            <a:off x="4625165" y="1990427"/>
            <a:ext cx="6911306" cy="286841"/>
          </a:xfrm>
          <a:prstGeom prst="rect">
            <a:avLst/>
          </a:prstGeom>
          <a:noFill/>
          <a:ln/>
        </p:spPr>
        <p:txBody>
          <a:bodyPr wrap="none" lIns="0" tIns="0" rIns="0" bIns="0" rtlCol="0" anchor="t"/>
          <a:lstStyle/>
          <a:p>
            <a:pPr algn="l" indent="0" marL="0">
              <a:lnSpc>
                <a:spcPct val="104000"/>
              </a:lnSpc>
              <a:buNone/>
            </a:pPr>
            <a:r>
              <a:rPr lang="en-US" sz="1750"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1750" dirty="0">
                <a:solidFill>
                  <a:srgbClr val="FFFFFF"/>
                </a:solidFill>
                <a:latin typeface="Fraunces Medium" pitchFamily="34" charset="0"/>
                <a:ea typeface="Fraunces Medium" pitchFamily="34" charset="-122"/>
                <a:cs typeface="Fraunces Medium" pitchFamily="34" charset="-120"/>
              </a:rPr>
              <a:t> Analogy: The Jeepney Line</a:t>
            </a:r>
            <a:endParaRPr lang="en-US" sz="1750" dirty="0"/>
          </a:p>
        </p:txBody>
      </p:sp>
      <p:sp>
        <p:nvSpPr>
          <p:cNvPr id="5" name="Text 2"/>
          <p:cNvSpPr/>
          <p:nvPr/>
        </p:nvSpPr>
        <p:spPr>
          <a:xfrm>
            <a:off x="4625165" y="2447826"/>
            <a:ext cx="6911306" cy="560189"/>
          </a:xfrm>
          <a:prstGeom prst="rect">
            <a:avLst/>
          </a:prstGeom>
          <a:noFill/>
          <a:ln/>
        </p:spPr>
        <p:txBody>
          <a:bodyPr wrap="square" lIns="0" tIns="0" rIns="0" bIns="0" rtlCol="0" anchor="t">
            <a:normAutofit/>
          </a:bodyPr>
          <a:lstStyle/>
          <a:p>
            <a:pPr algn="l" indent="0" marL="0">
              <a:lnSpc>
                <a:spcPct val="130000"/>
              </a:lnSpc>
              <a:buNone/>
            </a:pPr>
            <a:r>
              <a:rPr lang="en-US" sz="1400" dirty="0">
                <a:solidFill>
                  <a:srgbClr val="EBECEF"/>
                </a:solidFill>
                <a:latin typeface="Epilogue" pitchFamily="34" charset="0"/>
                <a:ea typeface="Epilogue" pitchFamily="34" charset="-122"/>
                <a:cs typeface="Epilogue" pitchFamily="34" charset="-120"/>
              </a:rPr>
              <a:t>The first person to queue is the first to board. Newcomers join at the </a:t>
            </a:r>
            <a:pPr algn="l" indent="0" marL="0">
              <a:lnSpc>
                <a:spcPct val="130000"/>
              </a:lnSpc>
              <a:buNone/>
            </a:pPr>
            <a:r>
              <a:rPr lang="en-US" sz="1400" b="1" dirty="0">
                <a:solidFill>
                  <a:srgbClr val="EBECEF"/>
                </a:solidFill>
                <a:latin typeface="Epilogue Bold" pitchFamily="34" charset="0"/>
                <a:ea typeface="Epilogue Bold" pitchFamily="34" charset="-122"/>
                <a:cs typeface="Epilogue Bold" pitchFamily="34" charset="-120"/>
              </a:rPr>
              <a:t>back</a:t>
            </a:r>
            <a:pPr algn="l" indent="0" marL="0">
              <a:lnSpc>
                <a:spcPct val="130000"/>
              </a:lnSpc>
              <a:buNone/>
            </a:pPr>
            <a:r>
              <a:rPr lang="en-US" sz="1400" dirty="0">
                <a:solidFill>
                  <a:srgbClr val="EBECEF"/>
                </a:solidFill>
                <a:latin typeface="Epilogue" pitchFamily="34" charset="0"/>
                <a:ea typeface="Epilogue" pitchFamily="34" charset="-122"/>
                <a:cs typeface="Epilogue" pitchFamily="34" charset="-120"/>
              </a:rPr>
              <a:t>. Order is always preserved — </a:t>
            </a:r>
            <a:pPr algn="l" indent="0" marL="0">
              <a:lnSpc>
                <a:spcPct val="130000"/>
              </a:lnSpc>
              <a:buNone/>
            </a:pPr>
            <a:r>
              <a:rPr lang="en-US" sz="1400" b="1" dirty="0">
                <a:solidFill>
                  <a:srgbClr val="EBECEF"/>
                </a:solidFill>
                <a:latin typeface="Epilogue Bold" pitchFamily="34" charset="0"/>
                <a:ea typeface="Epilogue Bold" pitchFamily="34" charset="-122"/>
                <a:cs typeface="Epilogue Bold" pitchFamily="34" charset="-120"/>
              </a:rPr>
              <a:t>FIFO</a:t>
            </a:r>
            <a:pPr algn="l" indent="0" marL="0">
              <a:lnSpc>
                <a:spcPct val="130000"/>
              </a:lnSpc>
              <a:buNone/>
            </a:pPr>
            <a:r>
              <a:rPr lang="en-US" sz="1400" dirty="0">
                <a:solidFill>
                  <a:srgbClr val="EBECEF"/>
                </a:solidFill>
                <a:latin typeface="Epilogue" pitchFamily="34" charset="0"/>
                <a:ea typeface="Epilogue" pitchFamily="34" charset="-122"/>
                <a:cs typeface="Epilogue" pitchFamily="34" charset="-120"/>
              </a:rPr>
              <a:t>.</a:t>
            </a:r>
            <a:endParaRPr lang="en-US" sz="1400" dirty="0"/>
          </a:p>
        </p:txBody>
      </p:sp>
      <p:sp>
        <p:nvSpPr>
          <p:cNvPr id="6" name="Shape 3"/>
          <p:cNvSpPr/>
          <p:nvPr/>
        </p:nvSpPr>
        <p:spPr>
          <a:xfrm>
            <a:off x="4625165" y="3199904"/>
            <a:ext cx="6911306" cy="1236960"/>
          </a:xfrm>
          <a:prstGeom prst="roundRect">
            <a:avLst>
              <a:gd name="adj" fmla="val 6097"/>
            </a:avLst>
          </a:prstGeom>
          <a:solidFill>
            <a:srgbClr val="283157"/>
          </a:solidFill>
          <a:ln/>
        </p:spPr>
      </p:sp>
      <p:pic>
        <p:nvPicPr>
          <p:cNvPr id="7" name="Image 1" descr="preencoded.png">    </p:cNvPr>
          <p:cNvPicPr>
            <a:picLocks noChangeAspect="1"/>
          </p:cNvPicPr>
          <p:nvPr/>
        </p:nvPicPr>
        <p:blipFill>
          <a:blip r:embed="rId2"/>
          <a:stretch>
            <a:fillRect/>
          </a:stretch>
        </p:blipFill>
        <p:spPr>
          <a:xfrm>
            <a:off x="4804647" y="3451324"/>
            <a:ext cx="224427" cy="179487"/>
          </a:xfrm>
          <a:prstGeom prst="rect">
            <a:avLst/>
          </a:prstGeom>
        </p:spPr>
      </p:pic>
      <p:sp>
        <p:nvSpPr>
          <p:cNvPr id="8" name="Text 4"/>
          <p:cNvSpPr/>
          <p:nvPr/>
        </p:nvSpPr>
        <p:spPr>
          <a:xfrm>
            <a:off x="5208556" y="3398242"/>
            <a:ext cx="6148432" cy="840284"/>
          </a:xfrm>
          <a:prstGeom prst="rect">
            <a:avLst/>
          </a:prstGeom>
          <a:noFill/>
          <a:ln/>
        </p:spPr>
        <p:txBody>
          <a:bodyPr wrap="square" lIns="0" tIns="0" rIns="0" bIns="0" rtlCol="0" anchor="t">
            <a:normAutofit/>
          </a:bodyPr>
          <a:lstStyle/>
          <a:p>
            <a:pPr algn="l" indent="0" marL="0">
              <a:lnSpc>
                <a:spcPct val="130000"/>
              </a:lnSpc>
              <a:buNone/>
            </a:pPr>
            <a:r>
              <a:rPr lang="en-US" sz="1400" b="1" dirty="0">
                <a:solidFill>
                  <a:srgbClr val="FFFFFF"/>
                </a:solidFill>
                <a:latin typeface="Epilogue Bold" pitchFamily="34" charset="0"/>
                <a:ea typeface="Epilogue Bold" pitchFamily="34" charset="-122"/>
                <a:cs typeface="Epilogue Bold" pitchFamily="34" charset="-120"/>
              </a:rPr>
              <a:t>Real-World Use — Printer Queues:</a:t>
            </a:r>
            <a:pPr algn="l" indent="0" marL="0">
              <a:lnSpc>
                <a:spcPct val="130000"/>
              </a:lnSpc>
              <a:buNone/>
            </a:pPr>
            <a:r>
              <a:rPr lang="en-US" sz="1400" dirty="0">
                <a:solidFill>
                  <a:srgbClr val="FFFFFF"/>
                </a:solidFill>
                <a:latin typeface="Epilogue" pitchFamily="34" charset="0"/>
                <a:ea typeface="Epilogue" pitchFamily="34" charset="-122"/>
                <a:cs typeface="Epilogue" pitchFamily="34" charset="-120"/>
              </a:rPr>
              <a:t> Documents sent to a shared printer are queued. The first document sent is the first printed — no jumping the line. Same logic applies to ticket booking systems.</a:t>
            </a:r>
            <a:endParaRPr lang="en-US" sz="1400" dirty="0"/>
          </a:p>
        </p:txBody>
      </p:sp>
      <p:sp>
        <p:nvSpPr>
          <p:cNvPr id="9" name="Shape 5"/>
          <p:cNvSpPr/>
          <p:nvPr/>
        </p:nvSpPr>
        <p:spPr>
          <a:xfrm>
            <a:off x="661475" y="5279727"/>
            <a:ext cx="10868745" cy="1034554"/>
          </a:xfrm>
          <a:prstGeom prst="roundRect">
            <a:avLst>
              <a:gd name="adj" fmla="val 7290"/>
            </a:avLst>
          </a:prstGeom>
          <a:solidFill>
            <a:srgbClr val="283157"/>
          </a:solidFill>
          <a:ln w="6350">
            <a:solidFill>
              <a:srgbClr val="414A70"/>
            </a:solidFill>
            <a:prstDash val="solid"/>
          </a:ln>
        </p:spPr>
      </p:sp>
      <p:sp>
        <p:nvSpPr>
          <p:cNvPr id="10" name="Shape 6"/>
          <p:cNvSpPr/>
          <p:nvPr/>
        </p:nvSpPr>
        <p:spPr>
          <a:xfrm>
            <a:off x="667825" y="5286077"/>
            <a:ext cx="5428023" cy="1021854"/>
          </a:xfrm>
          <a:prstGeom prst="rect">
            <a:avLst/>
          </a:prstGeom>
          <a:solidFill>
            <a:srgbClr val="283157"/>
          </a:solidFill>
          <a:ln/>
        </p:spPr>
      </p:sp>
      <p:sp>
        <p:nvSpPr>
          <p:cNvPr id="11" name="Text 7"/>
          <p:cNvSpPr/>
          <p:nvPr/>
        </p:nvSpPr>
        <p:spPr>
          <a:xfrm>
            <a:off x="847307" y="5465564"/>
            <a:ext cx="5069058" cy="280491"/>
          </a:xfrm>
          <a:prstGeom prst="rect">
            <a:avLst/>
          </a:prstGeom>
          <a:noFill/>
          <a:ln/>
        </p:spPr>
        <p:txBody>
          <a:bodyPr wrap="none" lIns="0" tIns="0" rIns="0" bIns="0" rtlCol="0" anchor="t"/>
          <a:lstStyle/>
          <a:p>
            <a:pPr algn="l" indent="0" marL="0">
              <a:lnSpc>
                <a:spcPct val="104000"/>
              </a:lnSpc>
              <a:buNone/>
            </a:pPr>
            <a:r>
              <a:rPr lang="en-US" sz="1750" dirty="0">
                <a:solidFill>
                  <a:srgbClr val="EBECEF"/>
                </a:solidFill>
                <a:latin typeface="Fraunces Medium" pitchFamily="34" charset="0"/>
                <a:ea typeface="Fraunces Medium" pitchFamily="34" charset="-122"/>
                <a:cs typeface="Fraunces Medium" pitchFamily="34" charset="-120"/>
              </a:rPr>
              <a:t>Enqueue</a:t>
            </a:r>
            <a:endParaRPr lang="en-US" sz="1750" dirty="0"/>
          </a:p>
        </p:txBody>
      </p:sp>
      <p:sp>
        <p:nvSpPr>
          <p:cNvPr id="12" name="Text 8"/>
          <p:cNvSpPr/>
          <p:nvPr/>
        </p:nvSpPr>
        <p:spPr>
          <a:xfrm>
            <a:off x="847307" y="5848350"/>
            <a:ext cx="5069058" cy="280095"/>
          </a:xfrm>
          <a:prstGeom prst="rect">
            <a:avLst/>
          </a:prstGeom>
          <a:noFill/>
          <a:ln/>
        </p:spPr>
        <p:txBody>
          <a:bodyPr wrap="none" lIns="0" tIns="0" rIns="0" bIns="0" rtlCol="0" anchor="t"/>
          <a:lstStyle/>
          <a:p>
            <a:pPr algn="l" indent="0" marL="0">
              <a:lnSpc>
                <a:spcPct val="130000"/>
              </a:lnSpc>
              <a:buNone/>
            </a:pPr>
            <a:r>
              <a:rPr lang="en-US" sz="1400" dirty="0">
                <a:solidFill>
                  <a:srgbClr val="EBECEF"/>
                </a:solidFill>
                <a:latin typeface="Epilogue" pitchFamily="34" charset="0"/>
                <a:ea typeface="Epilogue" pitchFamily="34" charset="-122"/>
                <a:cs typeface="Epilogue" pitchFamily="34" charset="-120"/>
              </a:rPr>
              <a:t>Join the back of the line</a:t>
            </a:r>
            <a:endParaRPr lang="en-US" sz="1400" dirty="0"/>
          </a:p>
        </p:txBody>
      </p:sp>
      <p:sp>
        <p:nvSpPr>
          <p:cNvPr id="13" name="Shape 9"/>
          <p:cNvSpPr/>
          <p:nvPr/>
        </p:nvSpPr>
        <p:spPr>
          <a:xfrm>
            <a:off x="6095848" y="5286077"/>
            <a:ext cx="5428023" cy="1021854"/>
          </a:xfrm>
          <a:prstGeom prst="rect">
            <a:avLst/>
          </a:prstGeom>
          <a:solidFill>
            <a:srgbClr val="283157"/>
          </a:solidFill>
          <a:ln/>
        </p:spPr>
      </p:sp>
      <p:sp>
        <p:nvSpPr>
          <p:cNvPr id="14" name="Shape 10"/>
          <p:cNvSpPr/>
          <p:nvPr/>
        </p:nvSpPr>
        <p:spPr>
          <a:xfrm>
            <a:off x="6095848" y="5286077"/>
            <a:ext cx="25399" cy="1021854"/>
          </a:xfrm>
          <a:prstGeom prst="roundRect">
            <a:avLst>
              <a:gd name="adj" fmla="val 296934"/>
            </a:avLst>
          </a:prstGeom>
          <a:solidFill>
            <a:srgbClr val="414A70"/>
          </a:solidFill>
          <a:ln/>
        </p:spPr>
      </p:sp>
      <p:sp>
        <p:nvSpPr>
          <p:cNvPr id="15" name="Text 11"/>
          <p:cNvSpPr/>
          <p:nvPr/>
        </p:nvSpPr>
        <p:spPr>
          <a:xfrm>
            <a:off x="6275330" y="5465564"/>
            <a:ext cx="5069058" cy="280491"/>
          </a:xfrm>
          <a:prstGeom prst="rect">
            <a:avLst/>
          </a:prstGeom>
          <a:noFill/>
          <a:ln/>
        </p:spPr>
        <p:txBody>
          <a:bodyPr wrap="none" lIns="0" tIns="0" rIns="0" bIns="0" rtlCol="0" anchor="t"/>
          <a:lstStyle/>
          <a:p>
            <a:pPr algn="l" indent="0" marL="0">
              <a:lnSpc>
                <a:spcPct val="104000"/>
              </a:lnSpc>
              <a:buNone/>
            </a:pPr>
            <a:r>
              <a:rPr lang="en-US" sz="1750" dirty="0">
                <a:solidFill>
                  <a:srgbClr val="EBECEF"/>
                </a:solidFill>
                <a:latin typeface="Fraunces Medium" pitchFamily="34" charset="0"/>
                <a:ea typeface="Fraunces Medium" pitchFamily="34" charset="-122"/>
                <a:cs typeface="Fraunces Medium" pitchFamily="34" charset="-120"/>
              </a:rPr>
              <a:t>Dequeue</a:t>
            </a:r>
            <a:endParaRPr lang="en-US" sz="1750" dirty="0"/>
          </a:p>
        </p:txBody>
      </p:sp>
      <p:sp>
        <p:nvSpPr>
          <p:cNvPr id="16" name="Text 12"/>
          <p:cNvSpPr/>
          <p:nvPr/>
        </p:nvSpPr>
        <p:spPr>
          <a:xfrm>
            <a:off x="6275330" y="5848350"/>
            <a:ext cx="5069058" cy="280095"/>
          </a:xfrm>
          <a:prstGeom prst="rect">
            <a:avLst/>
          </a:prstGeom>
          <a:noFill/>
          <a:ln/>
        </p:spPr>
        <p:txBody>
          <a:bodyPr wrap="none" lIns="0" tIns="0" rIns="0" bIns="0" rtlCol="0" anchor="t"/>
          <a:lstStyle/>
          <a:p>
            <a:pPr algn="l" indent="0" marL="0">
              <a:lnSpc>
                <a:spcPct val="130000"/>
              </a:lnSpc>
              <a:buNone/>
            </a:pPr>
            <a:r>
              <a:rPr lang="en-US" sz="1400" dirty="0">
                <a:solidFill>
                  <a:srgbClr val="EBECEF"/>
                </a:solidFill>
                <a:latin typeface="Epilogue" pitchFamily="34" charset="0"/>
                <a:ea typeface="Epilogue" pitchFamily="34" charset="-122"/>
                <a:cs typeface="Epilogue" pitchFamily="34" charset="-120"/>
              </a:rPr>
              <a:t>Leave from the front</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687586"/>
            <a:ext cx="10868745" cy="472480"/>
          </a:xfrm>
          <a:prstGeom prst="rect">
            <a:avLst/>
          </a:prstGeom>
          <a:noFill/>
          <a:ln/>
        </p:spPr>
        <p:txBody>
          <a:bodyPr wrap="none" lIns="0" tIns="0" rIns="0" bIns="0" rtlCol="0" anchor="t"/>
          <a:lstStyle/>
          <a:p>
            <a:pPr algn="l" indent="0" marL="0">
              <a:lnSpc>
                <a:spcPct val="104000"/>
              </a:lnSpc>
              <a:buNone/>
            </a:pPr>
            <a:r>
              <a:rPr lang="en-US" sz="2950" dirty="0">
                <a:solidFill>
                  <a:srgbClr val="FFFFFF"/>
                </a:solidFill>
                <a:latin typeface="Fraunces Medium" pitchFamily="34" charset="0"/>
                <a:ea typeface="Fraunces Medium" pitchFamily="34" charset="-122"/>
                <a:cs typeface="Fraunces Medium" pitchFamily="34" charset="-120"/>
              </a:rPr>
              <a:t>From Plain English to Pseudocode</a:t>
            </a:r>
            <a:endParaRPr lang="en-US" sz="2950" dirty="0"/>
          </a:p>
        </p:txBody>
      </p:sp>
      <p:sp>
        <p:nvSpPr>
          <p:cNvPr id="3" name="Text 1"/>
          <p:cNvSpPr/>
          <p:nvPr/>
        </p:nvSpPr>
        <p:spPr>
          <a:xfrm>
            <a:off x="661475" y="1401961"/>
            <a:ext cx="11478330" cy="217686"/>
          </a:xfrm>
          <a:prstGeom prst="rect">
            <a:avLst/>
          </a:prstGeom>
          <a:noFill/>
          <a:ln/>
        </p:spPr>
        <p:txBody>
          <a:bodyPr wrap="none" lIns="0" tIns="0" rIns="0" bIns="0" rtlCol="0" anchor="t"/>
          <a:lstStyle/>
          <a:p>
            <a:pPr algn="l" indent="0" marL="0">
              <a:lnSpc>
                <a:spcPct val="120000"/>
              </a:lnSpc>
              <a:buNone/>
            </a:pPr>
            <a:r>
              <a:rPr lang="en-US" sz="1150" dirty="0">
                <a:solidFill>
                  <a:srgbClr val="EBECEF"/>
                </a:solidFill>
                <a:latin typeface="Epilogue" pitchFamily="34" charset="0"/>
                <a:ea typeface="Epilogue" pitchFamily="34" charset="-122"/>
                <a:cs typeface="Epilogue" pitchFamily="34" charset="-120"/>
              </a:rPr>
              <a:t>Let's build a stack that can check if it's empty, add items, and display them. Structural names use </a:t>
            </a:r>
            <a:pPr algn="l" indent="0" marL="0">
              <a:lnSpc>
                <a:spcPct val="120000"/>
              </a:lnSpc>
              <a:buNone/>
            </a:pPr>
            <a:r>
              <a:rPr lang="en-US" sz="1150" b="1" dirty="0">
                <a:solidFill>
                  <a:srgbClr val="EBECEF"/>
                </a:solidFill>
                <a:latin typeface="Epilogue Bold" pitchFamily="34" charset="0"/>
                <a:ea typeface="Epilogue Bold" pitchFamily="34" charset="-122"/>
                <a:cs typeface="Epilogue Bold" pitchFamily="34" charset="-120"/>
              </a:rPr>
              <a:t>Tagalog</a:t>
            </a:r>
            <a:pPr algn="l" indent="0" marL="0">
              <a:lnSpc>
                <a:spcPct val="120000"/>
              </a:lnSpc>
              <a:buNone/>
            </a:pPr>
            <a:r>
              <a:rPr lang="en-US" sz="1150" dirty="0">
                <a:solidFill>
                  <a:srgbClr val="EBECEF"/>
                </a:solidFill>
                <a:latin typeface="Epilogue" pitchFamily="34" charset="0"/>
                <a:ea typeface="Epilogue" pitchFamily="34" charset="-122"/>
                <a:cs typeface="Epilogue" pitchFamily="34" charset="-120"/>
              </a:rPr>
              <a:t> while explanations stay in </a:t>
            </a:r>
            <a:pPr algn="l" indent="0" marL="0">
              <a:lnSpc>
                <a:spcPct val="120000"/>
              </a:lnSpc>
              <a:buNone/>
            </a:pPr>
            <a:r>
              <a:rPr lang="en-US" sz="1150" b="1" dirty="0">
                <a:solidFill>
                  <a:srgbClr val="EBECEF"/>
                </a:solidFill>
                <a:latin typeface="Epilogue Bold" pitchFamily="34" charset="0"/>
                <a:ea typeface="Epilogue Bold" pitchFamily="34" charset="-122"/>
                <a:cs typeface="Epilogue Bold" pitchFamily="34" charset="-120"/>
              </a:rPr>
              <a:t>English</a:t>
            </a:r>
            <a:pPr algn="l" indent="0" marL="0">
              <a:lnSpc>
                <a:spcPct val="120000"/>
              </a:lnSpc>
              <a:buNone/>
            </a:pPr>
            <a:r>
              <a:rPr lang="en-US" sz="1150" dirty="0">
                <a:solidFill>
                  <a:srgbClr val="EBECEF"/>
                </a:solidFill>
                <a:latin typeface="Epilogue" pitchFamily="34" charset="0"/>
                <a:ea typeface="Epilogue" pitchFamily="34" charset="-122"/>
                <a:cs typeface="Epilogue" pitchFamily="34" charset="-120"/>
              </a:rPr>
              <a:t>.</a:t>
            </a:r>
            <a:endParaRPr lang="en-US" sz="1150" dirty="0"/>
          </a:p>
        </p:txBody>
      </p:sp>
      <p:sp>
        <p:nvSpPr>
          <p:cNvPr id="4" name="Text 2"/>
          <p:cNvSpPr/>
          <p:nvPr/>
        </p:nvSpPr>
        <p:spPr>
          <a:xfrm>
            <a:off x="661475" y="1876623"/>
            <a:ext cx="5249930" cy="236240"/>
          </a:xfrm>
          <a:prstGeom prst="rect">
            <a:avLst/>
          </a:prstGeom>
          <a:noFill/>
          <a:ln/>
        </p:spPr>
        <p:txBody>
          <a:bodyPr wrap="none" lIns="0" tIns="0" rIns="0" bIns="0" rtlCol="0" anchor="t"/>
          <a:lstStyle/>
          <a:p>
            <a:pPr algn="l" indent="0" marL="0">
              <a:lnSpc>
                <a:spcPct val="104000"/>
              </a:lnSpc>
              <a:buNone/>
            </a:pPr>
            <a:r>
              <a:rPr lang="en-US" sz="1450" dirty="0">
                <a:solidFill>
                  <a:srgbClr val="FFFFFF"/>
                </a:solidFill>
                <a:latin typeface="Fraunces Medium" pitchFamily="34" charset="0"/>
                <a:ea typeface="Fraunces Medium" pitchFamily="34" charset="-122"/>
                <a:cs typeface="Fraunces Medium" pitchFamily="34" charset="-120"/>
              </a:rPr>
              <a:t>Pseudocode</a:t>
            </a:r>
            <a:endParaRPr lang="en-US" sz="1450" dirty="0"/>
          </a:p>
        </p:txBody>
      </p:sp>
      <p:sp>
        <p:nvSpPr>
          <p:cNvPr id="5" name="Shape 3"/>
          <p:cNvSpPr/>
          <p:nvPr/>
        </p:nvSpPr>
        <p:spPr>
          <a:xfrm>
            <a:off x="661475" y="2248892"/>
            <a:ext cx="5249930" cy="2914650"/>
          </a:xfrm>
          <a:prstGeom prst="roundRect">
            <a:avLst>
              <a:gd name="adj" fmla="val 2179"/>
            </a:avLst>
          </a:prstGeom>
          <a:solidFill>
            <a:srgbClr val="151B33"/>
          </a:solidFill>
          <a:ln/>
        </p:spPr>
      </p:sp>
      <p:sp>
        <p:nvSpPr>
          <p:cNvPr id="6" name="Shape 4"/>
          <p:cNvSpPr/>
          <p:nvPr/>
        </p:nvSpPr>
        <p:spPr>
          <a:xfrm>
            <a:off x="653934" y="2248892"/>
            <a:ext cx="5265010" cy="2914650"/>
          </a:xfrm>
          <a:prstGeom prst="roundRect">
            <a:avLst>
              <a:gd name="adj" fmla="val 778"/>
            </a:avLst>
          </a:prstGeom>
          <a:solidFill>
            <a:srgbClr val="151B33"/>
          </a:solidFill>
          <a:ln/>
        </p:spPr>
      </p:sp>
      <p:sp>
        <p:nvSpPr>
          <p:cNvPr id="7" name="Text 5"/>
          <p:cNvSpPr/>
          <p:nvPr/>
        </p:nvSpPr>
        <p:spPr>
          <a:xfrm>
            <a:off x="842941" y="2400102"/>
            <a:ext cx="4886996" cy="2612231"/>
          </a:xfrm>
          <a:prstGeom prst="rect">
            <a:avLst/>
          </a:prstGeom>
          <a:noFill/>
          <a:ln/>
        </p:spPr>
        <p:txBody>
          <a:bodyPr wrap="square" lIns="0" tIns="0" rIns="0" bIns="0" rtlCol="0" anchor="t">
            <a:normAutofit/>
          </a:bodyPr>
          <a:lstStyle/>
          <a:p>
            <a:pPr algn="l" indent="0" marL="0">
              <a:lnSpc>
                <a:spcPct val="120000"/>
              </a:lnSpc>
              <a:buNone/>
            </a:pPr>
            <a:r>
              <a:rPr lang="en-US" sz="1150" dirty="0">
                <a:solidFill>
                  <a:srgbClr val="EBECEF"/>
                </a:solidFill>
                <a:latin typeface="Consolas" pitchFamily="34" charset="0"/>
                <a:ea typeface="Consolas" pitchFamily="34" charset="-122"/>
                <a:cs typeface="Consolas" pitchFamily="34" charset="-120"/>
              </a:rPr>
              <a:t>STRUCTURE Tumpok (Stack)</a:t>
            </a:r>
            <a:endParaRPr lang="en-US" sz="1150" dirty="0"/>
          </a:p>
          <a:p>
            <a:pPr algn="l" indent="0" marL="0">
              <a:lnSpc>
                <a:spcPct val="120000"/>
              </a:lnSpc>
              <a:buNone/>
            </a:pPr>
            <a:r>
              <a:rPr lang="en-US" sz="1150" dirty="0">
                <a:solidFill>
                  <a:srgbClr val="EBECEF"/>
                </a:solidFill>
                <a:latin typeface="Consolas" pitchFamily="34" charset="0"/>
                <a:ea typeface="Consolas" pitchFamily="34" charset="-122"/>
                <a:cs typeface="Consolas" pitchFamily="34" charset="-120"/>
              </a:rPr>
              <a:t>  LIST mgaSalansan</a:t>
            </a:r>
            <a:endParaRPr lang="en-US" sz="1150" dirty="0"/>
          </a:p>
          <a:p>
            <a:pPr algn="l" indent="0" marL="0">
              <a:lnSpc>
                <a:spcPct val="120000"/>
              </a:lnSpc>
              <a:buNone/>
            </a:pPr>
            <a:endParaRPr lang="en-US" sz="1150" dirty="0"/>
          </a:p>
          <a:p>
            <a:pPr algn="l" indent="0" marL="0">
              <a:lnSpc>
                <a:spcPct val="120000"/>
              </a:lnSpc>
              <a:buNone/>
            </a:pPr>
            <a:r>
              <a:rPr lang="en-US" sz="1150" dirty="0">
                <a:solidFill>
                  <a:srgbClr val="EBECEF"/>
                </a:solidFill>
                <a:latin typeface="Consolas" pitchFamily="34" charset="0"/>
                <a:ea typeface="Consolas" pitchFamily="34" charset="-122"/>
                <a:cs typeface="Consolas" pitchFamily="34" charset="-120"/>
              </a:rPr>
              <a:t>  FUNCTION walangLaman()</a:t>
            </a:r>
            <a:endParaRPr lang="en-US" sz="1150" dirty="0"/>
          </a:p>
          <a:p>
            <a:pPr algn="l" indent="0" marL="0">
              <a:lnSpc>
                <a:spcPct val="120000"/>
              </a:lnSpc>
              <a:buNone/>
            </a:pPr>
            <a:r>
              <a:rPr lang="en-US" sz="1150" dirty="0">
                <a:solidFill>
                  <a:srgbClr val="EBECEF"/>
                </a:solidFill>
                <a:latin typeface="Consolas" pitchFamily="34" charset="0"/>
                <a:ea typeface="Consolas" pitchFamily="34" charset="-122"/>
                <a:cs typeface="Consolas" pitchFamily="34" charset="-120"/>
              </a:rPr>
              <a:t>    RETURN true IF empty</a:t>
            </a:r>
            <a:endParaRPr lang="en-US" sz="1150" dirty="0"/>
          </a:p>
          <a:p>
            <a:pPr algn="l" indent="0" marL="0">
              <a:lnSpc>
                <a:spcPct val="120000"/>
              </a:lnSpc>
              <a:buNone/>
            </a:pPr>
            <a:endParaRPr lang="en-US" sz="1150" dirty="0"/>
          </a:p>
          <a:p>
            <a:pPr algn="l" indent="0" marL="0">
              <a:lnSpc>
                <a:spcPct val="120000"/>
              </a:lnSpc>
              <a:buNone/>
            </a:pPr>
            <a:r>
              <a:rPr lang="en-US" sz="1150" dirty="0">
                <a:solidFill>
                  <a:srgbClr val="EBECEF"/>
                </a:solidFill>
                <a:latin typeface="Consolas" pitchFamily="34" charset="0"/>
                <a:ea typeface="Consolas" pitchFamily="34" charset="-122"/>
                <a:cs typeface="Consolas" pitchFamily="34" charset="-120"/>
              </a:rPr>
              <a:t>  FUNCTION ipasok(halaga)</a:t>
            </a:r>
            <a:endParaRPr lang="en-US" sz="1150" dirty="0"/>
          </a:p>
          <a:p>
            <a:pPr algn="l" indent="0" marL="0">
              <a:lnSpc>
                <a:spcPct val="120000"/>
              </a:lnSpc>
              <a:buNone/>
            </a:pPr>
            <a:r>
              <a:rPr lang="en-US" sz="1150" dirty="0">
                <a:solidFill>
                  <a:srgbClr val="EBECEF"/>
                </a:solidFill>
                <a:latin typeface="Consolas" pitchFamily="34" charset="0"/>
                <a:ea typeface="Consolas" pitchFamily="34" charset="-122"/>
                <a:cs typeface="Consolas" pitchFamily="34" charset="-120"/>
              </a:rPr>
              <a:t>    ADD halaga to end</a:t>
            </a:r>
            <a:endParaRPr lang="en-US" sz="1150" dirty="0"/>
          </a:p>
          <a:p>
            <a:pPr algn="l" indent="0" marL="0">
              <a:lnSpc>
                <a:spcPct val="120000"/>
              </a:lnSpc>
              <a:buNone/>
            </a:pPr>
            <a:endParaRPr lang="en-US" sz="1150" dirty="0"/>
          </a:p>
          <a:p>
            <a:pPr algn="l" indent="0" marL="0">
              <a:lnSpc>
                <a:spcPct val="120000"/>
              </a:lnSpc>
              <a:buNone/>
            </a:pPr>
            <a:r>
              <a:rPr lang="en-US" sz="1150" dirty="0">
                <a:solidFill>
                  <a:srgbClr val="EBECEF"/>
                </a:solidFill>
                <a:latin typeface="Consolas" pitchFamily="34" charset="0"/>
                <a:ea typeface="Consolas" pitchFamily="34" charset="-122"/>
                <a:cs typeface="Consolas" pitchFamily="34" charset="-120"/>
              </a:rPr>
              <a:t>  FUNCTION ipakita()</a:t>
            </a:r>
            <a:endParaRPr lang="en-US" sz="1150" dirty="0"/>
          </a:p>
          <a:p>
            <a:pPr algn="l" indent="0" marL="0">
              <a:lnSpc>
                <a:spcPct val="120000"/>
              </a:lnSpc>
              <a:buNone/>
            </a:pPr>
            <a:r>
              <a:rPr lang="en-US" sz="1150" dirty="0">
                <a:solidFill>
                  <a:srgbClr val="EBECEF"/>
                </a:solidFill>
                <a:latin typeface="Consolas" pitchFamily="34" charset="0"/>
                <a:ea typeface="Consolas" pitchFamily="34" charset="-122"/>
                <a:cs typeface="Consolas" pitchFamily="34" charset="-120"/>
              </a:rPr>
              <a:t>    PRINT all items</a:t>
            </a:r>
            <a:endParaRPr lang="en-US" sz="1150" dirty="0"/>
          </a:p>
          <a:p>
            <a:pPr algn="l" indent="0" marL="0">
              <a:lnSpc>
                <a:spcPct val="120000"/>
              </a:lnSpc>
              <a:buNone/>
            </a:pPr>
            <a:r>
              <a:rPr lang="en-US" sz="1150" dirty="0">
                <a:solidFill>
                  <a:srgbClr val="EBECEF"/>
                </a:solidFill>
                <a:latin typeface="Consolas" pitchFamily="34" charset="0"/>
                <a:ea typeface="Consolas" pitchFamily="34" charset="-122"/>
                <a:cs typeface="Consolas" pitchFamily="34" charset="-120"/>
              </a:rPr>
              <a:t>END STRUCTURE</a:t>
            </a:r>
            <a:endParaRPr lang="en-US" sz="1150" dirty="0"/>
          </a:p>
        </p:txBody>
      </p:sp>
      <p:sp>
        <p:nvSpPr>
          <p:cNvPr id="8" name="Text 6"/>
          <p:cNvSpPr/>
          <p:nvPr/>
        </p:nvSpPr>
        <p:spPr>
          <a:xfrm>
            <a:off x="6286640" y="1876623"/>
            <a:ext cx="5249930" cy="236240"/>
          </a:xfrm>
          <a:prstGeom prst="rect">
            <a:avLst/>
          </a:prstGeom>
          <a:noFill/>
          <a:ln/>
        </p:spPr>
        <p:txBody>
          <a:bodyPr wrap="none" lIns="0" tIns="0" rIns="0" bIns="0" rtlCol="0" anchor="t"/>
          <a:lstStyle/>
          <a:p>
            <a:pPr algn="l" indent="0" marL="0">
              <a:lnSpc>
                <a:spcPct val="104000"/>
              </a:lnSpc>
              <a:buNone/>
            </a:pPr>
            <a:r>
              <a:rPr lang="en-US" sz="1450" dirty="0">
                <a:solidFill>
                  <a:srgbClr val="FFFFFF"/>
                </a:solidFill>
                <a:latin typeface="Fraunces Medium" pitchFamily="34" charset="0"/>
                <a:ea typeface="Fraunces Medium" pitchFamily="34" charset="-122"/>
                <a:cs typeface="Fraunces Medium" pitchFamily="34" charset="-120"/>
              </a:rPr>
              <a:t>Java Translation</a:t>
            </a:r>
            <a:endParaRPr lang="en-US" sz="1450" dirty="0"/>
          </a:p>
        </p:txBody>
      </p:sp>
      <p:sp>
        <p:nvSpPr>
          <p:cNvPr id="9" name="Shape 7"/>
          <p:cNvSpPr/>
          <p:nvPr/>
        </p:nvSpPr>
        <p:spPr>
          <a:xfrm>
            <a:off x="6286640" y="2248892"/>
            <a:ext cx="5249930" cy="3785394"/>
          </a:xfrm>
          <a:prstGeom prst="roundRect">
            <a:avLst>
              <a:gd name="adj" fmla="val 1678"/>
            </a:avLst>
          </a:prstGeom>
          <a:solidFill>
            <a:srgbClr val="151B33"/>
          </a:solidFill>
          <a:ln/>
        </p:spPr>
      </p:sp>
      <p:sp>
        <p:nvSpPr>
          <p:cNvPr id="10" name="Shape 8"/>
          <p:cNvSpPr/>
          <p:nvPr/>
        </p:nvSpPr>
        <p:spPr>
          <a:xfrm>
            <a:off x="6279100" y="2248892"/>
            <a:ext cx="5265010" cy="3785394"/>
          </a:xfrm>
          <a:prstGeom prst="roundRect">
            <a:avLst>
              <a:gd name="adj" fmla="val 599"/>
            </a:avLst>
          </a:prstGeom>
          <a:solidFill>
            <a:srgbClr val="151B33"/>
          </a:solidFill>
          <a:ln/>
        </p:spPr>
      </p:sp>
      <p:sp>
        <p:nvSpPr>
          <p:cNvPr id="11" name="Text 9"/>
          <p:cNvSpPr/>
          <p:nvPr/>
        </p:nvSpPr>
        <p:spPr>
          <a:xfrm>
            <a:off x="6468107" y="2400102"/>
            <a:ext cx="4886996" cy="3482975"/>
          </a:xfrm>
          <a:prstGeom prst="rect">
            <a:avLst/>
          </a:prstGeom>
          <a:noFill/>
          <a:ln/>
        </p:spPr>
        <p:txBody>
          <a:bodyPr wrap="square" lIns="0" tIns="0" rIns="0" bIns="0" rtlCol="0" anchor="t">
            <a:normAutofit/>
          </a:bodyPr>
          <a:lstStyle/>
          <a:p>
            <a:pPr algn="l" indent="0" marL="0">
              <a:lnSpc>
                <a:spcPct val="120000"/>
              </a:lnSpc>
              <a:buNone/>
            </a:pPr>
            <a:r>
              <a:rPr lang="en-US" sz="1150" dirty="0">
                <a:solidFill>
                  <a:srgbClr val="FF7B72"/>
                </a:solidFill>
                <a:highlight>
                  <a:srgbClr val="151B33"/>
                </a:highlight>
                <a:latin typeface="Consolas" pitchFamily="34" charset="0"/>
                <a:ea typeface="Consolas" pitchFamily="34" charset="-122"/>
                <a:cs typeface="Consolas" pitchFamily="34" charset="-120"/>
              </a:rPr>
              <a:t>class Tumpok {</a:t>
            </a:r>
            <a:endParaRPr lang="en-US" sz="1150" dirty="0"/>
          </a:p>
          <a:p>
            <a:pPr algn="l" indent="0" marL="0">
              <a:lnSpc>
                <a:spcPct val="120000"/>
              </a:lnSpc>
              <a:buNone/>
            </a:pPr>
            <a:r>
              <a:rPr lang="en-US" sz="1150" dirty="0">
                <a:solidFill>
                  <a:srgbClr val="FF7B72"/>
                </a:solidFill>
                <a:highlight>
                  <a:srgbClr val="151B33"/>
                </a:highlight>
                <a:latin typeface="Consolas" pitchFamily="34" charset="0"/>
                <a:ea typeface="Consolas" pitchFamily="34" charset="-122"/>
                <a:cs typeface="Consolas" pitchFamily="34" charset="-120"/>
              </a:rPr>
              <a:t> ArrayList&lt;Integer&gt; mgaSalansan</a:t>
            </a:r>
            <a:endParaRPr lang="en-US" sz="1150" dirty="0"/>
          </a:p>
          <a:p>
            <a:pPr algn="l" indent="0" marL="0">
              <a:lnSpc>
                <a:spcPct val="120000"/>
              </a:lnSpc>
              <a:buNone/>
            </a:pPr>
            <a:r>
              <a:rPr lang="en-US" sz="1150" dirty="0">
                <a:solidFill>
                  <a:srgbClr val="FF7B72"/>
                </a:solidFill>
                <a:highlight>
                  <a:srgbClr val="151B33"/>
                </a:highlight>
                <a:latin typeface="Consolas" pitchFamily="34" charset="0"/>
                <a:ea typeface="Consolas" pitchFamily="34" charset="-122"/>
                <a:cs typeface="Consolas" pitchFamily="34" charset="-120"/>
              </a:rPr>
              <a:t> = new ArrayList&lt;&gt;();</a:t>
            </a:r>
            <a:endParaRPr lang="en-US" sz="1150" dirty="0"/>
          </a:p>
          <a:p>
            <a:pPr algn="l" indent="0" marL="0">
              <a:lnSpc>
                <a:spcPct val="120000"/>
              </a:lnSpc>
              <a:buNone/>
            </a:pPr>
            <a:endParaRPr lang="en-US" sz="1150" dirty="0"/>
          </a:p>
          <a:p>
            <a:pPr algn="l" indent="0" marL="0">
              <a:lnSpc>
                <a:spcPct val="120000"/>
              </a:lnSpc>
              <a:buNone/>
            </a:pPr>
            <a:r>
              <a:rPr lang="en-US" sz="1150" dirty="0">
                <a:solidFill>
                  <a:srgbClr val="FF7B72"/>
                </a:solidFill>
                <a:highlight>
                  <a:srgbClr val="151B33"/>
                </a:highlight>
                <a:latin typeface="Consolas" pitchFamily="34" charset="0"/>
                <a:ea typeface="Consolas" pitchFamily="34" charset="-122"/>
                <a:cs typeface="Consolas" pitchFamily="34" charset="-120"/>
              </a:rPr>
              <a:t> boolean walangLaman() {</a:t>
            </a:r>
            <a:endParaRPr lang="en-US" sz="1150" dirty="0"/>
          </a:p>
          <a:p>
            <a:pPr algn="l" indent="0" marL="0">
              <a:lnSpc>
                <a:spcPct val="120000"/>
              </a:lnSpc>
              <a:buNone/>
            </a:pPr>
            <a:r>
              <a:rPr lang="en-US" sz="1150" dirty="0">
                <a:solidFill>
                  <a:srgbClr val="FF7B72"/>
                </a:solidFill>
                <a:highlight>
                  <a:srgbClr val="151B33"/>
                </a:highlight>
                <a:latin typeface="Consolas" pitchFamily="34" charset="0"/>
                <a:ea typeface="Consolas" pitchFamily="34" charset="-122"/>
                <a:cs typeface="Consolas" pitchFamily="34" charset="-120"/>
              </a:rPr>
              <a:t> return mgaSalansan.isEmpty();</a:t>
            </a:r>
            <a:endParaRPr lang="en-US" sz="1150" dirty="0"/>
          </a:p>
          <a:p>
            <a:pPr algn="l" indent="0" marL="0">
              <a:lnSpc>
                <a:spcPct val="120000"/>
              </a:lnSpc>
              <a:buNone/>
            </a:pPr>
            <a:r>
              <a:rPr lang="en-US" sz="1150" dirty="0">
                <a:solidFill>
                  <a:srgbClr val="FF7B72"/>
                </a:solidFill>
                <a:highlight>
                  <a:srgbClr val="151B33"/>
                </a:highlight>
                <a:latin typeface="Consolas" pitchFamily="34" charset="0"/>
                <a:ea typeface="Consolas" pitchFamily="34" charset="-122"/>
                <a:cs typeface="Consolas" pitchFamily="34" charset="-120"/>
              </a:rPr>
              <a:t> }</a:t>
            </a:r>
            <a:endParaRPr lang="en-US" sz="1150" dirty="0"/>
          </a:p>
          <a:p>
            <a:pPr algn="l" indent="0" marL="0">
              <a:lnSpc>
                <a:spcPct val="120000"/>
              </a:lnSpc>
              <a:buNone/>
            </a:pPr>
            <a:endParaRPr lang="en-US" sz="1150" dirty="0"/>
          </a:p>
          <a:p>
            <a:pPr algn="l" indent="0" marL="0">
              <a:lnSpc>
                <a:spcPct val="120000"/>
              </a:lnSpc>
              <a:buNone/>
            </a:pPr>
            <a:r>
              <a:rPr lang="en-US" sz="1150" dirty="0">
                <a:solidFill>
                  <a:srgbClr val="FF7B72"/>
                </a:solidFill>
                <a:highlight>
                  <a:srgbClr val="151B33"/>
                </a:highlight>
                <a:latin typeface="Consolas" pitchFamily="34" charset="0"/>
                <a:ea typeface="Consolas" pitchFamily="34" charset="-122"/>
                <a:cs typeface="Consolas" pitchFamily="34" charset="-120"/>
              </a:rPr>
              <a:t> void ipasok(int halaga) {</a:t>
            </a:r>
            <a:endParaRPr lang="en-US" sz="1150" dirty="0"/>
          </a:p>
          <a:p>
            <a:pPr algn="l" indent="0" marL="0">
              <a:lnSpc>
                <a:spcPct val="120000"/>
              </a:lnSpc>
              <a:buNone/>
            </a:pPr>
            <a:r>
              <a:rPr lang="en-US" sz="1150" dirty="0">
                <a:solidFill>
                  <a:srgbClr val="FF7B72"/>
                </a:solidFill>
                <a:highlight>
                  <a:srgbClr val="151B33"/>
                </a:highlight>
                <a:latin typeface="Consolas" pitchFamily="34" charset="0"/>
                <a:ea typeface="Consolas" pitchFamily="34" charset="-122"/>
                <a:cs typeface="Consolas" pitchFamily="34" charset="-120"/>
              </a:rPr>
              <a:t> mgaSalansan.add(halaga);</a:t>
            </a:r>
            <a:endParaRPr lang="en-US" sz="1150" dirty="0"/>
          </a:p>
          <a:p>
            <a:pPr algn="l" indent="0" marL="0">
              <a:lnSpc>
                <a:spcPct val="120000"/>
              </a:lnSpc>
              <a:buNone/>
            </a:pPr>
            <a:r>
              <a:rPr lang="en-US" sz="1150" dirty="0">
                <a:solidFill>
                  <a:srgbClr val="FF7B72"/>
                </a:solidFill>
                <a:highlight>
                  <a:srgbClr val="151B33"/>
                </a:highlight>
                <a:latin typeface="Consolas" pitchFamily="34" charset="0"/>
                <a:ea typeface="Consolas" pitchFamily="34" charset="-122"/>
                <a:cs typeface="Consolas" pitchFamily="34" charset="-120"/>
              </a:rPr>
              <a:t> }</a:t>
            </a:r>
            <a:endParaRPr lang="en-US" sz="1150" dirty="0"/>
          </a:p>
          <a:p>
            <a:pPr algn="l" indent="0" marL="0">
              <a:lnSpc>
                <a:spcPct val="120000"/>
              </a:lnSpc>
              <a:buNone/>
            </a:pPr>
            <a:endParaRPr lang="en-US" sz="1150" dirty="0"/>
          </a:p>
          <a:p>
            <a:pPr algn="l" indent="0" marL="0">
              <a:lnSpc>
                <a:spcPct val="120000"/>
              </a:lnSpc>
              <a:buNone/>
            </a:pPr>
            <a:r>
              <a:rPr lang="en-US" sz="1150" dirty="0">
                <a:solidFill>
                  <a:srgbClr val="FF7B72"/>
                </a:solidFill>
                <a:highlight>
                  <a:srgbClr val="151B33"/>
                </a:highlight>
                <a:latin typeface="Consolas" pitchFamily="34" charset="0"/>
                <a:ea typeface="Consolas" pitchFamily="34" charset="-122"/>
                <a:cs typeface="Consolas" pitchFamily="34" charset="-120"/>
              </a:rPr>
              <a:t> void ipakita() {</a:t>
            </a:r>
            <a:endParaRPr lang="en-US" sz="1150" dirty="0"/>
          </a:p>
          <a:p>
            <a:pPr algn="l" indent="0" marL="0">
              <a:lnSpc>
                <a:spcPct val="120000"/>
              </a:lnSpc>
              <a:buNone/>
            </a:pPr>
            <a:r>
              <a:rPr lang="en-US" sz="1150" dirty="0">
                <a:solidFill>
                  <a:srgbClr val="FF7B72"/>
                </a:solidFill>
                <a:highlight>
                  <a:srgbClr val="151B33"/>
                </a:highlight>
                <a:latin typeface="Consolas" pitchFamily="34" charset="0"/>
                <a:ea typeface="Consolas" pitchFamily="34" charset="-122"/>
                <a:cs typeface="Consolas" pitchFamily="34" charset="-120"/>
              </a:rPr>
              <a:t> System.out.println(mgaSalansan);</a:t>
            </a:r>
            <a:endParaRPr lang="en-US" sz="1150" dirty="0"/>
          </a:p>
          <a:p>
            <a:pPr algn="l" indent="0" marL="0">
              <a:lnSpc>
                <a:spcPct val="120000"/>
              </a:lnSpc>
              <a:buNone/>
            </a:pPr>
            <a:r>
              <a:rPr lang="en-US" sz="1150" dirty="0">
                <a:solidFill>
                  <a:srgbClr val="FF7B72"/>
                </a:solidFill>
                <a:highlight>
                  <a:srgbClr val="151B33"/>
                </a:highlight>
                <a:latin typeface="Consolas" pitchFamily="34" charset="0"/>
                <a:ea typeface="Consolas" pitchFamily="34" charset="-122"/>
                <a:cs typeface="Consolas" pitchFamily="34" charset="-120"/>
              </a:rPr>
              <a:t> }</a:t>
            </a:r>
            <a:endParaRPr lang="en-US" sz="1150" dirty="0"/>
          </a:p>
          <a:p>
            <a:pPr algn="l" indent="0" marL="0">
              <a:lnSpc>
                <a:spcPct val="120000"/>
              </a:lnSpc>
              <a:buNone/>
            </a:pPr>
            <a:r>
              <a:rPr lang="en-US" sz="1150" dirty="0">
                <a:solidFill>
                  <a:srgbClr val="FF7B72"/>
                </a:solidFill>
                <a:highlight>
                  <a:srgbClr val="151B33"/>
                </a:highlight>
                <a:latin typeface="Consolas" pitchFamily="34" charset="0"/>
                <a:ea typeface="Consolas" pitchFamily="34" charset="-122"/>
                <a:cs typeface="Consolas" pitchFamily="34" charset="-120"/>
              </a:rPr>
              <a:t>}</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571202"/>
            <a:ext cx="10868745" cy="472480"/>
          </a:xfrm>
          <a:prstGeom prst="rect">
            <a:avLst/>
          </a:prstGeom>
          <a:noFill/>
          <a:ln/>
        </p:spPr>
        <p:txBody>
          <a:bodyPr wrap="none" lIns="0" tIns="0" rIns="0" bIns="0" rtlCol="0" anchor="t"/>
          <a:lstStyle/>
          <a:p>
            <a:pPr algn="l" indent="0" marL="0">
              <a:lnSpc>
                <a:spcPct val="104000"/>
              </a:lnSpc>
              <a:buNone/>
            </a:pPr>
            <a:r>
              <a:rPr lang="en-US" sz="2950" dirty="0">
                <a:solidFill>
                  <a:srgbClr val="FFFFFF"/>
                </a:solidFill>
                <a:latin typeface="Fraunces Medium" pitchFamily="34" charset="0"/>
                <a:ea typeface="Fraunces Medium" pitchFamily="34" charset="-122"/>
                <a:cs typeface="Fraunces Medium" pitchFamily="34" charset="-120"/>
              </a:rPr>
              <a:t>Code Translation — C++ &amp; Dart</a:t>
            </a:r>
            <a:endParaRPr lang="en-US" sz="2950" dirty="0"/>
          </a:p>
        </p:txBody>
      </p:sp>
      <p:sp>
        <p:nvSpPr>
          <p:cNvPr id="3" name="Text 1"/>
          <p:cNvSpPr/>
          <p:nvPr/>
        </p:nvSpPr>
        <p:spPr>
          <a:xfrm>
            <a:off x="661475" y="1346002"/>
            <a:ext cx="5249930" cy="236240"/>
          </a:xfrm>
          <a:prstGeom prst="rect">
            <a:avLst/>
          </a:prstGeom>
          <a:noFill/>
          <a:ln/>
        </p:spPr>
        <p:txBody>
          <a:bodyPr wrap="none" lIns="0" tIns="0" rIns="0" bIns="0" rtlCol="0" anchor="t"/>
          <a:lstStyle/>
          <a:p>
            <a:pPr algn="l" indent="0" marL="0">
              <a:lnSpc>
                <a:spcPct val="104000"/>
              </a:lnSpc>
              <a:buNone/>
            </a:pPr>
            <a:r>
              <a:rPr lang="en-US" sz="1450" dirty="0">
                <a:solidFill>
                  <a:srgbClr val="FFFFFF"/>
                </a:solidFill>
                <a:latin typeface="Fraunces Medium" pitchFamily="34" charset="0"/>
                <a:ea typeface="Fraunces Medium" pitchFamily="34" charset="-122"/>
                <a:cs typeface="Fraunces Medium" pitchFamily="34" charset="-120"/>
              </a:rPr>
              <a:t>C++ Version</a:t>
            </a:r>
            <a:endParaRPr lang="en-US" sz="1450" dirty="0"/>
          </a:p>
        </p:txBody>
      </p:sp>
      <p:sp>
        <p:nvSpPr>
          <p:cNvPr id="4" name="Shape 2"/>
          <p:cNvSpPr/>
          <p:nvPr/>
        </p:nvSpPr>
        <p:spPr>
          <a:xfrm>
            <a:off x="661475" y="1718270"/>
            <a:ext cx="5249930" cy="3785394"/>
          </a:xfrm>
          <a:prstGeom prst="roundRect">
            <a:avLst>
              <a:gd name="adj" fmla="val 1678"/>
            </a:avLst>
          </a:prstGeom>
          <a:solidFill>
            <a:srgbClr val="151B33"/>
          </a:solidFill>
          <a:ln/>
        </p:spPr>
      </p:sp>
      <p:sp>
        <p:nvSpPr>
          <p:cNvPr id="5" name="Shape 3"/>
          <p:cNvSpPr/>
          <p:nvPr/>
        </p:nvSpPr>
        <p:spPr>
          <a:xfrm>
            <a:off x="653934" y="1718270"/>
            <a:ext cx="5265010" cy="3785394"/>
          </a:xfrm>
          <a:prstGeom prst="roundRect">
            <a:avLst>
              <a:gd name="adj" fmla="val 599"/>
            </a:avLst>
          </a:prstGeom>
          <a:solidFill>
            <a:srgbClr val="151B33"/>
          </a:solidFill>
          <a:ln/>
        </p:spPr>
      </p:sp>
      <p:sp>
        <p:nvSpPr>
          <p:cNvPr id="6" name="Text 4"/>
          <p:cNvSpPr/>
          <p:nvPr/>
        </p:nvSpPr>
        <p:spPr>
          <a:xfrm>
            <a:off x="842941" y="1869480"/>
            <a:ext cx="4886996" cy="3482975"/>
          </a:xfrm>
          <a:prstGeom prst="rect">
            <a:avLst/>
          </a:prstGeom>
          <a:noFill/>
          <a:ln/>
        </p:spPr>
        <p:txBody>
          <a:bodyPr wrap="square" lIns="0" tIns="0" rIns="0" bIns="0" rtlCol="0" anchor="t">
            <a:normAutofit/>
          </a:bodyPr>
          <a:lstStyle/>
          <a:p>
            <a:pPr algn="l" indent="0" marL="0">
              <a:lnSpc>
                <a:spcPct val="120000"/>
              </a:lnSpc>
              <a:buNone/>
            </a:pPr>
            <a:r>
              <a:rPr lang="en-US" sz="1150" dirty="0">
                <a:solidFill>
                  <a:srgbClr val="FF7B72"/>
                </a:solidFill>
                <a:highlight>
                  <a:srgbClr val="151B33"/>
                </a:highlight>
                <a:latin typeface="Consolas" pitchFamily="34" charset="0"/>
                <a:ea typeface="Consolas" pitchFamily="34" charset="-122"/>
                <a:cs typeface="Consolas" pitchFamily="34" charset="-120"/>
              </a:rPr>
              <a:t>class Tumpok {</a:t>
            </a:r>
            <a:endParaRPr lang="en-US" sz="1150" dirty="0"/>
          </a:p>
          <a:p>
            <a:pPr algn="l" indent="0" marL="0">
              <a:lnSpc>
                <a:spcPct val="120000"/>
              </a:lnSpc>
              <a:buNone/>
            </a:pPr>
            <a:r>
              <a:rPr lang="en-US" sz="1150" dirty="0">
                <a:solidFill>
                  <a:srgbClr val="FF7B72"/>
                </a:solidFill>
                <a:highlight>
                  <a:srgbClr val="151B33"/>
                </a:highlight>
                <a:latin typeface="Consolas" pitchFamily="34" charset="0"/>
                <a:ea typeface="Consolas" pitchFamily="34" charset="-122"/>
                <a:cs typeface="Consolas" pitchFamily="34" charset="-120"/>
              </a:rPr>
              <a:t>  vector&lt;int&gt; mgaSalansan;</a:t>
            </a:r>
            <a:endParaRPr lang="en-US" sz="1150" dirty="0"/>
          </a:p>
          <a:p>
            <a:pPr algn="l" indent="0" marL="0">
              <a:lnSpc>
                <a:spcPct val="120000"/>
              </a:lnSpc>
              <a:buNone/>
            </a:pPr>
            <a:endParaRPr lang="en-US" sz="1150" dirty="0"/>
          </a:p>
          <a:p>
            <a:pPr algn="l" indent="0" marL="0">
              <a:lnSpc>
                <a:spcPct val="120000"/>
              </a:lnSpc>
              <a:buNone/>
            </a:pPr>
            <a:r>
              <a:rPr lang="en-US" sz="1150" dirty="0">
                <a:solidFill>
                  <a:srgbClr val="FF7B72"/>
                </a:solidFill>
                <a:highlight>
                  <a:srgbClr val="151B33"/>
                </a:highlight>
                <a:latin typeface="Consolas" pitchFamily="34" charset="0"/>
                <a:ea typeface="Consolas" pitchFamily="34" charset="-122"/>
                <a:cs typeface="Consolas" pitchFamily="34" charset="-120"/>
              </a:rPr>
              <a:t>  bool walangLaman() {</a:t>
            </a:r>
            <a:endParaRPr lang="en-US" sz="1150" dirty="0"/>
          </a:p>
          <a:p>
            <a:pPr algn="l" indent="0" marL="0">
              <a:lnSpc>
                <a:spcPct val="120000"/>
              </a:lnSpc>
              <a:buNone/>
            </a:pPr>
            <a:r>
              <a:rPr lang="en-US" sz="1150" dirty="0">
                <a:solidFill>
                  <a:srgbClr val="FF7B72"/>
                </a:solidFill>
                <a:highlight>
                  <a:srgbClr val="151B33"/>
                </a:highlight>
                <a:latin typeface="Consolas" pitchFamily="34" charset="0"/>
                <a:ea typeface="Consolas" pitchFamily="34" charset="-122"/>
                <a:cs typeface="Consolas" pitchFamily="34" charset="-120"/>
              </a:rPr>
              <a:t>    return mgaSalansan.empty();</a:t>
            </a:r>
            <a:endParaRPr lang="en-US" sz="1150" dirty="0"/>
          </a:p>
          <a:p>
            <a:pPr algn="l" indent="0" marL="0">
              <a:lnSpc>
                <a:spcPct val="120000"/>
              </a:lnSpc>
              <a:buNone/>
            </a:pPr>
            <a:r>
              <a:rPr lang="en-US" sz="1150" dirty="0">
                <a:solidFill>
                  <a:srgbClr val="FF7B72"/>
                </a:solidFill>
                <a:highlight>
                  <a:srgbClr val="151B33"/>
                </a:highlight>
                <a:latin typeface="Consolas" pitchFamily="34" charset="0"/>
                <a:ea typeface="Consolas" pitchFamily="34" charset="-122"/>
                <a:cs typeface="Consolas" pitchFamily="34" charset="-120"/>
              </a:rPr>
              <a:t>  }</a:t>
            </a:r>
            <a:endParaRPr lang="en-US" sz="1150" dirty="0"/>
          </a:p>
          <a:p>
            <a:pPr algn="l" indent="0" marL="0">
              <a:lnSpc>
                <a:spcPct val="120000"/>
              </a:lnSpc>
              <a:buNone/>
            </a:pPr>
            <a:endParaRPr lang="en-US" sz="1150" dirty="0"/>
          </a:p>
          <a:p>
            <a:pPr algn="l" indent="0" marL="0">
              <a:lnSpc>
                <a:spcPct val="120000"/>
              </a:lnSpc>
              <a:buNone/>
            </a:pPr>
            <a:r>
              <a:rPr lang="en-US" sz="1150" dirty="0">
                <a:solidFill>
                  <a:srgbClr val="FF7B72"/>
                </a:solidFill>
                <a:highlight>
                  <a:srgbClr val="151B33"/>
                </a:highlight>
                <a:latin typeface="Consolas" pitchFamily="34" charset="0"/>
                <a:ea typeface="Consolas" pitchFamily="34" charset="-122"/>
                <a:cs typeface="Consolas" pitchFamily="34" charset="-120"/>
              </a:rPr>
              <a:t>  void ipasok(int halaga) {</a:t>
            </a:r>
            <a:endParaRPr lang="en-US" sz="1150" dirty="0"/>
          </a:p>
          <a:p>
            <a:pPr algn="l" indent="0" marL="0">
              <a:lnSpc>
                <a:spcPct val="120000"/>
              </a:lnSpc>
              <a:buNone/>
            </a:pPr>
            <a:r>
              <a:rPr lang="en-US" sz="1150" dirty="0">
                <a:solidFill>
                  <a:srgbClr val="FF7B72"/>
                </a:solidFill>
                <a:highlight>
                  <a:srgbClr val="151B33"/>
                </a:highlight>
                <a:latin typeface="Consolas" pitchFamily="34" charset="0"/>
                <a:ea typeface="Consolas" pitchFamily="34" charset="-122"/>
                <a:cs typeface="Consolas" pitchFamily="34" charset="-120"/>
              </a:rPr>
              <a:t>    mgaSalansan.push_back(halaga);</a:t>
            </a:r>
            <a:endParaRPr lang="en-US" sz="1150" dirty="0"/>
          </a:p>
          <a:p>
            <a:pPr algn="l" indent="0" marL="0">
              <a:lnSpc>
                <a:spcPct val="120000"/>
              </a:lnSpc>
              <a:buNone/>
            </a:pPr>
            <a:r>
              <a:rPr lang="en-US" sz="1150" dirty="0">
                <a:solidFill>
                  <a:srgbClr val="FF7B72"/>
                </a:solidFill>
                <a:highlight>
                  <a:srgbClr val="151B33"/>
                </a:highlight>
                <a:latin typeface="Consolas" pitchFamily="34" charset="0"/>
                <a:ea typeface="Consolas" pitchFamily="34" charset="-122"/>
                <a:cs typeface="Consolas" pitchFamily="34" charset="-120"/>
              </a:rPr>
              <a:t>  }</a:t>
            </a:r>
            <a:endParaRPr lang="en-US" sz="1150" dirty="0"/>
          </a:p>
          <a:p>
            <a:pPr algn="l" indent="0" marL="0">
              <a:lnSpc>
                <a:spcPct val="120000"/>
              </a:lnSpc>
              <a:buNone/>
            </a:pPr>
            <a:endParaRPr lang="en-US" sz="1150" dirty="0"/>
          </a:p>
          <a:p>
            <a:pPr algn="l" indent="0" marL="0">
              <a:lnSpc>
                <a:spcPct val="120000"/>
              </a:lnSpc>
              <a:buNone/>
            </a:pPr>
            <a:r>
              <a:rPr lang="en-US" sz="1150" dirty="0">
                <a:solidFill>
                  <a:srgbClr val="FF7B72"/>
                </a:solidFill>
                <a:highlight>
                  <a:srgbClr val="151B33"/>
                </a:highlight>
                <a:latin typeface="Consolas" pitchFamily="34" charset="0"/>
                <a:ea typeface="Consolas" pitchFamily="34" charset="-122"/>
                <a:cs typeface="Consolas" pitchFamily="34" charset="-120"/>
              </a:rPr>
              <a:t>  void ipakita() {</a:t>
            </a:r>
            <a:endParaRPr lang="en-US" sz="1150" dirty="0"/>
          </a:p>
          <a:p>
            <a:pPr algn="l" indent="0" marL="0">
              <a:lnSpc>
                <a:spcPct val="120000"/>
              </a:lnSpc>
              <a:buNone/>
            </a:pPr>
            <a:r>
              <a:rPr lang="en-US" sz="1150" dirty="0">
                <a:solidFill>
                  <a:srgbClr val="FF7B72"/>
                </a:solidFill>
                <a:highlight>
                  <a:srgbClr val="151B33"/>
                </a:highlight>
                <a:latin typeface="Consolas" pitchFamily="34" charset="0"/>
                <a:ea typeface="Consolas" pitchFamily="34" charset="-122"/>
                <a:cs typeface="Consolas" pitchFamily="34" charset="-120"/>
              </a:rPr>
              <a:t>    for (int x : mgaSalansan)</a:t>
            </a:r>
            <a:endParaRPr lang="en-US" sz="1150" dirty="0"/>
          </a:p>
          <a:p>
            <a:pPr algn="l" indent="0" marL="0">
              <a:lnSpc>
                <a:spcPct val="120000"/>
              </a:lnSpc>
              <a:buNone/>
            </a:pPr>
            <a:r>
              <a:rPr lang="en-US" sz="1150" dirty="0">
                <a:solidFill>
                  <a:srgbClr val="FF7B72"/>
                </a:solidFill>
                <a:highlight>
                  <a:srgbClr val="151B33"/>
                </a:highlight>
                <a:latin typeface="Consolas" pitchFamily="34" charset="0"/>
                <a:ea typeface="Consolas" pitchFamily="34" charset="-122"/>
                <a:cs typeface="Consolas" pitchFamily="34" charset="-120"/>
              </a:rPr>
              <a:t>      cout &lt;&lt; x &lt;&lt; " ";</a:t>
            </a:r>
            <a:endParaRPr lang="en-US" sz="1150" dirty="0"/>
          </a:p>
          <a:p>
            <a:pPr algn="l" indent="0" marL="0">
              <a:lnSpc>
                <a:spcPct val="120000"/>
              </a:lnSpc>
              <a:buNone/>
            </a:pPr>
            <a:r>
              <a:rPr lang="en-US" sz="1150" dirty="0">
                <a:solidFill>
                  <a:srgbClr val="FF7B72"/>
                </a:solidFill>
                <a:highlight>
                  <a:srgbClr val="151B33"/>
                </a:highlight>
                <a:latin typeface="Consolas" pitchFamily="34" charset="0"/>
                <a:ea typeface="Consolas" pitchFamily="34" charset="-122"/>
                <a:cs typeface="Consolas" pitchFamily="34" charset="-120"/>
              </a:rPr>
              <a:t>  }</a:t>
            </a:r>
            <a:endParaRPr lang="en-US" sz="1150" dirty="0"/>
          </a:p>
          <a:p>
            <a:pPr algn="l" indent="0" marL="0">
              <a:lnSpc>
                <a:spcPct val="120000"/>
              </a:lnSpc>
              <a:buNone/>
            </a:pPr>
            <a:r>
              <a:rPr lang="en-US" sz="1150" dirty="0">
                <a:solidFill>
                  <a:srgbClr val="FF7B72"/>
                </a:solidFill>
                <a:highlight>
                  <a:srgbClr val="151B33"/>
                </a:highlight>
                <a:latin typeface="Consolas" pitchFamily="34" charset="0"/>
                <a:ea typeface="Consolas" pitchFamily="34" charset="-122"/>
                <a:cs typeface="Consolas" pitchFamily="34" charset="-120"/>
              </a:rPr>
              <a:t>};</a:t>
            </a:r>
            <a:endParaRPr lang="en-US" sz="1150" dirty="0"/>
          </a:p>
        </p:txBody>
      </p:sp>
      <p:sp>
        <p:nvSpPr>
          <p:cNvPr id="7" name="Text 5"/>
          <p:cNvSpPr/>
          <p:nvPr/>
        </p:nvSpPr>
        <p:spPr>
          <a:xfrm>
            <a:off x="6286640" y="1346002"/>
            <a:ext cx="5249930" cy="236240"/>
          </a:xfrm>
          <a:prstGeom prst="rect">
            <a:avLst/>
          </a:prstGeom>
          <a:noFill/>
          <a:ln/>
        </p:spPr>
        <p:txBody>
          <a:bodyPr wrap="none" lIns="0" tIns="0" rIns="0" bIns="0" rtlCol="0" anchor="t"/>
          <a:lstStyle/>
          <a:p>
            <a:pPr algn="l" indent="0" marL="0">
              <a:lnSpc>
                <a:spcPct val="104000"/>
              </a:lnSpc>
              <a:buNone/>
            </a:pPr>
            <a:r>
              <a:rPr lang="en-US" sz="1450" dirty="0">
                <a:solidFill>
                  <a:srgbClr val="FFFFFF"/>
                </a:solidFill>
                <a:latin typeface="Fraunces Medium" pitchFamily="34" charset="0"/>
                <a:ea typeface="Fraunces Medium" pitchFamily="34" charset="-122"/>
                <a:cs typeface="Fraunces Medium" pitchFamily="34" charset="-120"/>
              </a:rPr>
              <a:t>Dart Version</a:t>
            </a:r>
            <a:endParaRPr lang="en-US" sz="1450" dirty="0"/>
          </a:p>
        </p:txBody>
      </p:sp>
      <p:sp>
        <p:nvSpPr>
          <p:cNvPr id="8" name="Shape 6"/>
          <p:cNvSpPr/>
          <p:nvPr/>
        </p:nvSpPr>
        <p:spPr>
          <a:xfrm>
            <a:off x="6286640" y="1718270"/>
            <a:ext cx="5249930" cy="3567708"/>
          </a:xfrm>
          <a:prstGeom prst="roundRect">
            <a:avLst>
              <a:gd name="adj" fmla="val 1780"/>
            </a:avLst>
          </a:prstGeom>
          <a:solidFill>
            <a:srgbClr val="151B33"/>
          </a:solidFill>
          <a:ln/>
        </p:spPr>
      </p:sp>
      <p:sp>
        <p:nvSpPr>
          <p:cNvPr id="9" name="Shape 7"/>
          <p:cNvSpPr/>
          <p:nvPr/>
        </p:nvSpPr>
        <p:spPr>
          <a:xfrm>
            <a:off x="6279100" y="1718270"/>
            <a:ext cx="5265010" cy="3567708"/>
          </a:xfrm>
          <a:prstGeom prst="roundRect">
            <a:avLst>
              <a:gd name="adj" fmla="val 636"/>
            </a:avLst>
          </a:prstGeom>
          <a:solidFill>
            <a:srgbClr val="151B33"/>
          </a:solidFill>
          <a:ln/>
        </p:spPr>
      </p:sp>
      <p:sp>
        <p:nvSpPr>
          <p:cNvPr id="10" name="Text 8"/>
          <p:cNvSpPr/>
          <p:nvPr/>
        </p:nvSpPr>
        <p:spPr>
          <a:xfrm>
            <a:off x="6468107" y="1869480"/>
            <a:ext cx="4886996" cy="3265289"/>
          </a:xfrm>
          <a:prstGeom prst="rect">
            <a:avLst/>
          </a:prstGeom>
          <a:noFill/>
          <a:ln/>
        </p:spPr>
        <p:txBody>
          <a:bodyPr wrap="square" lIns="0" tIns="0" rIns="0" bIns="0" rtlCol="0" anchor="t">
            <a:normAutofit/>
          </a:bodyPr>
          <a:lstStyle/>
          <a:p>
            <a:pPr algn="l" indent="0" marL="0">
              <a:lnSpc>
                <a:spcPct val="120000"/>
              </a:lnSpc>
              <a:buNone/>
            </a:pPr>
            <a:r>
              <a:rPr lang="en-US" sz="1150" dirty="0">
                <a:solidFill>
                  <a:srgbClr val="FF7B72"/>
                </a:solidFill>
                <a:highlight>
                  <a:srgbClr val="151B33"/>
                </a:highlight>
                <a:latin typeface="Consolas" pitchFamily="34" charset="0"/>
                <a:ea typeface="Consolas" pitchFamily="34" charset="-122"/>
                <a:cs typeface="Consolas" pitchFamily="34" charset="-120"/>
              </a:rPr>
              <a:t>class Tumpok {</a:t>
            </a:r>
            <a:endParaRPr lang="en-US" sz="1150" dirty="0"/>
          </a:p>
          <a:p>
            <a:pPr algn="l" indent="0" marL="0">
              <a:lnSpc>
                <a:spcPct val="120000"/>
              </a:lnSpc>
              <a:buNone/>
            </a:pPr>
            <a:r>
              <a:rPr lang="en-US" sz="1150" dirty="0">
                <a:solidFill>
                  <a:srgbClr val="FF7B72"/>
                </a:solidFill>
                <a:highlight>
                  <a:srgbClr val="151B33"/>
                </a:highlight>
                <a:latin typeface="Consolas" pitchFamily="34" charset="0"/>
                <a:ea typeface="Consolas" pitchFamily="34" charset="-122"/>
                <a:cs typeface="Consolas" pitchFamily="34" charset="-120"/>
              </a:rPr>
              <a:t>  List&lt;int&gt; mgaSalansan = [];</a:t>
            </a:r>
            <a:endParaRPr lang="en-US" sz="1150" dirty="0"/>
          </a:p>
          <a:p>
            <a:pPr algn="l" indent="0" marL="0">
              <a:lnSpc>
                <a:spcPct val="120000"/>
              </a:lnSpc>
              <a:buNone/>
            </a:pPr>
            <a:endParaRPr lang="en-US" sz="1150" dirty="0"/>
          </a:p>
          <a:p>
            <a:pPr algn="l" indent="0" marL="0">
              <a:lnSpc>
                <a:spcPct val="120000"/>
              </a:lnSpc>
              <a:buNone/>
            </a:pPr>
            <a:r>
              <a:rPr lang="en-US" sz="1150" dirty="0">
                <a:solidFill>
                  <a:srgbClr val="FF7B72"/>
                </a:solidFill>
                <a:highlight>
                  <a:srgbClr val="151B33"/>
                </a:highlight>
                <a:latin typeface="Consolas" pitchFamily="34" charset="0"/>
                <a:ea typeface="Consolas" pitchFamily="34" charset="-122"/>
                <a:cs typeface="Consolas" pitchFamily="34" charset="-120"/>
              </a:rPr>
              <a:t>  bool walangLaman() {</a:t>
            </a:r>
            <a:endParaRPr lang="en-US" sz="1150" dirty="0"/>
          </a:p>
          <a:p>
            <a:pPr algn="l" indent="0" marL="0">
              <a:lnSpc>
                <a:spcPct val="120000"/>
              </a:lnSpc>
              <a:buNone/>
            </a:pPr>
            <a:r>
              <a:rPr lang="en-US" sz="1150" dirty="0">
                <a:solidFill>
                  <a:srgbClr val="FF7B72"/>
                </a:solidFill>
                <a:highlight>
                  <a:srgbClr val="151B33"/>
                </a:highlight>
                <a:latin typeface="Consolas" pitchFamily="34" charset="0"/>
                <a:ea typeface="Consolas" pitchFamily="34" charset="-122"/>
                <a:cs typeface="Consolas" pitchFamily="34" charset="-120"/>
              </a:rPr>
              <a:t>    return mgaSalansan.isEmpty;</a:t>
            </a:r>
            <a:endParaRPr lang="en-US" sz="1150" dirty="0"/>
          </a:p>
          <a:p>
            <a:pPr algn="l" indent="0" marL="0">
              <a:lnSpc>
                <a:spcPct val="120000"/>
              </a:lnSpc>
              <a:buNone/>
            </a:pPr>
            <a:r>
              <a:rPr lang="en-US" sz="1150" dirty="0">
                <a:solidFill>
                  <a:srgbClr val="FF7B72"/>
                </a:solidFill>
                <a:highlight>
                  <a:srgbClr val="151B33"/>
                </a:highlight>
                <a:latin typeface="Consolas" pitchFamily="34" charset="0"/>
                <a:ea typeface="Consolas" pitchFamily="34" charset="-122"/>
                <a:cs typeface="Consolas" pitchFamily="34" charset="-120"/>
              </a:rPr>
              <a:t>  }</a:t>
            </a:r>
            <a:endParaRPr lang="en-US" sz="1150" dirty="0"/>
          </a:p>
          <a:p>
            <a:pPr algn="l" indent="0" marL="0">
              <a:lnSpc>
                <a:spcPct val="120000"/>
              </a:lnSpc>
              <a:buNone/>
            </a:pPr>
            <a:endParaRPr lang="en-US" sz="1150" dirty="0"/>
          </a:p>
          <a:p>
            <a:pPr algn="l" indent="0" marL="0">
              <a:lnSpc>
                <a:spcPct val="120000"/>
              </a:lnSpc>
              <a:buNone/>
            </a:pPr>
            <a:r>
              <a:rPr lang="en-US" sz="1150" dirty="0">
                <a:solidFill>
                  <a:srgbClr val="FF7B72"/>
                </a:solidFill>
                <a:highlight>
                  <a:srgbClr val="151B33"/>
                </a:highlight>
                <a:latin typeface="Consolas" pitchFamily="34" charset="0"/>
                <a:ea typeface="Consolas" pitchFamily="34" charset="-122"/>
                <a:cs typeface="Consolas" pitchFamily="34" charset="-120"/>
              </a:rPr>
              <a:t>  void ipasok(int halaga) {</a:t>
            </a:r>
            <a:endParaRPr lang="en-US" sz="1150" dirty="0"/>
          </a:p>
          <a:p>
            <a:pPr algn="l" indent="0" marL="0">
              <a:lnSpc>
                <a:spcPct val="120000"/>
              </a:lnSpc>
              <a:buNone/>
            </a:pPr>
            <a:r>
              <a:rPr lang="en-US" sz="1150" dirty="0">
                <a:solidFill>
                  <a:srgbClr val="FF7B72"/>
                </a:solidFill>
                <a:highlight>
                  <a:srgbClr val="151B33"/>
                </a:highlight>
                <a:latin typeface="Consolas" pitchFamily="34" charset="0"/>
                <a:ea typeface="Consolas" pitchFamily="34" charset="-122"/>
                <a:cs typeface="Consolas" pitchFamily="34" charset="-120"/>
              </a:rPr>
              <a:t>    mgaSalansan.add(halaga);</a:t>
            </a:r>
            <a:endParaRPr lang="en-US" sz="1150" dirty="0"/>
          </a:p>
          <a:p>
            <a:pPr algn="l" indent="0" marL="0">
              <a:lnSpc>
                <a:spcPct val="120000"/>
              </a:lnSpc>
              <a:buNone/>
            </a:pPr>
            <a:r>
              <a:rPr lang="en-US" sz="1150" dirty="0">
                <a:solidFill>
                  <a:srgbClr val="FF7B72"/>
                </a:solidFill>
                <a:highlight>
                  <a:srgbClr val="151B33"/>
                </a:highlight>
                <a:latin typeface="Consolas" pitchFamily="34" charset="0"/>
                <a:ea typeface="Consolas" pitchFamily="34" charset="-122"/>
                <a:cs typeface="Consolas" pitchFamily="34" charset="-120"/>
              </a:rPr>
              <a:t>  }</a:t>
            </a:r>
            <a:endParaRPr lang="en-US" sz="1150" dirty="0"/>
          </a:p>
          <a:p>
            <a:pPr algn="l" indent="0" marL="0">
              <a:lnSpc>
                <a:spcPct val="120000"/>
              </a:lnSpc>
              <a:buNone/>
            </a:pPr>
            <a:endParaRPr lang="en-US" sz="1150" dirty="0"/>
          </a:p>
          <a:p>
            <a:pPr algn="l" indent="0" marL="0">
              <a:lnSpc>
                <a:spcPct val="120000"/>
              </a:lnSpc>
              <a:buNone/>
            </a:pPr>
            <a:r>
              <a:rPr lang="en-US" sz="1150" dirty="0">
                <a:solidFill>
                  <a:srgbClr val="FF7B72"/>
                </a:solidFill>
                <a:highlight>
                  <a:srgbClr val="151B33"/>
                </a:highlight>
                <a:latin typeface="Consolas" pitchFamily="34" charset="0"/>
                <a:ea typeface="Consolas" pitchFamily="34" charset="-122"/>
                <a:cs typeface="Consolas" pitchFamily="34" charset="-120"/>
              </a:rPr>
              <a:t>  void ipakita() {</a:t>
            </a:r>
            <a:endParaRPr lang="en-US" sz="1150" dirty="0"/>
          </a:p>
          <a:p>
            <a:pPr algn="l" indent="0" marL="0">
              <a:lnSpc>
                <a:spcPct val="120000"/>
              </a:lnSpc>
              <a:buNone/>
            </a:pPr>
            <a:r>
              <a:rPr lang="en-US" sz="1150" dirty="0">
                <a:solidFill>
                  <a:srgbClr val="FF7B72"/>
                </a:solidFill>
                <a:highlight>
                  <a:srgbClr val="151B33"/>
                </a:highlight>
                <a:latin typeface="Consolas" pitchFamily="34" charset="0"/>
                <a:ea typeface="Consolas" pitchFamily="34" charset="-122"/>
                <a:cs typeface="Consolas" pitchFamily="34" charset="-120"/>
              </a:rPr>
              <a:t>    print(mgaSalansan);</a:t>
            </a:r>
            <a:endParaRPr lang="en-US" sz="1150" dirty="0"/>
          </a:p>
          <a:p>
            <a:pPr algn="l" indent="0" marL="0">
              <a:lnSpc>
                <a:spcPct val="120000"/>
              </a:lnSpc>
              <a:buNone/>
            </a:pPr>
            <a:r>
              <a:rPr lang="en-US" sz="1150" dirty="0">
                <a:solidFill>
                  <a:srgbClr val="FF7B72"/>
                </a:solidFill>
                <a:highlight>
                  <a:srgbClr val="151B33"/>
                </a:highlight>
                <a:latin typeface="Consolas" pitchFamily="34" charset="0"/>
                <a:ea typeface="Consolas" pitchFamily="34" charset="-122"/>
                <a:cs typeface="Consolas" pitchFamily="34" charset="-120"/>
              </a:rPr>
              <a:t>  }</a:t>
            </a:r>
            <a:endParaRPr lang="en-US" sz="1150" dirty="0"/>
          </a:p>
          <a:p>
            <a:pPr algn="l" indent="0" marL="0">
              <a:lnSpc>
                <a:spcPct val="120000"/>
              </a:lnSpc>
              <a:buNone/>
            </a:pPr>
            <a:r>
              <a:rPr lang="en-US" sz="1150" dirty="0">
                <a:solidFill>
                  <a:srgbClr val="FF7B72"/>
                </a:solidFill>
                <a:highlight>
                  <a:srgbClr val="151B33"/>
                </a:highlight>
                <a:latin typeface="Consolas" pitchFamily="34" charset="0"/>
                <a:ea typeface="Consolas" pitchFamily="34" charset="-122"/>
                <a:cs typeface="Consolas" pitchFamily="34" charset="-120"/>
              </a:rPr>
              <a:t>}</a:t>
            </a:r>
            <a:endParaRPr lang="en-US" sz="1150" dirty="0"/>
          </a:p>
        </p:txBody>
      </p:sp>
      <p:sp>
        <p:nvSpPr>
          <p:cNvPr id="11" name="Shape 9"/>
          <p:cNvSpPr/>
          <p:nvPr/>
        </p:nvSpPr>
        <p:spPr>
          <a:xfrm>
            <a:off x="6286640" y="5422007"/>
            <a:ext cx="5249930" cy="728663"/>
          </a:xfrm>
          <a:prstGeom prst="roundRect">
            <a:avLst>
              <a:gd name="adj" fmla="val 8716"/>
            </a:avLst>
          </a:prstGeom>
          <a:solidFill>
            <a:srgbClr val="283157"/>
          </a:solidFill>
          <a:ln/>
        </p:spPr>
      </p:sp>
      <p:pic>
        <p:nvPicPr>
          <p:cNvPr id="12" name="Image 0" descr="preencoded.png">    </p:cNvPr>
          <p:cNvPicPr>
            <a:picLocks noChangeAspect="1"/>
          </p:cNvPicPr>
          <p:nvPr/>
        </p:nvPicPr>
        <p:blipFill>
          <a:blip r:embed="rId1"/>
          <a:stretch>
            <a:fillRect/>
          </a:stretch>
        </p:blipFill>
        <p:spPr>
          <a:xfrm>
            <a:off x="6437846" y="5624711"/>
            <a:ext cx="189007" cy="151209"/>
          </a:xfrm>
          <a:prstGeom prst="rect">
            <a:avLst/>
          </a:prstGeom>
        </p:spPr>
      </p:pic>
      <p:sp>
        <p:nvSpPr>
          <p:cNvPr id="13" name="Text 10"/>
          <p:cNvSpPr/>
          <p:nvPr/>
        </p:nvSpPr>
        <p:spPr>
          <a:xfrm>
            <a:off x="6778059" y="5568652"/>
            <a:ext cx="4607306" cy="435372"/>
          </a:xfrm>
          <a:prstGeom prst="rect">
            <a:avLst/>
          </a:prstGeom>
          <a:noFill/>
          <a:ln/>
        </p:spPr>
        <p:txBody>
          <a:bodyPr wrap="square" lIns="0" tIns="0" rIns="0" bIns="0" rtlCol="0" anchor="t">
            <a:normAutofit/>
          </a:bodyPr>
          <a:lstStyle/>
          <a:p>
            <a:pPr algn="l" indent="0" marL="0">
              <a:lnSpc>
                <a:spcPct val="120000"/>
              </a:lnSpc>
              <a:buNone/>
            </a:pPr>
            <a:r>
              <a:rPr lang="en-US" sz="1150" dirty="0">
                <a:solidFill>
                  <a:srgbClr val="FFFFFF"/>
                </a:solidFill>
                <a:latin typeface="Epilogue" pitchFamily="34" charset="0"/>
                <a:ea typeface="Epilogue" pitchFamily="34" charset="-122"/>
                <a:cs typeface="Epilogue" pitchFamily="34" charset="-120"/>
              </a:rPr>
              <a:t>Same Tagalog method names, same logic — only syntax differs. The </a:t>
            </a:r>
            <a:pPr algn="l" indent="0" marL="0">
              <a:lnSpc>
                <a:spcPct val="120000"/>
              </a:lnSpc>
              <a:buNone/>
            </a:pPr>
            <a:r>
              <a:rPr lang="en-US" sz="1150" b="1" dirty="0">
                <a:solidFill>
                  <a:srgbClr val="FFFFFF"/>
                </a:solidFill>
                <a:latin typeface="Epilogue Bold" pitchFamily="34" charset="0"/>
                <a:ea typeface="Epilogue Bold" pitchFamily="34" charset="-122"/>
                <a:cs typeface="Epilogue Bold" pitchFamily="34" charset="-120"/>
              </a:rPr>
              <a:t>algorithm</a:t>
            </a:r>
            <a:pPr algn="l" indent="0" marL="0">
              <a:lnSpc>
                <a:spcPct val="120000"/>
              </a:lnSpc>
              <a:buNone/>
            </a:pPr>
            <a:r>
              <a:rPr lang="en-US" sz="1150" dirty="0">
                <a:solidFill>
                  <a:srgbClr val="FFFFFF"/>
                </a:solidFill>
                <a:latin typeface="Epilogue" pitchFamily="34" charset="0"/>
                <a:ea typeface="Epilogue" pitchFamily="34" charset="-122"/>
                <a:cs typeface="Epilogue" pitchFamily="34" charset="-120"/>
              </a:rPr>
              <a:t> stays identical across languages.</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7619809" y="0"/>
            <a:ext cx="4571886" cy="6858000"/>
          </a:xfrm>
          <a:prstGeom prst="rect">
            <a:avLst/>
          </a:prstGeom>
          <a:solidFill>
            <a:srgbClr val="283157"/>
          </a:solidFill>
          <a:ln/>
        </p:spPr>
      </p:sp>
      <p:pic>
        <p:nvPicPr>
          <p:cNvPr id="3" name="Image 0" descr="preencoded.png">    </p:cNvPr>
          <p:cNvPicPr>
            <a:picLocks noChangeAspect="1"/>
          </p:cNvPicPr>
          <p:nvPr/>
        </p:nvPicPr>
        <p:blipFill>
          <a:blip r:embed="rId1"/>
          <a:stretch>
            <a:fillRect/>
          </a:stretch>
        </p:blipFill>
        <p:spPr>
          <a:xfrm>
            <a:off x="7709501" y="134541"/>
            <a:ext cx="4392503" cy="6588919"/>
          </a:xfrm>
          <a:prstGeom prst="rect">
            <a:avLst/>
          </a:prstGeom>
        </p:spPr>
      </p:pic>
      <p:sp>
        <p:nvSpPr>
          <p:cNvPr id="4" name="Text 1"/>
          <p:cNvSpPr/>
          <p:nvPr/>
        </p:nvSpPr>
        <p:spPr>
          <a:xfrm>
            <a:off x="661475" y="903585"/>
            <a:ext cx="6296860" cy="561181"/>
          </a:xfrm>
          <a:prstGeom prst="rect">
            <a:avLst/>
          </a:prstGeom>
          <a:noFill/>
          <a:ln/>
        </p:spPr>
        <p:txBody>
          <a:bodyPr wrap="none" lIns="0" tIns="0" rIns="0" bIns="0" rtlCol="0" anchor="t"/>
          <a:lstStyle/>
          <a:p>
            <a:pPr algn="l" indent="0" marL="0">
              <a:lnSpc>
                <a:spcPct val="104000"/>
              </a:lnSpc>
              <a:buNone/>
            </a:pPr>
            <a:r>
              <a:rPr lang="en-US" sz="3500" dirty="0">
                <a:solidFill>
                  <a:srgbClr val="FFFFFF"/>
                </a:solidFill>
                <a:latin typeface="Fraunces Medium" pitchFamily="34" charset="0"/>
                <a:ea typeface="Fraunces Medium" pitchFamily="34" charset="-122"/>
                <a:cs typeface="Fraunces Medium" pitchFamily="34" charset="-120"/>
              </a:rPr>
              <a:t>Linear Search — The Concept</a:t>
            </a:r>
            <a:endParaRPr lang="en-US" sz="3500" dirty="0"/>
          </a:p>
        </p:txBody>
      </p:sp>
      <p:sp>
        <p:nvSpPr>
          <p:cNvPr id="5" name="Text 2"/>
          <p:cNvSpPr/>
          <p:nvPr/>
        </p:nvSpPr>
        <p:spPr>
          <a:xfrm>
            <a:off x="661475" y="1720652"/>
            <a:ext cx="6296860" cy="560189"/>
          </a:xfrm>
          <a:prstGeom prst="rect">
            <a:avLst/>
          </a:prstGeom>
          <a:noFill/>
          <a:ln/>
        </p:spPr>
        <p:txBody>
          <a:bodyPr wrap="square" lIns="0" tIns="0" rIns="0" bIns="0" rtlCol="0" anchor="t">
            <a:normAutofit/>
          </a:bodyPr>
          <a:lstStyle/>
          <a:p>
            <a:pPr algn="l" indent="0" marL="0">
              <a:lnSpc>
                <a:spcPct val="130000"/>
              </a:lnSpc>
              <a:buNone/>
            </a:pPr>
            <a:r>
              <a:rPr lang="en-US" sz="1400" b="1" dirty="0">
                <a:solidFill>
                  <a:srgbClr val="EBECEF"/>
                </a:solidFill>
                <a:latin typeface="Epilogue Bold" pitchFamily="34" charset="0"/>
                <a:ea typeface="Epilogue Bold" pitchFamily="34" charset="-122"/>
                <a:cs typeface="Epilogue Bold" pitchFamily="34" charset="-120"/>
              </a:rPr>
              <a:t>Linear search</a:t>
            </a:r>
            <a:pPr algn="l" indent="0" marL="0">
              <a:lnSpc>
                <a:spcPct val="130000"/>
              </a:lnSpc>
              <a:buNone/>
            </a:pPr>
            <a:r>
              <a:rPr lang="en-US" sz="1400" dirty="0">
                <a:solidFill>
                  <a:srgbClr val="EBECEF"/>
                </a:solidFill>
                <a:latin typeface="Epilogue" pitchFamily="34" charset="0"/>
                <a:ea typeface="Epilogue" pitchFamily="34" charset="-122"/>
                <a:cs typeface="Epilogue" pitchFamily="34" charset="-120"/>
              </a:rPr>
              <a:t> checks every item one by one until it finds the target or reaches the end.</a:t>
            </a:r>
            <a:endParaRPr lang="en-US" sz="1400" dirty="0"/>
          </a:p>
        </p:txBody>
      </p:sp>
      <p:pic>
        <p:nvPicPr>
          <p:cNvPr id="6"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1475" y="2472730"/>
            <a:ext cx="6296860" cy="1072654"/>
          </a:xfrm>
          <a:prstGeom prst="rect">
            <a:avLst/>
          </a:prstGeom>
        </p:spPr>
      </p:pic>
      <p:sp>
        <p:nvSpPr>
          <p:cNvPr id="7" name="Text 3"/>
          <p:cNvSpPr/>
          <p:nvPr/>
        </p:nvSpPr>
        <p:spPr>
          <a:xfrm>
            <a:off x="967954" y="2677616"/>
            <a:ext cx="5785499" cy="280491"/>
          </a:xfrm>
          <a:prstGeom prst="rect">
            <a:avLst/>
          </a:prstGeom>
          <a:noFill/>
          <a:ln/>
        </p:spPr>
        <p:txBody>
          <a:bodyPr wrap="none" lIns="0" tIns="0" rIns="0" bIns="0" rtlCol="0" anchor="t"/>
          <a:lstStyle/>
          <a:p>
            <a:pPr algn="l" indent="0" marL="0">
              <a:lnSpc>
                <a:spcPct val="104000"/>
              </a:lnSpc>
              <a:buNone/>
            </a:pPr>
            <a:r>
              <a:rPr lang="en-US" sz="1750" dirty="0">
                <a:solidFill>
                  <a:srgbClr val="EBECEF"/>
                </a:solidFill>
                <a:latin typeface="Fraunces Medium" pitchFamily="34" charset="0"/>
                <a:ea typeface="Fraunces Medium" pitchFamily="34" charset="-122"/>
                <a:cs typeface="Fraunces Medium" pitchFamily="34" charset="-120"/>
              </a:rPr>
              <a:t>Best Case — O(1)</a:t>
            </a:r>
            <a:endParaRPr lang="en-US" sz="1750" dirty="0"/>
          </a:p>
        </p:txBody>
      </p:sp>
      <p:sp>
        <p:nvSpPr>
          <p:cNvPr id="8" name="Text 4"/>
          <p:cNvSpPr/>
          <p:nvPr/>
        </p:nvSpPr>
        <p:spPr>
          <a:xfrm>
            <a:off x="967954" y="3060402"/>
            <a:ext cx="5785499" cy="280095"/>
          </a:xfrm>
          <a:prstGeom prst="rect">
            <a:avLst/>
          </a:prstGeom>
          <a:noFill/>
          <a:ln/>
        </p:spPr>
        <p:txBody>
          <a:bodyPr wrap="none" lIns="0" tIns="0" rIns="0" bIns="0" rtlCol="0" anchor="t"/>
          <a:lstStyle/>
          <a:p>
            <a:pPr algn="l" indent="0" marL="0">
              <a:lnSpc>
                <a:spcPct val="130000"/>
              </a:lnSpc>
              <a:buNone/>
            </a:pPr>
            <a:r>
              <a:rPr lang="en-US" sz="1400" dirty="0">
                <a:solidFill>
                  <a:srgbClr val="EBECEF"/>
                </a:solidFill>
                <a:latin typeface="Epilogue" pitchFamily="34" charset="0"/>
                <a:ea typeface="Epilogue" pitchFamily="34" charset="-122"/>
                <a:cs typeface="Epilogue" pitchFamily="34" charset="-120"/>
              </a:rPr>
              <a:t>Target is the </a:t>
            </a:r>
            <a:pPr algn="l" indent="0" marL="0">
              <a:lnSpc>
                <a:spcPct val="130000"/>
              </a:lnSpc>
              <a:buNone/>
            </a:pPr>
            <a:r>
              <a:rPr lang="en-US" sz="1400" b="1" dirty="0">
                <a:solidFill>
                  <a:srgbClr val="EBECEF"/>
                </a:solidFill>
                <a:latin typeface="Epilogue Bold" pitchFamily="34" charset="0"/>
                <a:ea typeface="Epilogue Bold" pitchFamily="34" charset="-122"/>
                <a:cs typeface="Epilogue Bold" pitchFamily="34" charset="-120"/>
              </a:rPr>
              <a:t>first item</a:t>
            </a:r>
            <a:pPr algn="l" indent="0" marL="0">
              <a:lnSpc>
                <a:spcPct val="130000"/>
              </a:lnSpc>
              <a:buNone/>
            </a:pPr>
            <a:r>
              <a:rPr lang="en-US" sz="1400" dirty="0">
                <a:solidFill>
                  <a:srgbClr val="EBECEF"/>
                </a:solidFill>
                <a:latin typeface="Epilogue" pitchFamily="34" charset="0"/>
                <a:ea typeface="Epilogue" pitchFamily="34" charset="-122"/>
                <a:cs typeface="Epilogue" pitchFamily="34" charset="-120"/>
              </a:rPr>
              <a:t>. One check, done immediately.</a:t>
            </a:r>
            <a:endParaRPr lang="en-US" sz="1400" dirty="0"/>
          </a:p>
        </p:txBody>
      </p:sp>
      <p:pic>
        <p:nvPicPr>
          <p:cNvPr id="9"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1475" y="3715941"/>
            <a:ext cx="6296860" cy="1072654"/>
          </a:xfrm>
          <a:prstGeom prst="rect">
            <a:avLst/>
          </a:prstGeom>
        </p:spPr>
      </p:pic>
      <p:sp>
        <p:nvSpPr>
          <p:cNvPr id="10" name="Text 5"/>
          <p:cNvSpPr/>
          <p:nvPr/>
        </p:nvSpPr>
        <p:spPr>
          <a:xfrm>
            <a:off x="967954" y="3920827"/>
            <a:ext cx="5785499" cy="280491"/>
          </a:xfrm>
          <a:prstGeom prst="rect">
            <a:avLst/>
          </a:prstGeom>
          <a:noFill/>
          <a:ln/>
        </p:spPr>
        <p:txBody>
          <a:bodyPr wrap="none" lIns="0" tIns="0" rIns="0" bIns="0" rtlCol="0" anchor="t"/>
          <a:lstStyle/>
          <a:p>
            <a:pPr algn="l" indent="0" marL="0">
              <a:lnSpc>
                <a:spcPct val="104000"/>
              </a:lnSpc>
              <a:buNone/>
            </a:pPr>
            <a:r>
              <a:rPr lang="en-US" sz="1750" dirty="0">
                <a:solidFill>
                  <a:srgbClr val="EBECEF"/>
                </a:solidFill>
                <a:latin typeface="Fraunces Medium" pitchFamily="34" charset="0"/>
                <a:ea typeface="Fraunces Medium" pitchFamily="34" charset="-122"/>
                <a:cs typeface="Fraunces Medium" pitchFamily="34" charset="-120"/>
              </a:rPr>
              <a:t>Worst Case — O(n)</a:t>
            </a:r>
            <a:endParaRPr lang="en-US" sz="1750" dirty="0"/>
          </a:p>
        </p:txBody>
      </p:sp>
      <p:sp>
        <p:nvSpPr>
          <p:cNvPr id="11" name="Text 6"/>
          <p:cNvSpPr/>
          <p:nvPr/>
        </p:nvSpPr>
        <p:spPr>
          <a:xfrm>
            <a:off x="967954" y="4303613"/>
            <a:ext cx="5785499" cy="280095"/>
          </a:xfrm>
          <a:prstGeom prst="rect">
            <a:avLst/>
          </a:prstGeom>
          <a:noFill/>
          <a:ln/>
        </p:spPr>
        <p:txBody>
          <a:bodyPr wrap="none" lIns="0" tIns="0" rIns="0" bIns="0" rtlCol="0" anchor="t"/>
          <a:lstStyle/>
          <a:p>
            <a:pPr algn="l" indent="0" marL="0">
              <a:lnSpc>
                <a:spcPct val="130000"/>
              </a:lnSpc>
              <a:buNone/>
            </a:pPr>
            <a:r>
              <a:rPr lang="en-US" sz="1400" dirty="0">
                <a:solidFill>
                  <a:srgbClr val="EBECEF"/>
                </a:solidFill>
                <a:latin typeface="Epilogue" pitchFamily="34" charset="0"/>
                <a:ea typeface="Epilogue" pitchFamily="34" charset="-122"/>
                <a:cs typeface="Epilogue" pitchFamily="34" charset="-120"/>
              </a:rPr>
              <a:t>Target is </a:t>
            </a:r>
            <a:pPr algn="l" indent="0" marL="0">
              <a:lnSpc>
                <a:spcPct val="130000"/>
              </a:lnSpc>
              <a:buNone/>
            </a:pPr>
            <a:r>
              <a:rPr lang="en-US" sz="1400" b="1" dirty="0">
                <a:solidFill>
                  <a:srgbClr val="EBECEF"/>
                </a:solidFill>
                <a:latin typeface="Epilogue Bold" pitchFamily="34" charset="0"/>
                <a:ea typeface="Epilogue Bold" pitchFamily="34" charset="-122"/>
                <a:cs typeface="Epilogue Bold" pitchFamily="34" charset="-120"/>
              </a:rPr>
              <a:t>last</a:t>
            </a:r>
            <a:pPr algn="l" indent="0" marL="0">
              <a:lnSpc>
                <a:spcPct val="130000"/>
              </a:lnSpc>
              <a:buNone/>
            </a:pPr>
            <a:r>
              <a:rPr lang="en-US" sz="1400" dirty="0">
                <a:solidFill>
                  <a:srgbClr val="EBECEF"/>
                </a:solidFill>
                <a:latin typeface="Epilogue" pitchFamily="34" charset="0"/>
                <a:ea typeface="Epilogue" pitchFamily="34" charset="-122"/>
                <a:cs typeface="Epilogue" pitchFamily="34" charset="-120"/>
              </a:rPr>
              <a:t> or </a:t>
            </a:r>
            <a:pPr algn="l" indent="0" marL="0">
              <a:lnSpc>
                <a:spcPct val="130000"/>
              </a:lnSpc>
              <a:buNone/>
            </a:pPr>
            <a:r>
              <a:rPr lang="en-US" sz="1400" b="1" dirty="0">
                <a:solidFill>
                  <a:srgbClr val="EBECEF"/>
                </a:solidFill>
                <a:latin typeface="Epilogue Bold" pitchFamily="34" charset="0"/>
                <a:ea typeface="Epilogue Bold" pitchFamily="34" charset="-122"/>
                <a:cs typeface="Epilogue Bold" pitchFamily="34" charset="-120"/>
              </a:rPr>
              <a:t>not present</a:t>
            </a:r>
            <a:pPr algn="l" indent="0" marL="0">
              <a:lnSpc>
                <a:spcPct val="130000"/>
              </a:lnSpc>
              <a:buNone/>
            </a:pPr>
            <a:r>
              <a:rPr lang="en-US" sz="1400" dirty="0">
                <a:solidFill>
                  <a:srgbClr val="EBECEF"/>
                </a:solidFill>
                <a:latin typeface="Epilogue" pitchFamily="34" charset="0"/>
                <a:ea typeface="Epilogue" pitchFamily="34" charset="-122"/>
                <a:cs typeface="Epilogue" pitchFamily="34" charset="-120"/>
              </a:rPr>
              <a:t>. Every item must be checked.</a:t>
            </a:r>
            <a:endParaRPr lang="en-US" sz="1400" dirty="0"/>
          </a:p>
        </p:txBody>
      </p:sp>
      <p:sp>
        <p:nvSpPr>
          <p:cNvPr id="12" name="Shape 7"/>
          <p:cNvSpPr/>
          <p:nvPr/>
        </p:nvSpPr>
        <p:spPr>
          <a:xfrm>
            <a:off x="661475" y="4980484"/>
            <a:ext cx="6296860" cy="973931"/>
          </a:xfrm>
          <a:prstGeom prst="roundRect">
            <a:avLst>
              <a:gd name="adj" fmla="val 7744"/>
            </a:avLst>
          </a:prstGeom>
          <a:solidFill>
            <a:srgbClr val="283157"/>
          </a:solidFill>
          <a:ln/>
        </p:spPr>
      </p:sp>
      <p:pic>
        <p:nvPicPr>
          <p:cNvPr id="13" name="Image 3" descr="preencoded.png">    </p:cNvPr>
          <p:cNvPicPr>
            <a:picLocks noChangeAspect="1"/>
          </p:cNvPicPr>
          <p:nvPr/>
        </p:nvPicPr>
        <p:blipFill>
          <a:blip r:embed="rId6"/>
          <a:stretch>
            <a:fillRect/>
          </a:stretch>
        </p:blipFill>
        <p:spPr>
          <a:xfrm>
            <a:off x="840957" y="5231904"/>
            <a:ext cx="224427" cy="179487"/>
          </a:xfrm>
          <a:prstGeom prst="rect">
            <a:avLst/>
          </a:prstGeom>
        </p:spPr>
      </p:pic>
      <p:sp>
        <p:nvSpPr>
          <p:cNvPr id="14" name="Text 8"/>
          <p:cNvSpPr/>
          <p:nvPr/>
        </p:nvSpPr>
        <p:spPr>
          <a:xfrm>
            <a:off x="1244867" y="5195888"/>
            <a:ext cx="5533986" cy="560189"/>
          </a:xfrm>
          <a:prstGeom prst="rect">
            <a:avLst/>
          </a:prstGeom>
          <a:noFill/>
          <a:ln/>
        </p:spPr>
        <p:txBody>
          <a:bodyPr wrap="square" lIns="0" tIns="0" rIns="0" bIns="0" rtlCol="0" anchor="t">
            <a:normAutofit/>
          </a:bodyPr>
          <a:lstStyle/>
          <a:p>
            <a:pPr algn="l" indent="0" marL="0">
              <a:lnSpc>
                <a:spcPct val="130000"/>
              </a:lnSpc>
              <a:buNone/>
            </a:pPr>
            <a:r>
              <a:rPr lang="en-US" sz="1400" b="1" dirty="0">
                <a:solidFill>
                  <a:srgbClr val="FFFFFF"/>
                </a:solidFill>
                <a:latin typeface="Epilogue Bold" pitchFamily="34" charset="0"/>
                <a:ea typeface="Epilogue Bold" pitchFamily="34" charset="-122"/>
                <a:cs typeface="Epilogue Bold" pitchFamily="34" charset="-120"/>
              </a:rPr>
              <a:t>Analogy:</a:t>
            </a:r>
            <a:pPr algn="l" indent="0" marL="0">
              <a:lnSpc>
                <a:spcPct val="130000"/>
              </a:lnSpc>
              <a:buNone/>
            </a:pPr>
            <a:r>
              <a:rPr lang="en-US" sz="1400" dirty="0">
                <a:solidFill>
                  <a:srgbClr val="FFFFFF"/>
                </a:solidFill>
                <a:latin typeface="Epilogue" pitchFamily="34" charset="0"/>
                <a:ea typeface="Epilogue" pitchFamily="34" charset="-122"/>
                <a:cs typeface="Epilogue" pitchFamily="34" charset="-120"/>
              </a:rPr>
              <a:t> Looking for a name in an </a:t>
            </a:r>
            <a:pPr algn="l" indent="0" marL="0">
              <a:lnSpc>
                <a:spcPct val="130000"/>
              </a:lnSpc>
              <a:buNone/>
            </a:pPr>
            <a:r>
              <a:rPr lang="en-US" sz="1400" b="1" dirty="0">
                <a:solidFill>
                  <a:srgbClr val="FFFFFF"/>
                </a:solidFill>
                <a:latin typeface="Epilogue Bold" pitchFamily="34" charset="0"/>
                <a:ea typeface="Epilogue Bold" pitchFamily="34" charset="-122"/>
                <a:cs typeface="Epilogue Bold" pitchFamily="34" charset="-120"/>
              </a:rPr>
              <a:t>unsorted</a:t>
            </a:r>
            <a:pPr algn="l" indent="0" marL="0">
              <a:lnSpc>
                <a:spcPct val="130000"/>
              </a:lnSpc>
              <a:buNone/>
            </a:pPr>
            <a:r>
              <a:rPr lang="en-US" sz="1400" dirty="0">
                <a:solidFill>
                  <a:srgbClr val="FFFFFF"/>
                </a:solidFill>
                <a:latin typeface="Epilogue" pitchFamily="34" charset="0"/>
                <a:ea typeface="Epilogue" pitchFamily="34" charset="-122"/>
                <a:cs typeface="Epilogue" pitchFamily="34" charset="-120"/>
              </a:rPr>
              <a:t> list — you must check each entry one by one. No shortcuts.</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672505"/>
            <a:ext cx="10868745" cy="472480"/>
          </a:xfrm>
          <a:prstGeom prst="rect">
            <a:avLst/>
          </a:prstGeom>
          <a:noFill/>
          <a:ln/>
        </p:spPr>
        <p:txBody>
          <a:bodyPr wrap="none" lIns="0" tIns="0" rIns="0" bIns="0" rtlCol="0" anchor="t"/>
          <a:lstStyle/>
          <a:p>
            <a:pPr algn="l" indent="0" marL="0">
              <a:lnSpc>
                <a:spcPct val="104000"/>
              </a:lnSpc>
              <a:buNone/>
            </a:pPr>
            <a:r>
              <a:rPr lang="en-US" sz="2950" dirty="0">
                <a:solidFill>
                  <a:srgbClr val="FFFFFF"/>
                </a:solidFill>
                <a:latin typeface="Fraunces Medium" pitchFamily="34" charset="0"/>
                <a:ea typeface="Fraunces Medium" pitchFamily="34" charset="-122"/>
                <a:cs typeface="Fraunces Medium" pitchFamily="34" charset="-120"/>
              </a:rPr>
              <a:t>Linear Search — Code Across Languages</a:t>
            </a:r>
            <a:endParaRPr lang="en-US" sz="2950" dirty="0"/>
          </a:p>
        </p:txBody>
      </p:sp>
      <p:sp>
        <p:nvSpPr>
          <p:cNvPr id="3" name="Text 1"/>
          <p:cNvSpPr/>
          <p:nvPr/>
        </p:nvSpPr>
        <p:spPr>
          <a:xfrm>
            <a:off x="661475" y="1447304"/>
            <a:ext cx="5249930" cy="236240"/>
          </a:xfrm>
          <a:prstGeom prst="rect">
            <a:avLst/>
          </a:prstGeom>
          <a:noFill/>
          <a:ln/>
        </p:spPr>
        <p:txBody>
          <a:bodyPr wrap="none" lIns="0" tIns="0" rIns="0" bIns="0" rtlCol="0" anchor="t"/>
          <a:lstStyle/>
          <a:p>
            <a:pPr algn="l" indent="0" marL="0">
              <a:lnSpc>
                <a:spcPct val="104000"/>
              </a:lnSpc>
              <a:buNone/>
            </a:pPr>
            <a:r>
              <a:rPr lang="en-US" sz="1450" dirty="0">
                <a:solidFill>
                  <a:srgbClr val="FFFFFF"/>
                </a:solidFill>
                <a:latin typeface="Fraunces Medium" pitchFamily="34" charset="0"/>
                <a:ea typeface="Fraunces Medium" pitchFamily="34" charset="-122"/>
                <a:cs typeface="Fraunces Medium" pitchFamily="34" charset="-120"/>
              </a:rPr>
              <a:t>Java</a:t>
            </a:r>
            <a:endParaRPr lang="en-US" sz="1450" dirty="0"/>
          </a:p>
        </p:txBody>
      </p:sp>
      <p:sp>
        <p:nvSpPr>
          <p:cNvPr id="4" name="Shape 2"/>
          <p:cNvSpPr/>
          <p:nvPr/>
        </p:nvSpPr>
        <p:spPr>
          <a:xfrm>
            <a:off x="661475" y="1819573"/>
            <a:ext cx="5249930" cy="1608534"/>
          </a:xfrm>
          <a:prstGeom prst="roundRect">
            <a:avLst>
              <a:gd name="adj" fmla="val 3948"/>
            </a:avLst>
          </a:prstGeom>
          <a:solidFill>
            <a:srgbClr val="151B33"/>
          </a:solidFill>
          <a:ln/>
        </p:spPr>
      </p:sp>
      <p:sp>
        <p:nvSpPr>
          <p:cNvPr id="5" name="Shape 3"/>
          <p:cNvSpPr/>
          <p:nvPr/>
        </p:nvSpPr>
        <p:spPr>
          <a:xfrm>
            <a:off x="653934" y="1819573"/>
            <a:ext cx="5265010" cy="1608534"/>
          </a:xfrm>
          <a:prstGeom prst="roundRect">
            <a:avLst>
              <a:gd name="adj" fmla="val 1410"/>
            </a:avLst>
          </a:prstGeom>
          <a:solidFill>
            <a:srgbClr val="151B33"/>
          </a:solidFill>
          <a:ln/>
        </p:spPr>
      </p:sp>
      <p:sp>
        <p:nvSpPr>
          <p:cNvPr id="6" name="Text 4"/>
          <p:cNvSpPr/>
          <p:nvPr/>
        </p:nvSpPr>
        <p:spPr>
          <a:xfrm>
            <a:off x="842941" y="1970782"/>
            <a:ext cx="4886996" cy="1306116"/>
          </a:xfrm>
          <a:prstGeom prst="rect">
            <a:avLst/>
          </a:prstGeom>
          <a:noFill/>
          <a:ln/>
        </p:spPr>
        <p:txBody>
          <a:bodyPr wrap="square" lIns="0" tIns="0" rIns="0" bIns="0" rtlCol="0" anchor="t">
            <a:normAutofit/>
          </a:bodyPr>
          <a:lstStyle/>
          <a:p>
            <a:pPr algn="l" indent="0" marL="0">
              <a:lnSpc>
                <a:spcPct val="120000"/>
              </a:lnSpc>
              <a:buNone/>
            </a:pPr>
            <a:r>
              <a:rPr lang="en-US" sz="1150" dirty="0">
                <a:solidFill>
                  <a:srgbClr val="FF7B72"/>
                </a:solidFill>
                <a:highlight>
                  <a:srgbClr val="151B33"/>
                </a:highlight>
                <a:latin typeface="Consolas" pitchFamily="34" charset="0"/>
                <a:ea typeface="Consolas" pitchFamily="34" charset="-122"/>
                <a:cs typeface="Consolas" pitchFamily="34" charset="-120"/>
              </a:rPr>
              <a:t>int linearSearch(int[] arr, int target) {</a:t>
            </a:r>
            <a:endParaRPr lang="en-US" sz="1150" dirty="0"/>
          </a:p>
          <a:p>
            <a:pPr algn="l" indent="0" marL="0">
              <a:lnSpc>
                <a:spcPct val="120000"/>
              </a:lnSpc>
              <a:buNone/>
            </a:pPr>
            <a:r>
              <a:rPr lang="en-US" sz="1150" dirty="0">
                <a:solidFill>
                  <a:srgbClr val="FF7B72"/>
                </a:solidFill>
                <a:highlight>
                  <a:srgbClr val="151B33"/>
                </a:highlight>
                <a:latin typeface="Consolas" pitchFamily="34" charset="0"/>
                <a:ea typeface="Consolas" pitchFamily="34" charset="-122"/>
                <a:cs typeface="Consolas" pitchFamily="34" charset="-120"/>
              </a:rPr>
              <a:t>  for (int i = 0; i &lt; arr.length; i++) {</a:t>
            </a:r>
            <a:endParaRPr lang="en-US" sz="1150" dirty="0"/>
          </a:p>
          <a:p>
            <a:pPr algn="l" indent="0" marL="0">
              <a:lnSpc>
                <a:spcPct val="120000"/>
              </a:lnSpc>
              <a:buNone/>
            </a:pPr>
            <a:r>
              <a:rPr lang="en-US" sz="1150" dirty="0">
                <a:solidFill>
                  <a:srgbClr val="FF7B72"/>
                </a:solidFill>
                <a:highlight>
                  <a:srgbClr val="151B33"/>
                </a:highlight>
                <a:latin typeface="Consolas" pitchFamily="34" charset="0"/>
                <a:ea typeface="Consolas" pitchFamily="34" charset="-122"/>
                <a:cs typeface="Consolas" pitchFamily="34" charset="-120"/>
              </a:rPr>
              <a:t>    if (arr[i] == target) return i;</a:t>
            </a:r>
            <a:endParaRPr lang="en-US" sz="1150" dirty="0"/>
          </a:p>
          <a:p>
            <a:pPr algn="l" indent="0" marL="0">
              <a:lnSpc>
                <a:spcPct val="120000"/>
              </a:lnSpc>
              <a:buNone/>
            </a:pPr>
            <a:r>
              <a:rPr lang="en-US" sz="1150" dirty="0">
                <a:solidFill>
                  <a:srgbClr val="FF7B72"/>
                </a:solidFill>
                <a:highlight>
                  <a:srgbClr val="151B33"/>
                </a:highlight>
                <a:latin typeface="Consolas" pitchFamily="34" charset="0"/>
                <a:ea typeface="Consolas" pitchFamily="34" charset="-122"/>
                <a:cs typeface="Consolas" pitchFamily="34" charset="-120"/>
              </a:rPr>
              <a:t>  }</a:t>
            </a:r>
            <a:endParaRPr lang="en-US" sz="1150" dirty="0"/>
          </a:p>
          <a:p>
            <a:pPr algn="l" indent="0" marL="0">
              <a:lnSpc>
                <a:spcPct val="120000"/>
              </a:lnSpc>
              <a:buNone/>
            </a:pPr>
            <a:r>
              <a:rPr lang="en-US" sz="1150" dirty="0">
                <a:solidFill>
                  <a:srgbClr val="FF7B72"/>
                </a:solidFill>
                <a:highlight>
                  <a:srgbClr val="151B33"/>
                </a:highlight>
                <a:latin typeface="Consolas" pitchFamily="34" charset="0"/>
                <a:ea typeface="Consolas" pitchFamily="34" charset="-122"/>
                <a:cs typeface="Consolas" pitchFamily="34" charset="-120"/>
              </a:rPr>
              <a:t>  return -1;</a:t>
            </a:r>
            <a:endParaRPr lang="en-US" sz="1150" dirty="0"/>
          </a:p>
          <a:p>
            <a:pPr algn="l" indent="0" marL="0">
              <a:lnSpc>
                <a:spcPct val="120000"/>
              </a:lnSpc>
              <a:buNone/>
            </a:pPr>
            <a:r>
              <a:rPr lang="en-US" sz="1150" dirty="0">
                <a:solidFill>
                  <a:srgbClr val="FF7B72"/>
                </a:solidFill>
                <a:highlight>
                  <a:srgbClr val="151B33"/>
                </a:highlight>
                <a:latin typeface="Consolas" pitchFamily="34" charset="0"/>
                <a:ea typeface="Consolas" pitchFamily="34" charset="-122"/>
                <a:cs typeface="Consolas" pitchFamily="34" charset="-120"/>
              </a:rPr>
              <a:t>}</a:t>
            </a:r>
            <a:endParaRPr lang="en-US" sz="1150" dirty="0"/>
          </a:p>
        </p:txBody>
      </p:sp>
      <p:sp>
        <p:nvSpPr>
          <p:cNvPr id="7" name="Text 5"/>
          <p:cNvSpPr/>
          <p:nvPr/>
        </p:nvSpPr>
        <p:spPr>
          <a:xfrm>
            <a:off x="6286640" y="1447304"/>
            <a:ext cx="5249930" cy="236240"/>
          </a:xfrm>
          <a:prstGeom prst="rect">
            <a:avLst/>
          </a:prstGeom>
          <a:noFill/>
          <a:ln/>
        </p:spPr>
        <p:txBody>
          <a:bodyPr wrap="none" lIns="0" tIns="0" rIns="0" bIns="0" rtlCol="0" anchor="t"/>
          <a:lstStyle/>
          <a:p>
            <a:pPr algn="l" indent="0" marL="0">
              <a:lnSpc>
                <a:spcPct val="104000"/>
              </a:lnSpc>
              <a:buNone/>
            </a:pPr>
            <a:r>
              <a:rPr lang="en-US" sz="1450" dirty="0">
                <a:solidFill>
                  <a:srgbClr val="FFFFFF"/>
                </a:solidFill>
                <a:latin typeface="Fraunces Medium" pitchFamily="34" charset="0"/>
                <a:ea typeface="Fraunces Medium" pitchFamily="34" charset="-122"/>
                <a:cs typeface="Fraunces Medium" pitchFamily="34" charset="-120"/>
              </a:rPr>
              <a:t>C++</a:t>
            </a:r>
            <a:endParaRPr lang="en-US" sz="1450" dirty="0"/>
          </a:p>
        </p:txBody>
      </p:sp>
      <p:sp>
        <p:nvSpPr>
          <p:cNvPr id="8" name="Shape 6"/>
          <p:cNvSpPr/>
          <p:nvPr/>
        </p:nvSpPr>
        <p:spPr>
          <a:xfrm>
            <a:off x="6286640" y="1819573"/>
            <a:ext cx="5249930" cy="1608534"/>
          </a:xfrm>
          <a:prstGeom prst="roundRect">
            <a:avLst>
              <a:gd name="adj" fmla="val 3948"/>
            </a:avLst>
          </a:prstGeom>
          <a:solidFill>
            <a:srgbClr val="151B33"/>
          </a:solidFill>
          <a:ln/>
        </p:spPr>
      </p:sp>
      <p:sp>
        <p:nvSpPr>
          <p:cNvPr id="9" name="Shape 7"/>
          <p:cNvSpPr/>
          <p:nvPr/>
        </p:nvSpPr>
        <p:spPr>
          <a:xfrm>
            <a:off x="6279100" y="1819573"/>
            <a:ext cx="5265010" cy="1608534"/>
          </a:xfrm>
          <a:prstGeom prst="roundRect">
            <a:avLst>
              <a:gd name="adj" fmla="val 1410"/>
            </a:avLst>
          </a:prstGeom>
          <a:solidFill>
            <a:srgbClr val="151B33"/>
          </a:solidFill>
          <a:ln/>
        </p:spPr>
      </p:sp>
      <p:sp>
        <p:nvSpPr>
          <p:cNvPr id="10" name="Text 8"/>
          <p:cNvSpPr/>
          <p:nvPr/>
        </p:nvSpPr>
        <p:spPr>
          <a:xfrm>
            <a:off x="6468107" y="1970782"/>
            <a:ext cx="4886996" cy="1306116"/>
          </a:xfrm>
          <a:prstGeom prst="rect">
            <a:avLst/>
          </a:prstGeom>
          <a:noFill/>
          <a:ln/>
        </p:spPr>
        <p:txBody>
          <a:bodyPr wrap="square" lIns="0" tIns="0" rIns="0" bIns="0" rtlCol="0" anchor="t">
            <a:normAutofit/>
          </a:bodyPr>
          <a:lstStyle/>
          <a:p>
            <a:pPr algn="l" indent="0" marL="0">
              <a:lnSpc>
                <a:spcPct val="120000"/>
              </a:lnSpc>
              <a:buNone/>
            </a:pPr>
            <a:r>
              <a:rPr lang="en-US" sz="1150" dirty="0">
                <a:solidFill>
                  <a:srgbClr val="FF7B72"/>
                </a:solidFill>
                <a:highlight>
                  <a:srgbClr val="151B33"/>
                </a:highlight>
                <a:latin typeface="Consolas" pitchFamily="34" charset="0"/>
                <a:ea typeface="Consolas" pitchFamily="34" charset="-122"/>
                <a:cs typeface="Consolas" pitchFamily="34" charset="-120"/>
              </a:rPr>
              <a:t>int linearSearch(int arr[], int n, int target) {</a:t>
            </a:r>
            <a:endParaRPr lang="en-US" sz="1150" dirty="0"/>
          </a:p>
          <a:p>
            <a:pPr algn="l" indent="0" marL="0">
              <a:lnSpc>
                <a:spcPct val="120000"/>
              </a:lnSpc>
              <a:buNone/>
            </a:pPr>
            <a:r>
              <a:rPr lang="en-US" sz="1150" dirty="0">
                <a:solidFill>
                  <a:srgbClr val="FF7B72"/>
                </a:solidFill>
                <a:highlight>
                  <a:srgbClr val="151B33"/>
                </a:highlight>
                <a:latin typeface="Consolas" pitchFamily="34" charset="0"/>
                <a:ea typeface="Consolas" pitchFamily="34" charset="-122"/>
                <a:cs typeface="Consolas" pitchFamily="34" charset="-120"/>
              </a:rPr>
              <a:t>  for (int i = 0; i &lt; n; i++) {</a:t>
            </a:r>
            <a:endParaRPr lang="en-US" sz="1150" dirty="0"/>
          </a:p>
          <a:p>
            <a:pPr algn="l" indent="0" marL="0">
              <a:lnSpc>
                <a:spcPct val="120000"/>
              </a:lnSpc>
              <a:buNone/>
            </a:pPr>
            <a:r>
              <a:rPr lang="en-US" sz="1150" dirty="0">
                <a:solidFill>
                  <a:srgbClr val="FF7B72"/>
                </a:solidFill>
                <a:highlight>
                  <a:srgbClr val="151B33"/>
                </a:highlight>
                <a:latin typeface="Consolas" pitchFamily="34" charset="0"/>
                <a:ea typeface="Consolas" pitchFamily="34" charset="-122"/>
                <a:cs typeface="Consolas" pitchFamily="34" charset="-120"/>
              </a:rPr>
              <a:t>    if (arr[i] == target) return i;</a:t>
            </a:r>
            <a:endParaRPr lang="en-US" sz="1150" dirty="0"/>
          </a:p>
          <a:p>
            <a:pPr algn="l" indent="0" marL="0">
              <a:lnSpc>
                <a:spcPct val="120000"/>
              </a:lnSpc>
              <a:buNone/>
            </a:pPr>
            <a:r>
              <a:rPr lang="en-US" sz="1150" dirty="0">
                <a:solidFill>
                  <a:srgbClr val="FF7B72"/>
                </a:solidFill>
                <a:highlight>
                  <a:srgbClr val="151B33"/>
                </a:highlight>
                <a:latin typeface="Consolas" pitchFamily="34" charset="0"/>
                <a:ea typeface="Consolas" pitchFamily="34" charset="-122"/>
                <a:cs typeface="Consolas" pitchFamily="34" charset="-120"/>
              </a:rPr>
              <a:t>  }</a:t>
            </a:r>
            <a:endParaRPr lang="en-US" sz="1150" dirty="0"/>
          </a:p>
          <a:p>
            <a:pPr algn="l" indent="0" marL="0">
              <a:lnSpc>
                <a:spcPct val="120000"/>
              </a:lnSpc>
              <a:buNone/>
            </a:pPr>
            <a:r>
              <a:rPr lang="en-US" sz="1150" dirty="0">
                <a:solidFill>
                  <a:srgbClr val="FF7B72"/>
                </a:solidFill>
                <a:highlight>
                  <a:srgbClr val="151B33"/>
                </a:highlight>
                <a:latin typeface="Consolas" pitchFamily="34" charset="0"/>
                <a:ea typeface="Consolas" pitchFamily="34" charset="-122"/>
                <a:cs typeface="Consolas" pitchFamily="34" charset="-120"/>
              </a:rPr>
              <a:t>  return -1;</a:t>
            </a:r>
            <a:endParaRPr lang="en-US" sz="1150" dirty="0"/>
          </a:p>
          <a:p>
            <a:pPr algn="l" indent="0" marL="0">
              <a:lnSpc>
                <a:spcPct val="120000"/>
              </a:lnSpc>
              <a:buNone/>
            </a:pPr>
            <a:r>
              <a:rPr lang="en-US" sz="1150" dirty="0">
                <a:solidFill>
                  <a:srgbClr val="FF7B72"/>
                </a:solidFill>
                <a:highlight>
                  <a:srgbClr val="151B33"/>
                </a:highlight>
                <a:latin typeface="Consolas" pitchFamily="34" charset="0"/>
                <a:ea typeface="Consolas" pitchFamily="34" charset="-122"/>
                <a:cs typeface="Consolas" pitchFamily="34" charset="-120"/>
              </a:rPr>
              <a:t>}</a:t>
            </a:r>
            <a:endParaRPr lang="en-US" sz="1150" dirty="0"/>
          </a:p>
        </p:txBody>
      </p:sp>
      <p:sp>
        <p:nvSpPr>
          <p:cNvPr id="11" name="Shape 9"/>
          <p:cNvSpPr/>
          <p:nvPr/>
        </p:nvSpPr>
        <p:spPr>
          <a:xfrm>
            <a:off x="661475" y="3700165"/>
            <a:ext cx="10868745" cy="1826220"/>
          </a:xfrm>
          <a:prstGeom prst="roundRect">
            <a:avLst>
              <a:gd name="adj" fmla="val 3478"/>
            </a:avLst>
          </a:prstGeom>
          <a:solidFill>
            <a:srgbClr val="151B33"/>
          </a:solidFill>
          <a:ln/>
        </p:spPr>
      </p:sp>
      <p:sp>
        <p:nvSpPr>
          <p:cNvPr id="12" name="Shape 10"/>
          <p:cNvSpPr/>
          <p:nvPr/>
        </p:nvSpPr>
        <p:spPr>
          <a:xfrm>
            <a:off x="653934" y="3700165"/>
            <a:ext cx="10883826" cy="1826220"/>
          </a:xfrm>
          <a:prstGeom prst="roundRect">
            <a:avLst>
              <a:gd name="adj" fmla="val 1242"/>
            </a:avLst>
          </a:prstGeom>
          <a:solidFill>
            <a:srgbClr val="151B33"/>
          </a:solidFill>
          <a:ln/>
        </p:spPr>
      </p:sp>
      <p:sp>
        <p:nvSpPr>
          <p:cNvPr id="13" name="Text 11"/>
          <p:cNvSpPr/>
          <p:nvPr/>
        </p:nvSpPr>
        <p:spPr>
          <a:xfrm>
            <a:off x="842941" y="3851374"/>
            <a:ext cx="10505812" cy="1523802"/>
          </a:xfrm>
          <a:prstGeom prst="rect">
            <a:avLst/>
          </a:prstGeom>
          <a:noFill/>
          <a:ln/>
        </p:spPr>
        <p:txBody>
          <a:bodyPr wrap="square" lIns="0" tIns="0" rIns="0" bIns="0" rtlCol="0" anchor="t">
            <a:normAutofit/>
          </a:bodyPr>
          <a:lstStyle/>
          <a:p>
            <a:pPr algn="l" indent="0" marL="0">
              <a:lnSpc>
                <a:spcPct val="120000"/>
              </a:lnSpc>
              <a:buNone/>
            </a:pPr>
            <a:r>
              <a:rPr lang="en-US" sz="1150" dirty="0">
                <a:solidFill>
                  <a:srgbClr val="8B949E"/>
                </a:solidFill>
                <a:highlight>
                  <a:srgbClr val="151B33"/>
                </a:highlight>
                <a:latin typeface="Consolas" pitchFamily="34" charset="0"/>
                <a:ea typeface="Consolas" pitchFamily="34" charset="-122"/>
                <a:cs typeface="Consolas" pitchFamily="34" charset="-120"/>
              </a:rPr>
              <a:t>// Dart</a:t>
            </a:r>
            <a:endParaRPr lang="en-US" sz="1150" dirty="0"/>
          </a:p>
          <a:p>
            <a:pPr algn="l" indent="0" marL="0">
              <a:lnSpc>
                <a:spcPct val="120000"/>
              </a:lnSpc>
              <a:buNone/>
            </a:pPr>
            <a:r>
              <a:rPr lang="en-US" sz="1150" dirty="0">
                <a:solidFill>
                  <a:srgbClr val="8B949E"/>
                </a:solidFill>
                <a:highlight>
                  <a:srgbClr val="151B33"/>
                </a:highlight>
                <a:latin typeface="Consolas" pitchFamily="34" charset="0"/>
                <a:ea typeface="Consolas" pitchFamily="34" charset="-122"/>
                <a:cs typeface="Consolas" pitchFamily="34" charset="-120"/>
              </a:rPr>
              <a:t>int linearSearch(List&lt;int&gt; arr, int target) {</a:t>
            </a:r>
            <a:endParaRPr lang="en-US" sz="1150" dirty="0"/>
          </a:p>
          <a:p>
            <a:pPr algn="l" indent="0" marL="0">
              <a:lnSpc>
                <a:spcPct val="120000"/>
              </a:lnSpc>
              <a:buNone/>
            </a:pPr>
            <a:r>
              <a:rPr lang="en-US" sz="1150" dirty="0">
                <a:solidFill>
                  <a:srgbClr val="8B949E"/>
                </a:solidFill>
                <a:highlight>
                  <a:srgbClr val="151B33"/>
                </a:highlight>
                <a:latin typeface="Consolas" pitchFamily="34" charset="0"/>
                <a:ea typeface="Consolas" pitchFamily="34" charset="-122"/>
                <a:cs typeface="Consolas" pitchFamily="34" charset="-120"/>
              </a:rPr>
              <a:t>  for (int i = 0; i &lt; arr.length; i++) {</a:t>
            </a:r>
            <a:endParaRPr lang="en-US" sz="1150" dirty="0"/>
          </a:p>
          <a:p>
            <a:pPr algn="l" indent="0" marL="0">
              <a:lnSpc>
                <a:spcPct val="120000"/>
              </a:lnSpc>
              <a:buNone/>
            </a:pPr>
            <a:r>
              <a:rPr lang="en-US" sz="1150" dirty="0">
                <a:solidFill>
                  <a:srgbClr val="8B949E"/>
                </a:solidFill>
                <a:highlight>
                  <a:srgbClr val="151B33"/>
                </a:highlight>
                <a:latin typeface="Consolas" pitchFamily="34" charset="0"/>
                <a:ea typeface="Consolas" pitchFamily="34" charset="-122"/>
                <a:cs typeface="Consolas" pitchFamily="34" charset="-120"/>
              </a:rPr>
              <a:t>    if (arr[i] == target) return i;</a:t>
            </a:r>
            <a:endParaRPr lang="en-US" sz="1150" dirty="0"/>
          </a:p>
          <a:p>
            <a:pPr algn="l" indent="0" marL="0">
              <a:lnSpc>
                <a:spcPct val="120000"/>
              </a:lnSpc>
              <a:buNone/>
            </a:pPr>
            <a:r>
              <a:rPr lang="en-US" sz="1150" dirty="0">
                <a:solidFill>
                  <a:srgbClr val="8B949E"/>
                </a:solidFill>
                <a:highlight>
                  <a:srgbClr val="151B33"/>
                </a:highlight>
                <a:latin typeface="Consolas" pitchFamily="34" charset="0"/>
                <a:ea typeface="Consolas" pitchFamily="34" charset="-122"/>
                <a:cs typeface="Consolas" pitchFamily="34" charset="-120"/>
              </a:rPr>
              <a:t>  }</a:t>
            </a:r>
            <a:endParaRPr lang="en-US" sz="1150" dirty="0"/>
          </a:p>
          <a:p>
            <a:pPr algn="l" indent="0" marL="0">
              <a:lnSpc>
                <a:spcPct val="120000"/>
              </a:lnSpc>
              <a:buNone/>
            </a:pPr>
            <a:r>
              <a:rPr lang="en-US" sz="1150" dirty="0">
                <a:solidFill>
                  <a:srgbClr val="8B949E"/>
                </a:solidFill>
                <a:highlight>
                  <a:srgbClr val="151B33"/>
                </a:highlight>
                <a:latin typeface="Consolas" pitchFamily="34" charset="0"/>
                <a:ea typeface="Consolas" pitchFamily="34" charset="-122"/>
                <a:cs typeface="Consolas" pitchFamily="34" charset="-120"/>
              </a:rPr>
              <a:t>  return -1;</a:t>
            </a:r>
            <a:endParaRPr lang="en-US" sz="1150" dirty="0"/>
          </a:p>
          <a:p>
            <a:pPr algn="l" indent="0" marL="0">
              <a:lnSpc>
                <a:spcPct val="120000"/>
              </a:lnSpc>
              <a:buNone/>
            </a:pPr>
            <a:r>
              <a:rPr lang="en-US" sz="1150" dirty="0">
                <a:solidFill>
                  <a:srgbClr val="8B949E"/>
                </a:solidFill>
                <a:highlight>
                  <a:srgbClr val="151B33"/>
                </a:highlight>
                <a:latin typeface="Consolas" pitchFamily="34" charset="0"/>
                <a:ea typeface="Consolas" pitchFamily="34" charset="-122"/>
                <a:cs typeface="Consolas" pitchFamily="34" charset="-120"/>
              </a:rPr>
              <a:t>}</a:t>
            </a:r>
            <a:endParaRPr lang="en-US" sz="1150" dirty="0"/>
          </a:p>
        </p:txBody>
      </p:sp>
      <p:sp>
        <p:nvSpPr>
          <p:cNvPr id="14" name="Shape 12"/>
          <p:cNvSpPr/>
          <p:nvPr/>
        </p:nvSpPr>
        <p:spPr>
          <a:xfrm>
            <a:off x="661475" y="5662414"/>
            <a:ext cx="10868745" cy="523081"/>
          </a:xfrm>
          <a:prstGeom prst="roundRect">
            <a:avLst>
              <a:gd name="adj" fmla="val 12142"/>
            </a:avLst>
          </a:prstGeom>
          <a:solidFill>
            <a:srgbClr val="283157"/>
          </a:solidFill>
          <a:ln/>
        </p:spPr>
      </p:sp>
      <p:pic>
        <p:nvPicPr>
          <p:cNvPr id="15" name="Image 0" descr="preencoded.png">    </p:cNvPr>
          <p:cNvPicPr>
            <a:picLocks noChangeAspect="1"/>
          </p:cNvPicPr>
          <p:nvPr/>
        </p:nvPicPr>
        <p:blipFill>
          <a:blip r:embed="rId1"/>
          <a:stretch>
            <a:fillRect/>
          </a:stretch>
        </p:blipFill>
        <p:spPr>
          <a:xfrm>
            <a:off x="812680" y="5865118"/>
            <a:ext cx="189007" cy="151209"/>
          </a:xfrm>
          <a:prstGeom prst="rect">
            <a:avLst/>
          </a:prstGeom>
        </p:spPr>
      </p:pic>
      <p:sp>
        <p:nvSpPr>
          <p:cNvPr id="16" name="Text 13"/>
          <p:cNvSpPr/>
          <p:nvPr/>
        </p:nvSpPr>
        <p:spPr>
          <a:xfrm>
            <a:off x="1152893" y="5821164"/>
            <a:ext cx="10835706" cy="217686"/>
          </a:xfrm>
          <a:prstGeom prst="rect">
            <a:avLst/>
          </a:prstGeom>
          <a:noFill/>
          <a:ln/>
        </p:spPr>
        <p:txBody>
          <a:bodyPr wrap="none" lIns="0" tIns="0" rIns="0" bIns="0" rtlCol="0" anchor="t"/>
          <a:lstStyle/>
          <a:p>
            <a:pPr algn="l" indent="0" marL="0">
              <a:lnSpc>
                <a:spcPct val="120000"/>
              </a:lnSpc>
              <a:buNone/>
            </a:pPr>
            <a:r>
              <a:rPr lang="en-US" sz="1150" dirty="0">
                <a:solidFill>
                  <a:srgbClr val="FFFFFF"/>
                </a:solidFill>
                <a:latin typeface="Epilogue" pitchFamily="34" charset="0"/>
                <a:ea typeface="Epilogue" pitchFamily="34" charset="-122"/>
                <a:cs typeface="Epilogue" pitchFamily="34" charset="-120"/>
              </a:rPr>
              <a:t>All three return the </a:t>
            </a:r>
            <a:pPr algn="l" indent="0" marL="0">
              <a:lnSpc>
                <a:spcPct val="120000"/>
              </a:lnSpc>
              <a:buNone/>
            </a:pPr>
            <a:r>
              <a:rPr lang="en-US" sz="1150" b="1" dirty="0">
                <a:solidFill>
                  <a:srgbClr val="FFFFFF"/>
                </a:solidFill>
                <a:latin typeface="Epilogue Bold" pitchFamily="34" charset="0"/>
                <a:ea typeface="Epilogue Bold" pitchFamily="34" charset="-122"/>
                <a:cs typeface="Epilogue Bold" pitchFamily="34" charset="-120"/>
              </a:rPr>
              <a:t>index</a:t>
            </a:r>
            <a:pPr algn="l" indent="0" marL="0">
              <a:lnSpc>
                <a:spcPct val="120000"/>
              </a:lnSpc>
              <a:buNone/>
            </a:pPr>
            <a:r>
              <a:rPr lang="en-US" sz="1150" dirty="0">
                <a:solidFill>
                  <a:srgbClr val="FFFFFF"/>
                </a:solidFill>
                <a:latin typeface="Epilogue" pitchFamily="34" charset="0"/>
                <a:ea typeface="Epilogue" pitchFamily="34" charset="-122"/>
                <a:cs typeface="Epilogue" pitchFamily="34" charset="-120"/>
              </a:rPr>
              <a:t> if found, or </a:t>
            </a:r>
            <a:pPr algn="l" indent="0" marL="0">
              <a:lnSpc>
                <a:spcPct val="120000"/>
              </a:lnSpc>
              <a:buNone/>
            </a:pPr>
            <a:r>
              <a:rPr lang="en-US" sz="1150" b="1" dirty="0">
                <a:solidFill>
                  <a:srgbClr val="FFFFFF"/>
                </a:solidFill>
                <a:latin typeface="Epilogue Bold" pitchFamily="34" charset="0"/>
                <a:ea typeface="Epilogue Bold" pitchFamily="34" charset="-122"/>
                <a:cs typeface="Epilogue Bold" pitchFamily="34" charset="-120"/>
              </a:rPr>
              <a:t>-1</a:t>
            </a:r>
            <a:pPr algn="l" indent="0" marL="0">
              <a:lnSpc>
                <a:spcPct val="120000"/>
              </a:lnSpc>
              <a:buNone/>
            </a:pPr>
            <a:r>
              <a:rPr lang="en-US" sz="1150" dirty="0">
                <a:solidFill>
                  <a:srgbClr val="FFFFFF"/>
                </a:solidFill>
                <a:latin typeface="Epilogue" pitchFamily="34" charset="0"/>
                <a:ea typeface="Epilogue" pitchFamily="34" charset="-122"/>
                <a:cs typeface="Epilogue" pitchFamily="34" charset="-120"/>
              </a:rPr>
              <a:t> if not. Same logic, different syntax.</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7619809" y="0"/>
            <a:ext cx="4571886" cy="6858000"/>
          </a:xfrm>
          <a:prstGeom prst="rect">
            <a:avLst/>
          </a:prstGeom>
          <a:solidFill>
            <a:srgbClr val="283157"/>
          </a:solidFill>
          <a:ln/>
        </p:spPr>
      </p:sp>
      <p:pic>
        <p:nvPicPr>
          <p:cNvPr id="3" name="Image 0" descr="preencoded.png">    </p:cNvPr>
          <p:cNvPicPr>
            <a:picLocks noChangeAspect="1"/>
          </p:cNvPicPr>
          <p:nvPr/>
        </p:nvPicPr>
        <p:blipFill>
          <a:blip r:embed="rId1"/>
          <a:stretch>
            <a:fillRect/>
          </a:stretch>
        </p:blipFill>
        <p:spPr>
          <a:xfrm>
            <a:off x="7695412" y="113407"/>
            <a:ext cx="4420680" cy="6631186"/>
          </a:xfrm>
          <a:prstGeom prst="rect">
            <a:avLst/>
          </a:prstGeom>
        </p:spPr>
      </p:pic>
      <p:sp>
        <p:nvSpPr>
          <p:cNvPr id="4" name="Text 1"/>
          <p:cNvSpPr/>
          <p:nvPr/>
        </p:nvSpPr>
        <p:spPr>
          <a:xfrm>
            <a:off x="661475" y="638870"/>
            <a:ext cx="6296860" cy="472480"/>
          </a:xfrm>
          <a:prstGeom prst="rect">
            <a:avLst/>
          </a:prstGeom>
          <a:noFill/>
          <a:ln/>
        </p:spPr>
        <p:txBody>
          <a:bodyPr wrap="none" lIns="0" tIns="0" rIns="0" bIns="0" rtlCol="0" anchor="t"/>
          <a:lstStyle/>
          <a:p>
            <a:pPr algn="l" indent="0" marL="0">
              <a:lnSpc>
                <a:spcPct val="104000"/>
              </a:lnSpc>
              <a:buNone/>
            </a:pPr>
            <a:r>
              <a:rPr lang="en-US" sz="2950" dirty="0">
                <a:solidFill>
                  <a:srgbClr val="FFFFFF"/>
                </a:solidFill>
                <a:latin typeface="Fraunces Medium" pitchFamily="34" charset="0"/>
                <a:ea typeface="Fraunces Medium" pitchFamily="34" charset="-122"/>
                <a:cs typeface="Fraunces Medium" pitchFamily="34" charset="-120"/>
              </a:rPr>
              <a:t>What Comes Next</a:t>
            </a:r>
            <a:endParaRPr lang="en-US" sz="2950" dirty="0"/>
          </a:p>
        </p:txBody>
      </p:sp>
      <p:sp>
        <p:nvSpPr>
          <p:cNvPr id="5" name="Text 2"/>
          <p:cNvSpPr/>
          <p:nvPr/>
        </p:nvSpPr>
        <p:spPr>
          <a:xfrm>
            <a:off x="661475" y="1292721"/>
            <a:ext cx="6906444" cy="217686"/>
          </a:xfrm>
          <a:prstGeom prst="rect">
            <a:avLst/>
          </a:prstGeom>
          <a:noFill/>
          <a:ln/>
        </p:spPr>
        <p:txBody>
          <a:bodyPr wrap="none" lIns="0" tIns="0" rIns="0" bIns="0" rtlCol="0" anchor="t"/>
          <a:lstStyle/>
          <a:p>
            <a:pPr algn="l" indent="0" marL="0">
              <a:lnSpc>
                <a:spcPct val="120000"/>
              </a:lnSpc>
              <a:buNone/>
            </a:pPr>
            <a:r>
              <a:rPr lang="en-US" sz="1150" dirty="0">
                <a:solidFill>
                  <a:srgbClr val="EBECEF"/>
                </a:solidFill>
                <a:latin typeface="Epilogue" pitchFamily="34" charset="0"/>
                <a:ea typeface="Epilogue" pitchFamily="34" charset="-122"/>
                <a:cs typeface="Epilogue" pitchFamily="34" charset="-120"/>
              </a:rPr>
              <a:t>You've covered the foundations. Now it's time to build on them.</a:t>
            </a:r>
            <a:endParaRPr lang="en-US" sz="1150" dirty="0"/>
          </a:p>
        </p:txBody>
      </p:sp>
      <p:sp>
        <p:nvSpPr>
          <p:cNvPr id="6" name="Shape 3"/>
          <p:cNvSpPr/>
          <p:nvPr/>
        </p:nvSpPr>
        <p:spPr>
          <a:xfrm>
            <a:off x="661475" y="1646436"/>
            <a:ext cx="6296860" cy="841573"/>
          </a:xfrm>
          <a:prstGeom prst="roundRect">
            <a:avLst>
              <a:gd name="adj" fmla="val 7547"/>
            </a:avLst>
          </a:prstGeom>
          <a:solidFill>
            <a:srgbClr val="283157"/>
          </a:solidFill>
          <a:ln w="6350">
            <a:solidFill>
              <a:srgbClr val="414A70"/>
            </a:solidFill>
            <a:prstDash val="solid"/>
          </a:ln>
        </p:spPr>
      </p:sp>
      <p:sp>
        <p:nvSpPr>
          <p:cNvPr id="7" name="Text 4"/>
          <p:cNvSpPr/>
          <p:nvPr/>
        </p:nvSpPr>
        <p:spPr>
          <a:xfrm>
            <a:off x="819030" y="1803995"/>
            <a:ext cx="5981749" cy="236240"/>
          </a:xfrm>
          <a:prstGeom prst="rect">
            <a:avLst/>
          </a:prstGeom>
          <a:noFill/>
          <a:ln/>
        </p:spPr>
        <p:txBody>
          <a:bodyPr wrap="none" lIns="0" tIns="0" rIns="0" bIns="0" rtlCol="0" anchor="t"/>
          <a:lstStyle/>
          <a:p>
            <a:pPr algn="l" indent="0" marL="0">
              <a:lnSpc>
                <a:spcPct val="104000"/>
              </a:lnSpc>
              <a:buNone/>
            </a:pPr>
            <a:r>
              <a:rPr lang="en-US" sz="1450" dirty="0">
                <a:solidFill>
                  <a:srgbClr val="EBECEF"/>
                </a:solidFill>
                <a:latin typeface="Fraunces Medium" pitchFamily="34" charset="0"/>
                <a:ea typeface="Fraunces Medium" pitchFamily="34" charset="-122"/>
                <a:cs typeface="Fraunces Medium" pitchFamily="34" charset="-120"/>
              </a:rPr>
              <a:t>Sorting</a:t>
            </a:r>
            <a:endParaRPr lang="en-US" sz="1450" dirty="0"/>
          </a:p>
        </p:txBody>
      </p:sp>
      <p:sp>
        <p:nvSpPr>
          <p:cNvPr id="8" name="Text 5"/>
          <p:cNvSpPr/>
          <p:nvPr/>
        </p:nvSpPr>
        <p:spPr>
          <a:xfrm>
            <a:off x="819030" y="2112764"/>
            <a:ext cx="5981749" cy="217686"/>
          </a:xfrm>
          <a:prstGeom prst="rect">
            <a:avLst/>
          </a:prstGeom>
          <a:noFill/>
          <a:ln/>
        </p:spPr>
        <p:txBody>
          <a:bodyPr wrap="none" lIns="0" tIns="0" rIns="0" bIns="0" rtlCol="0" anchor="t"/>
          <a:lstStyle/>
          <a:p>
            <a:pPr algn="l" indent="0" marL="0">
              <a:lnSpc>
                <a:spcPct val="120000"/>
              </a:lnSpc>
              <a:buNone/>
            </a:pPr>
            <a:r>
              <a:rPr lang="en-US" sz="1150" dirty="0">
                <a:solidFill>
                  <a:srgbClr val="EBECEF"/>
                </a:solidFill>
                <a:latin typeface="Epilogue" pitchFamily="34" charset="0"/>
                <a:ea typeface="Epilogue" pitchFamily="34" charset="-122"/>
                <a:cs typeface="Epilogue" pitchFamily="34" charset="-120"/>
              </a:rPr>
              <a:t>Bubble Sort, Selection Sort, Insertion Sort</a:t>
            </a:r>
            <a:endParaRPr lang="en-US" sz="1150" dirty="0"/>
          </a:p>
        </p:txBody>
      </p:sp>
      <p:sp>
        <p:nvSpPr>
          <p:cNvPr id="9" name="Shape 6"/>
          <p:cNvSpPr/>
          <p:nvPr/>
        </p:nvSpPr>
        <p:spPr>
          <a:xfrm>
            <a:off x="661475" y="2608957"/>
            <a:ext cx="6296860" cy="841573"/>
          </a:xfrm>
          <a:prstGeom prst="roundRect">
            <a:avLst>
              <a:gd name="adj" fmla="val 7547"/>
            </a:avLst>
          </a:prstGeom>
          <a:solidFill>
            <a:srgbClr val="283157"/>
          </a:solidFill>
          <a:ln w="6350">
            <a:solidFill>
              <a:srgbClr val="414A70"/>
            </a:solidFill>
            <a:prstDash val="solid"/>
          </a:ln>
        </p:spPr>
      </p:sp>
      <p:sp>
        <p:nvSpPr>
          <p:cNvPr id="10" name="Text 7"/>
          <p:cNvSpPr/>
          <p:nvPr/>
        </p:nvSpPr>
        <p:spPr>
          <a:xfrm>
            <a:off x="819030" y="2766516"/>
            <a:ext cx="5981749" cy="236240"/>
          </a:xfrm>
          <a:prstGeom prst="rect">
            <a:avLst/>
          </a:prstGeom>
          <a:noFill/>
          <a:ln/>
        </p:spPr>
        <p:txBody>
          <a:bodyPr wrap="none" lIns="0" tIns="0" rIns="0" bIns="0" rtlCol="0" anchor="t"/>
          <a:lstStyle/>
          <a:p>
            <a:pPr algn="l" indent="0" marL="0">
              <a:lnSpc>
                <a:spcPct val="104000"/>
              </a:lnSpc>
              <a:buNone/>
            </a:pPr>
            <a:r>
              <a:rPr lang="en-US" sz="1450" dirty="0">
                <a:solidFill>
                  <a:srgbClr val="EBECEF"/>
                </a:solidFill>
                <a:latin typeface="Fraunces Medium" pitchFamily="34" charset="0"/>
                <a:ea typeface="Fraunces Medium" pitchFamily="34" charset="-122"/>
                <a:cs typeface="Fraunces Medium" pitchFamily="34" charset="-120"/>
              </a:rPr>
              <a:t>Recursion</a:t>
            </a:r>
            <a:endParaRPr lang="en-US" sz="1450" dirty="0"/>
          </a:p>
        </p:txBody>
      </p:sp>
      <p:sp>
        <p:nvSpPr>
          <p:cNvPr id="11" name="Text 8"/>
          <p:cNvSpPr/>
          <p:nvPr/>
        </p:nvSpPr>
        <p:spPr>
          <a:xfrm>
            <a:off x="819030" y="3075285"/>
            <a:ext cx="5981749" cy="217686"/>
          </a:xfrm>
          <a:prstGeom prst="rect">
            <a:avLst/>
          </a:prstGeom>
          <a:noFill/>
          <a:ln/>
        </p:spPr>
        <p:txBody>
          <a:bodyPr wrap="none" lIns="0" tIns="0" rIns="0" bIns="0" rtlCol="0" anchor="t"/>
          <a:lstStyle/>
          <a:p>
            <a:pPr algn="l" indent="0" marL="0">
              <a:lnSpc>
                <a:spcPct val="120000"/>
              </a:lnSpc>
              <a:buNone/>
            </a:pPr>
            <a:r>
              <a:rPr lang="en-US" sz="1150" dirty="0">
                <a:solidFill>
                  <a:srgbClr val="EBECEF"/>
                </a:solidFill>
                <a:latin typeface="Epilogue" pitchFamily="34" charset="0"/>
                <a:ea typeface="Epilogue" pitchFamily="34" charset="-122"/>
                <a:cs typeface="Epilogue" pitchFamily="34" charset="-120"/>
              </a:rPr>
              <a:t>Functions that call themselves to solve smaller sub-problems</a:t>
            </a:r>
            <a:endParaRPr lang="en-US" sz="1150" dirty="0"/>
          </a:p>
        </p:txBody>
      </p:sp>
      <p:sp>
        <p:nvSpPr>
          <p:cNvPr id="12" name="Shape 9"/>
          <p:cNvSpPr/>
          <p:nvPr/>
        </p:nvSpPr>
        <p:spPr>
          <a:xfrm>
            <a:off x="661475" y="3571478"/>
            <a:ext cx="6296860" cy="841573"/>
          </a:xfrm>
          <a:prstGeom prst="roundRect">
            <a:avLst>
              <a:gd name="adj" fmla="val 7547"/>
            </a:avLst>
          </a:prstGeom>
          <a:solidFill>
            <a:srgbClr val="283157"/>
          </a:solidFill>
          <a:ln w="6350">
            <a:solidFill>
              <a:srgbClr val="414A70"/>
            </a:solidFill>
            <a:prstDash val="solid"/>
          </a:ln>
        </p:spPr>
      </p:sp>
      <p:sp>
        <p:nvSpPr>
          <p:cNvPr id="13" name="Text 10"/>
          <p:cNvSpPr/>
          <p:nvPr/>
        </p:nvSpPr>
        <p:spPr>
          <a:xfrm>
            <a:off x="819030" y="3729037"/>
            <a:ext cx="5981749" cy="236240"/>
          </a:xfrm>
          <a:prstGeom prst="rect">
            <a:avLst/>
          </a:prstGeom>
          <a:noFill/>
          <a:ln/>
        </p:spPr>
        <p:txBody>
          <a:bodyPr wrap="none" lIns="0" tIns="0" rIns="0" bIns="0" rtlCol="0" anchor="t"/>
          <a:lstStyle/>
          <a:p>
            <a:pPr algn="l" indent="0" marL="0">
              <a:lnSpc>
                <a:spcPct val="104000"/>
              </a:lnSpc>
              <a:buNone/>
            </a:pPr>
            <a:r>
              <a:rPr lang="en-US" sz="1450" dirty="0">
                <a:solidFill>
                  <a:srgbClr val="EBECEF"/>
                </a:solidFill>
                <a:latin typeface="Fraunces Medium" pitchFamily="34" charset="0"/>
                <a:ea typeface="Fraunces Medium" pitchFamily="34" charset="-122"/>
                <a:cs typeface="Fraunces Medium" pitchFamily="34" charset="-120"/>
              </a:rPr>
              <a:t>Trees &amp; Graphs</a:t>
            </a:r>
            <a:endParaRPr lang="en-US" sz="1450" dirty="0"/>
          </a:p>
        </p:txBody>
      </p:sp>
      <p:sp>
        <p:nvSpPr>
          <p:cNvPr id="14" name="Text 11"/>
          <p:cNvSpPr/>
          <p:nvPr/>
        </p:nvSpPr>
        <p:spPr>
          <a:xfrm>
            <a:off x="819030" y="4037806"/>
            <a:ext cx="5981749" cy="217686"/>
          </a:xfrm>
          <a:prstGeom prst="rect">
            <a:avLst/>
          </a:prstGeom>
          <a:noFill/>
          <a:ln/>
        </p:spPr>
        <p:txBody>
          <a:bodyPr wrap="none" lIns="0" tIns="0" rIns="0" bIns="0" rtlCol="0" anchor="t"/>
          <a:lstStyle/>
          <a:p>
            <a:pPr algn="l" indent="0" marL="0">
              <a:lnSpc>
                <a:spcPct val="120000"/>
              </a:lnSpc>
              <a:buNone/>
            </a:pPr>
            <a:r>
              <a:rPr lang="en-US" sz="1150" dirty="0">
                <a:solidFill>
                  <a:srgbClr val="EBECEF"/>
                </a:solidFill>
                <a:latin typeface="Epilogue" pitchFamily="34" charset="0"/>
                <a:ea typeface="Epilogue" pitchFamily="34" charset="-122"/>
                <a:cs typeface="Epilogue" pitchFamily="34" charset="-120"/>
              </a:rPr>
              <a:t>Non-linear structures for hierarchical and networked data</a:t>
            </a:r>
            <a:endParaRPr lang="en-US" sz="1150" dirty="0"/>
          </a:p>
        </p:txBody>
      </p:sp>
      <p:sp>
        <p:nvSpPr>
          <p:cNvPr id="15" name="Shape 12"/>
          <p:cNvSpPr/>
          <p:nvPr/>
        </p:nvSpPr>
        <p:spPr>
          <a:xfrm>
            <a:off x="661475" y="4533999"/>
            <a:ext cx="6296860" cy="841573"/>
          </a:xfrm>
          <a:prstGeom prst="roundRect">
            <a:avLst>
              <a:gd name="adj" fmla="val 7547"/>
            </a:avLst>
          </a:prstGeom>
          <a:solidFill>
            <a:srgbClr val="283157"/>
          </a:solidFill>
          <a:ln w="6350">
            <a:solidFill>
              <a:srgbClr val="414A70"/>
            </a:solidFill>
            <a:prstDash val="solid"/>
          </a:ln>
        </p:spPr>
      </p:sp>
      <p:sp>
        <p:nvSpPr>
          <p:cNvPr id="16" name="Text 13"/>
          <p:cNvSpPr/>
          <p:nvPr/>
        </p:nvSpPr>
        <p:spPr>
          <a:xfrm>
            <a:off x="819030" y="4691559"/>
            <a:ext cx="5981749" cy="236240"/>
          </a:xfrm>
          <a:prstGeom prst="rect">
            <a:avLst/>
          </a:prstGeom>
          <a:noFill/>
          <a:ln/>
        </p:spPr>
        <p:txBody>
          <a:bodyPr wrap="none" lIns="0" tIns="0" rIns="0" bIns="0" rtlCol="0" anchor="t"/>
          <a:lstStyle/>
          <a:p>
            <a:pPr algn="l" indent="0" marL="0">
              <a:lnSpc>
                <a:spcPct val="104000"/>
              </a:lnSpc>
              <a:buNone/>
            </a:pPr>
            <a:r>
              <a:rPr lang="en-US" sz="1450" dirty="0">
                <a:solidFill>
                  <a:srgbClr val="EBECEF"/>
                </a:solidFill>
                <a:latin typeface="Fraunces Medium" pitchFamily="34" charset="0"/>
                <a:ea typeface="Fraunces Medium" pitchFamily="34" charset="-122"/>
                <a:cs typeface="Fraunces Medium" pitchFamily="34" charset="-120"/>
              </a:rPr>
              <a:t>Practice</a:t>
            </a:r>
            <a:endParaRPr lang="en-US" sz="1450" dirty="0"/>
          </a:p>
        </p:txBody>
      </p:sp>
      <p:sp>
        <p:nvSpPr>
          <p:cNvPr id="17" name="Text 14"/>
          <p:cNvSpPr/>
          <p:nvPr/>
        </p:nvSpPr>
        <p:spPr>
          <a:xfrm>
            <a:off x="819030" y="5000327"/>
            <a:ext cx="5981749" cy="217686"/>
          </a:xfrm>
          <a:prstGeom prst="rect">
            <a:avLst/>
          </a:prstGeom>
          <a:noFill/>
          <a:ln/>
        </p:spPr>
        <p:txBody>
          <a:bodyPr wrap="none" lIns="0" tIns="0" rIns="0" bIns="0" rtlCol="0" anchor="t"/>
          <a:lstStyle/>
          <a:p>
            <a:pPr algn="l" indent="0" marL="0">
              <a:lnSpc>
                <a:spcPct val="120000"/>
              </a:lnSpc>
              <a:buNone/>
            </a:pPr>
            <a:r>
              <a:rPr lang="en-US" sz="1150" dirty="0">
                <a:solidFill>
                  <a:srgbClr val="EBECEF"/>
                </a:solidFill>
                <a:latin typeface="Epilogue" pitchFamily="34" charset="0"/>
                <a:ea typeface="Epilogue" pitchFamily="34" charset="-122"/>
                <a:cs typeface="Epilogue" pitchFamily="34" charset="-120"/>
              </a:rPr>
              <a:t>Apply concepts on platforms like LeetCode or HackerRank</a:t>
            </a:r>
            <a:endParaRPr lang="en-US" sz="1150" dirty="0"/>
          </a:p>
        </p:txBody>
      </p:sp>
      <p:sp>
        <p:nvSpPr>
          <p:cNvPr id="18" name="Shape 15"/>
          <p:cNvSpPr/>
          <p:nvPr/>
        </p:nvSpPr>
        <p:spPr>
          <a:xfrm>
            <a:off x="661475" y="5511602"/>
            <a:ext cx="19050" cy="707330"/>
          </a:xfrm>
          <a:prstGeom prst="roundRect">
            <a:avLst>
              <a:gd name="adj" fmla="val 59999"/>
            </a:avLst>
          </a:prstGeom>
          <a:solidFill>
            <a:srgbClr val="8C98CA"/>
          </a:solidFill>
          <a:ln/>
        </p:spPr>
      </p:sp>
      <p:sp>
        <p:nvSpPr>
          <p:cNvPr id="19" name="Text 16"/>
          <p:cNvSpPr/>
          <p:nvPr/>
        </p:nvSpPr>
        <p:spPr>
          <a:xfrm>
            <a:off x="888283" y="5647630"/>
            <a:ext cx="6070051" cy="435372"/>
          </a:xfrm>
          <a:prstGeom prst="rect">
            <a:avLst/>
          </a:prstGeom>
          <a:noFill/>
          <a:ln/>
        </p:spPr>
        <p:txBody>
          <a:bodyPr wrap="square" lIns="0" tIns="0" rIns="0" bIns="0" rtlCol="0" anchor="t">
            <a:normAutofit/>
          </a:bodyPr>
          <a:lstStyle/>
          <a:p>
            <a:pPr algn="l" indent="0" marL="0">
              <a:lnSpc>
                <a:spcPct val="120000"/>
              </a:lnSpc>
              <a:buNone/>
            </a:pPr>
            <a:r>
              <a:rPr lang="en-US" sz="1150" dirty="0">
                <a:solidFill>
                  <a:srgbClr val="EBECEF"/>
                </a:solidFill>
                <a:latin typeface="Epilogue" pitchFamily="34" charset="0"/>
                <a:ea typeface="Epilogue" pitchFamily="34" charset="-122"/>
                <a:cs typeface="Epilogue" pitchFamily="34" charset="-120"/>
              </a:rPr>
              <a:t>"Learning DSA is like learning grammar before writing essays. You need the rules before you can break them wisely."</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2026-07-08T13:59:13Z</dcterms:created>
  <dcterms:modified xsi:type="dcterms:W3CDTF">2026-07-08T13:59:13Z</dcterms:modified>
</cp:coreProperties>
</file>