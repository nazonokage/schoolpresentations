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Epilogue Thin"/>
      <p:regular r:id="rId201314"/>
    </p:embeddedFont>
    <p:embeddedFont>
      <p:font typeface="Epilogue ExtraLight"/>
      <p:regular r:id="rId201315"/>
    </p:embeddedFont>
    <p:embeddedFont>
      <p:font typeface="Epilogue Light"/>
      <p:regular r:id="rId201316"/>
    </p:embeddedFont>
    <p:embeddedFont>
      <p:font typeface="Epilogue"/>
      <p:regular r:id="rId201317"/>
    </p:embeddedFont>
    <p:embeddedFont>
      <p:font typeface="Epilogue Medium"/>
      <p:regular r:id="rId201318"/>
    </p:embeddedFont>
    <p:embeddedFont>
      <p:font typeface="Epilogue SemiBold"/>
      <p:regular r:id="rId201319"/>
    </p:embeddedFont>
    <p:embeddedFont>
      <p:font typeface="Epilogue ExtraBold"/>
      <p:regular r:id="rId201320"/>
    </p:embeddedFont>
    <p:embeddedFont>
      <p:font typeface="Epilogue Black"/>
      <p:regular r:id="rId201321"/>
    </p:embeddedFont>
    <p:embeddedFont>
      <p:font typeface="Epilogue Bold"/>
      <p:regular r:id="rId201322"/>
    </p:embeddedFont>
    <p:embeddedFont>
      <p:font typeface="Fraunces Light"/>
      <p:regular r:id="rId201323"/>
    </p:embeddedFont>
    <p:embeddedFont>
      <p:font typeface="Fraunces Thin"/>
      <p:regular r:id="rId201324"/>
    </p:embeddedFont>
    <p:embeddedFont>
      <p:font typeface="Fraunces ExtraLight"/>
      <p:regular r:id="rId201325"/>
    </p:embeddedFont>
    <p:embeddedFont>
      <p:font typeface="Fraunces"/>
      <p:regular r:id="rId201326"/>
    </p:embeddedFont>
    <p:embeddedFont>
      <p:font typeface="Fraunces Medium"/>
      <p:regular r:id="rId201327"/>
    </p:embeddedFont>
    <p:embeddedFont>
      <p:font typeface="Fraunces SemiBold"/>
      <p:regular r:id="rId201328"/>
    </p:embeddedFont>
    <p:embeddedFont>
      <p:font typeface="Fraunces Bold"/>
      <p:regular r:id="rId201329"/>
    </p:embeddedFont>
    <p:embeddedFont>
      <p:font typeface="Fraunces ExtraBold"/>
      <p:regular r:id="rId201330"/>
    </p:embeddedFont>
    <p:embeddedFont>
      <p:font typeface="Fraunces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7.png"/><Relationship Id="rId10" Type="http://schemas.openxmlformats.org/officeDocument/2006/relationships/image" Target="../media/image-9-8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mailto:nimal@sjp.ac.lk" TargetMode="External"/><Relationship Id="rId2" Type="http://schemas.openxmlformats.org/officeDocument/2006/relationships/hyperlink" Target="https://lms.fhss.sjp.ac.lk/course/view.php?id=1406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28315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94399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Platform Technologies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818110"/>
            <a:ext cx="6296860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Hardware + Software + Networks = Platform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 platform is any base of technologies on which other technologies or processes are built. Most services end users interact with are built on top of platforms.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4453037"/>
            <a:ext cx="6296860" cy="460970"/>
          </a:xfrm>
          <a:prstGeom prst="roundRect">
            <a:avLst>
              <a:gd name="adj" fmla="val 13778"/>
            </a:avLst>
          </a:prstGeom>
          <a:noFill/>
          <a:ln w="6350">
            <a:solidFill>
              <a:srgbClr val="8C98C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46765" y="4509691"/>
            <a:ext cx="6070051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8C98C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BASED ON TANENBAUM, MODERN OPERATING SYSTEMS &amp; MANAGEMENT INFORMATION SYSTEMS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6738"/>
            <a:ext cx="10868745" cy="523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Generations of Computing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086323" y="1386780"/>
            <a:ext cx="19050" cy="4904482"/>
          </a:xfrm>
          <a:prstGeom prst="roundRect">
            <a:avLst>
              <a:gd name="adj" fmla="val 369200"/>
            </a:avLst>
          </a:prstGeom>
          <a:solidFill>
            <a:srgbClr val="414A70"/>
          </a:solidFill>
          <a:ln/>
        </p:spPr>
      </p:sp>
      <p:sp>
        <p:nvSpPr>
          <p:cNvPr id="4" name="Shape 2"/>
          <p:cNvSpPr/>
          <p:nvPr/>
        </p:nvSpPr>
        <p:spPr>
          <a:xfrm>
            <a:off x="5424203" y="1565573"/>
            <a:ext cx="502332" cy="19050"/>
          </a:xfrm>
          <a:prstGeom prst="roundRect">
            <a:avLst>
              <a:gd name="adj" fmla="val 369200"/>
            </a:avLst>
          </a:prstGeom>
          <a:solidFill>
            <a:srgbClr val="414A70"/>
          </a:solidFill>
          <a:ln/>
        </p:spPr>
      </p:sp>
      <p:sp>
        <p:nvSpPr>
          <p:cNvPr id="5" name="Shape 3"/>
          <p:cNvSpPr/>
          <p:nvPr/>
        </p:nvSpPr>
        <p:spPr>
          <a:xfrm>
            <a:off x="5907485" y="1386780"/>
            <a:ext cx="376724" cy="376734"/>
          </a:xfrm>
          <a:prstGeom prst="roundRect">
            <a:avLst>
              <a:gd name="adj" fmla="val 18670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70240" y="1418134"/>
            <a:ext cx="251116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61475" y="1444327"/>
            <a:ext cx="459708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1945–55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1475" y="1794966"/>
            <a:ext cx="4597087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Vacuum Tubes — Punch cards &amp; machine language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5160" y="2532063"/>
            <a:ext cx="502332" cy="19050"/>
          </a:xfrm>
          <a:prstGeom prst="roundRect">
            <a:avLst>
              <a:gd name="adj" fmla="val 369200"/>
            </a:avLst>
          </a:prstGeom>
          <a:solidFill>
            <a:srgbClr val="414A70"/>
          </a:solidFill>
          <a:ln/>
        </p:spPr>
      </p:sp>
      <p:sp>
        <p:nvSpPr>
          <p:cNvPr id="10" name="Shape 8"/>
          <p:cNvSpPr/>
          <p:nvPr/>
        </p:nvSpPr>
        <p:spPr>
          <a:xfrm>
            <a:off x="5907485" y="2353270"/>
            <a:ext cx="376724" cy="376734"/>
          </a:xfrm>
          <a:prstGeom prst="roundRect">
            <a:avLst>
              <a:gd name="adj" fmla="val 18670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70240" y="2384623"/>
            <a:ext cx="251116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933134" y="2410817"/>
            <a:ext cx="459708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1955–65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33134" y="2761456"/>
            <a:ext cx="4597087" cy="505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Transistors &amp; Batch Systems — IBM 1401, IBM 7094, FORTRAN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24203" y="3378994"/>
            <a:ext cx="502332" cy="19050"/>
          </a:xfrm>
          <a:prstGeom prst="roundRect">
            <a:avLst>
              <a:gd name="adj" fmla="val 369200"/>
            </a:avLst>
          </a:prstGeom>
          <a:solidFill>
            <a:srgbClr val="414A70"/>
          </a:solidFill>
          <a:ln/>
        </p:spPr>
      </p:sp>
      <p:sp>
        <p:nvSpPr>
          <p:cNvPr id="15" name="Shape 13"/>
          <p:cNvSpPr/>
          <p:nvPr/>
        </p:nvSpPr>
        <p:spPr>
          <a:xfrm>
            <a:off x="5907485" y="3200202"/>
            <a:ext cx="376724" cy="376734"/>
          </a:xfrm>
          <a:prstGeom prst="roundRect">
            <a:avLst>
              <a:gd name="adj" fmla="val 18670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70240" y="3231555"/>
            <a:ext cx="251116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61475" y="3257748"/>
            <a:ext cx="459708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1965–80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1475" y="3608387"/>
            <a:ext cx="4597087" cy="505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ICs &amp; Multiprogramming — IBM System/360, MULTICS, timesharing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5160" y="4225925"/>
            <a:ext cx="502332" cy="19050"/>
          </a:xfrm>
          <a:prstGeom prst="roundRect">
            <a:avLst>
              <a:gd name="adj" fmla="val 369200"/>
            </a:avLst>
          </a:prstGeom>
          <a:solidFill>
            <a:srgbClr val="414A70"/>
          </a:solidFill>
          <a:ln/>
        </p:spPr>
      </p:sp>
      <p:sp>
        <p:nvSpPr>
          <p:cNvPr id="20" name="Shape 18"/>
          <p:cNvSpPr/>
          <p:nvPr/>
        </p:nvSpPr>
        <p:spPr>
          <a:xfrm>
            <a:off x="5907485" y="4047133"/>
            <a:ext cx="376724" cy="376734"/>
          </a:xfrm>
          <a:prstGeom prst="roundRect">
            <a:avLst>
              <a:gd name="adj" fmla="val 18670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70240" y="4078486"/>
            <a:ext cx="251116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4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6933134" y="4104680"/>
            <a:ext cx="459708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1980–Present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33134" y="4455319"/>
            <a:ext cx="4597087" cy="505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Personal Computers — IBM PC, DOS, Macintosh, Windows, Linux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24203" y="5072856"/>
            <a:ext cx="502332" cy="19050"/>
          </a:xfrm>
          <a:prstGeom prst="roundRect">
            <a:avLst>
              <a:gd name="adj" fmla="val 369200"/>
            </a:avLst>
          </a:prstGeom>
          <a:solidFill>
            <a:srgbClr val="414A70"/>
          </a:solidFill>
          <a:ln/>
        </p:spPr>
      </p:sp>
      <p:sp>
        <p:nvSpPr>
          <p:cNvPr id="25" name="Shape 23"/>
          <p:cNvSpPr/>
          <p:nvPr/>
        </p:nvSpPr>
        <p:spPr>
          <a:xfrm>
            <a:off x="5907485" y="4894064"/>
            <a:ext cx="376724" cy="376734"/>
          </a:xfrm>
          <a:prstGeom prst="roundRect">
            <a:avLst>
              <a:gd name="adj" fmla="val 18670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70240" y="4925417"/>
            <a:ext cx="251116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5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661475" y="4951611"/>
            <a:ext cx="459708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1990–Present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1475" y="5302250"/>
            <a:ext cx="4597087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Mobile Computers — PDAs, Blackberry, iOS, Android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7756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Early Computing Systems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482975"/>
            <a:ext cx="3504219" cy="7661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540695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Batch Processing (1955–65)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3024981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Programmers submitted punch cards to the IBM 1401, which read jobs onto tape. The IBM 7094 performed computation, then output tape returned to the 1401 for printing.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4121249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Multiprogramming (1965–80)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633201" y="4605536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Multiple jobs (Job 1, 2, 3) occupied separate memory partitions alongside the OS, enabling timesharing and improved CPU utilization.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7524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Modern Computer Architecture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129062"/>
            <a:ext cx="3504219" cy="14739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238375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Core Components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2722662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 modern computer consists of processors, main memory, disks, and I/O devices — all connected via 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system bus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(control, address, data).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3516511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Hardware Architecture Types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633201" y="4000798"/>
            <a:ext cx="6903269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Commodity computing platforms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RISC, Mainframes, Supercomputers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Video game consoles, Midrange computers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633201" y="5210274"/>
            <a:ext cx="75128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Managing all components requires the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operating system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539353"/>
            <a:ext cx="6908627" cy="36670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4387751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What Is an Operating System?</a:t>
            </a:r>
            <a:endParaRPr lang="en-US" sz="2950" dirty="0"/>
          </a:p>
        </p:txBody>
      </p:sp>
      <p:sp>
        <p:nvSpPr>
          <p:cNvPr id="4" name="Shape 1"/>
          <p:cNvSpPr/>
          <p:nvPr/>
        </p:nvSpPr>
        <p:spPr>
          <a:xfrm>
            <a:off x="661475" y="5041602"/>
            <a:ext cx="3542219" cy="1276945"/>
          </a:xfrm>
          <a:prstGeom prst="roundRect">
            <a:avLst>
              <a:gd name="adj" fmla="val 4974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19030" y="5199162"/>
            <a:ext cx="322710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Resource Manager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19030" y="5507930"/>
            <a:ext cx="3227108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Manages CPU, memory, and disk — the most important program on any computer, loaded first.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324639" y="5041602"/>
            <a:ext cx="3542318" cy="1276945"/>
          </a:xfrm>
          <a:prstGeom prst="roundRect">
            <a:avLst>
              <a:gd name="adj" fmla="val 4974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482194" y="5199162"/>
            <a:ext cx="322720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Extended Machine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482194" y="5507930"/>
            <a:ext cx="3227208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Turns ugly hardware details into beautiful abstractions for application programs.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987902" y="5041602"/>
            <a:ext cx="3542318" cy="1276945"/>
          </a:xfrm>
          <a:prstGeom prst="roundRect">
            <a:avLst>
              <a:gd name="adj" fmla="val 4974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45457" y="5199162"/>
            <a:ext cx="322720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Intermediary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145457" y="5507930"/>
            <a:ext cx="3227208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Acts between users and hardware, simplifying complexity of running applications efficiently.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7602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OS Concepts &amp; Architecture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849761"/>
            <a:ext cx="3504219" cy="2032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139156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Key Concepts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2623443"/>
            <a:ext cx="6903269" cy="1710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Processes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address spaces, files, I/O, protection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Multithreading &amp; Multicore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shared vs. private L2 cache architectures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Memory hierarchy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registers → cache → RAM → disk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I/O Devices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input, output, or both (e.g., touchscreen, modem)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4522788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OS Types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633201" y="5007074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Mainframe, Server, PC, Handheld, Embedded, Real-time, Smart card, Sensor node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5327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Evolution of IT Infrastructure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503065"/>
            <a:ext cx="3622882" cy="744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7505" y="2430463"/>
            <a:ext cx="3250821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Mainframe Era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7505" y="2831009"/>
            <a:ext cx="3250821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1959–present</a:t>
            </a:r>
            <a:endParaRPr lang="en-US" sz="14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IBM mainframes (1958), DEC minicomputers (1965)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357" y="1503065"/>
            <a:ext cx="3622882" cy="7442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70387" y="2430463"/>
            <a:ext cx="3250821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PC Era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470387" y="2831009"/>
            <a:ext cx="3250821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1981–present</a:t>
            </a:r>
            <a:endParaRPr lang="en-US" sz="14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IBM PC introduced; proliferation of personal software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239" y="1503065"/>
            <a:ext cx="3622882" cy="7442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93269" y="2430463"/>
            <a:ext cx="3250821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Client/Server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093269" y="2831009"/>
            <a:ext cx="3250821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1983–present</a:t>
            </a:r>
            <a:endParaRPr lang="en-US" sz="14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Desktop clients networked to servers; 2-tier to N-tier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3902869"/>
            <a:ext cx="3622882" cy="7442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47505" y="4830266"/>
            <a:ext cx="3250821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847505" y="5230813"/>
            <a:ext cx="3250821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1992–present</a:t>
            </a:r>
            <a:endParaRPr lang="en-US" sz="14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Integrated networks using Internet standards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4357" y="3902869"/>
            <a:ext cx="3622882" cy="74424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470387" y="4830266"/>
            <a:ext cx="3250821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Cloud &amp; Mobile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4470387" y="5230813"/>
            <a:ext cx="3250821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2000–present</a:t>
            </a:r>
            <a:endParaRPr lang="en-US" sz="14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Computing power &amp; software delivered over the Internet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97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IT Infrastructure: 7 Components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57424"/>
            <a:ext cx="4704141" cy="47042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09659" y="3090664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The IT Infrastructure Ecosystem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309659" y="3509466"/>
            <a:ext cx="5226911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Seven interconnected components form a complete ecosystem — from hardware and OS platforms to networking, data storage, enterprise software, Internet services, and consulting/integration providers.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176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Infrastructure Components: Detail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620441"/>
            <a:ext cx="3496877" cy="20471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1834852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Hardware Platforms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2243534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Desktops, laptops, blade servers, mainframes. Top producers: Intel, AMD, ARM. Top firms: IBM, HP, Dell, Lenovo.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1620441"/>
            <a:ext cx="3496877" cy="20471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1834852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OS Platforms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663363" y="2243534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Server: 65% Unix/Linux, 35% Windows. Client: 90% Windows; mobile (Android, iOS); cloud (Chrome OS).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1620441"/>
            <a:ext cx="3496877" cy="20471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1834852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 Management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49247" y="2243534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Databases: IBM DB2, Oracle, SQL Server, MySQL. Storage: EMC, Seagate. SANs connect storage on dedicated networks.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856633"/>
            <a:ext cx="3496877" cy="234959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7479" y="4071045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Networking &amp; Internet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77479" y="4479727"/>
            <a:ext cx="2966467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Telecom: AT&amp;T, Verizon. Network hardware: Cisco, Juniper. Internet services: Amazon, Google. Web tools: .NET, Java, Adobe.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47359" y="3856633"/>
            <a:ext cx="3496877" cy="234959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63363" y="4071045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Consulting &amp; Integration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4663363" y="4479727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Accenture, IBM, Infosys, Wipro integrate new infrastructure with legacy systems.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280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Module Outline &amp; Resources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75929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Module Topics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360216"/>
            <a:ext cx="5203794" cy="3618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Introduction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Processes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Scheduling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Data Communication &amp; Networking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File Systems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6"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Distributed Systems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7"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Virtualization &amp; Cloud Computing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8"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Platform Security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9"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Client Server Architectures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10"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System Administration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196651" y="1686917"/>
            <a:ext cx="5476043" cy="4358283"/>
          </a:xfrm>
          <a:prstGeom prst="roundRect">
            <a:avLst>
              <a:gd name="adj" fmla="val 3123"/>
            </a:avLst>
          </a:prstGeom>
          <a:solidFill>
            <a:srgbClr val="8C98CA"/>
          </a:solidFill>
          <a:ln/>
        </p:spPr>
      </p:sp>
      <p:sp>
        <p:nvSpPr>
          <p:cNvPr id="6" name="Text 4"/>
          <p:cNvSpPr/>
          <p:nvPr/>
        </p:nvSpPr>
        <p:spPr>
          <a:xfrm>
            <a:off x="6385658" y="1875929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Module Resources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85658" y="2360216"/>
            <a:ext cx="5098029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Lecturer: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Nimal Skandhakumar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u="sng" dirty="0">
                <a:solidFill>
                  <a:srgbClr val="181E34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nimal@sjp.ac.lk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0769804524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LMS Course: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u="sng" dirty="0">
                <a:solidFill>
                  <a:srgbClr val="181E34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lms.fhss.sjp.ac.lk/course/view.php?id=1406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81E34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2026-07-10T00:03:29Z</dcterms:created>
  <dcterms:modified xsi:type="dcterms:W3CDTF">2026-07-10T00:03:29Z</dcterms:modified>
</cp:coreProperties>
</file>